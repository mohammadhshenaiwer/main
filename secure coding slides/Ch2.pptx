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6"/>
  </p:notesMasterIdLst>
  <p:sldIdLst>
    <p:sldId id="256" r:id="rId2"/>
    <p:sldId id="281" r:id="rId3"/>
    <p:sldId id="543" r:id="rId4"/>
    <p:sldId id="583" r:id="rId5"/>
    <p:sldId id="257" r:id="rId6"/>
    <p:sldId id="553" r:id="rId7"/>
    <p:sldId id="555" r:id="rId8"/>
    <p:sldId id="558" r:id="rId9"/>
    <p:sldId id="561" r:id="rId10"/>
    <p:sldId id="584" r:id="rId11"/>
    <p:sldId id="577" r:id="rId12"/>
    <p:sldId id="575" r:id="rId13"/>
    <p:sldId id="578" r:id="rId14"/>
    <p:sldId id="585" r:id="rId15"/>
    <p:sldId id="393" r:id="rId16"/>
    <p:sldId id="538" r:id="rId17"/>
    <p:sldId id="539" r:id="rId18"/>
    <p:sldId id="546" r:id="rId19"/>
    <p:sldId id="547" r:id="rId20"/>
    <p:sldId id="590" r:id="rId21"/>
    <p:sldId id="591" r:id="rId22"/>
    <p:sldId id="592" r:id="rId23"/>
    <p:sldId id="593" r:id="rId24"/>
    <p:sldId id="589" r:id="rId25"/>
    <p:sldId id="549" r:id="rId26"/>
    <p:sldId id="594" r:id="rId27"/>
    <p:sldId id="595" r:id="rId28"/>
    <p:sldId id="596" r:id="rId29"/>
    <p:sldId id="597" r:id="rId30"/>
    <p:sldId id="550" r:id="rId31"/>
    <p:sldId id="551" r:id="rId32"/>
    <p:sldId id="598" r:id="rId33"/>
    <p:sldId id="599" r:id="rId34"/>
    <p:sldId id="600" r:id="rId35"/>
    <p:sldId id="552" r:id="rId36"/>
    <p:sldId id="587" r:id="rId37"/>
    <p:sldId id="554" r:id="rId38"/>
    <p:sldId id="601" r:id="rId39"/>
    <p:sldId id="541" r:id="rId40"/>
    <p:sldId id="602" r:id="rId41"/>
    <p:sldId id="544" r:id="rId42"/>
    <p:sldId id="545" r:id="rId43"/>
    <p:sldId id="603" r:id="rId44"/>
    <p:sldId id="605" r:id="rId45"/>
    <p:sldId id="607" r:id="rId46"/>
    <p:sldId id="559" r:id="rId47"/>
    <p:sldId id="560" r:id="rId48"/>
    <p:sldId id="606" r:id="rId49"/>
    <p:sldId id="562" r:id="rId50"/>
    <p:sldId id="609" r:id="rId51"/>
    <p:sldId id="563" r:id="rId52"/>
    <p:sldId id="564" r:id="rId53"/>
    <p:sldId id="565" r:id="rId54"/>
    <p:sldId id="571" r:id="rId5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A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88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1E6BC73-D4E0-4AE9-9791-FE13E7599211}" type="doc">
      <dgm:prSet loTypeId="urn:microsoft.com/office/officeart/2005/8/layout/cycle5" loCatId="cycle" qsTypeId="urn:microsoft.com/office/officeart/2005/8/quickstyle/simple1" qsCatId="simple" csTypeId="urn:microsoft.com/office/officeart/2005/8/colors/colorful1" csCatId="colorful" phldr="1"/>
      <dgm:spPr/>
      <dgm:t>
        <a:bodyPr/>
        <a:lstStyle/>
        <a:p>
          <a:endParaRPr lang="en-US"/>
        </a:p>
      </dgm:t>
    </dgm:pt>
    <dgm:pt modelId="{7389EA21-7C7A-40E9-BB91-06452A2B4F45}">
      <dgm:prSet phldrT="[Text]"/>
      <dgm:spPr/>
      <dgm:t>
        <a:bodyPr/>
        <a:lstStyle/>
        <a:p>
          <a:r>
            <a:rPr lang="en-US" dirty="0"/>
            <a:t>Requirement</a:t>
          </a:r>
        </a:p>
      </dgm:t>
    </dgm:pt>
    <dgm:pt modelId="{841D8C42-B9ED-42C2-8869-5BAE6A86D7B3}" type="parTrans" cxnId="{4F9C0533-E7F1-4FE0-A7E7-BAE93144A5B4}">
      <dgm:prSet/>
      <dgm:spPr/>
      <dgm:t>
        <a:bodyPr/>
        <a:lstStyle/>
        <a:p>
          <a:endParaRPr lang="en-US"/>
        </a:p>
      </dgm:t>
    </dgm:pt>
    <dgm:pt modelId="{B0658EB7-1652-49F0-8805-CF99A81E35B8}" type="sibTrans" cxnId="{4F9C0533-E7F1-4FE0-A7E7-BAE93144A5B4}">
      <dgm:prSet/>
      <dgm:spPr/>
      <dgm:t>
        <a:bodyPr/>
        <a:lstStyle/>
        <a:p>
          <a:endParaRPr lang="en-US"/>
        </a:p>
      </dgm:t>
    </dgm:pt>
    <dgm:pt modelId="{F7C70DE4-46A8-42F1-97CB-D7DE3E0C5340}">
      <dgm:prSet phldrT="[Text]"/>
      <dgm:spPr/>
      <dgm:t>
        <a:bodyPr/>
        <a:lstStyle/>
        <a:p>
          <a:r>
            <a:rPr lang="en-US" dirty="0"/>
            <a:t>Design</a:t>
          </a:r>
        </a:p>
      </dgm:t>
    </dgm:pt>
    <dgm:pt modelId="{52F8D7E9-D221-4B1C-A215-5213EEC3D7C3}" type="parTrans" cxnId="{DAEFF211-66F5-4975-AEAB-3B2F652DDE8C}">
      <dgm:prSet/>
      <dgm:spPr/>
      <dgm:t>
        <a:bodyPr/>
        <a:lstStyle/>
        <a:p>
          <a:endParaRPr lang="en-US"/>
        </a:p>
      </dgm:t>
    </dgm:pt>
    <dgm:pt modelId="{4D11F2BC-18C0-4BE1-9575-FC9CB1B492EF}" type="sibTrans" cxnId="{DAEFF211-66F5-4975-AEAB-3B2F652DDE8C}">
      <dgm:prSet/>
      <dgm:spPr/>
      <dgm:t>
        <a:bodyPr/>
        <a:lstStyle/>
        <a:p>
          <a:endParaRPr lang="en-US"/>
        </a:p>
      </dgm:t>
    </dgm:pt>
    <dgm:pt modelId="{95891445-312D-44BC-8FE5-E7A02FEABFE3}">
      <dgm:prSet phldrT="[Text]"/>
      <dgm:spPr/>
      <dgm:t>
        <a:bodyPr/>
        <a:lstStyle/>
        <a:p>
          <a:r>
            <a:rPr lang="en-US" dirty="0"/>
            <a:t>Implementation</a:t>
          </a:r>
        </a:p>
      </dgm:t>
    </dgm:pt>
    <dgm:pt modelId="{6E2FAC76-E9F4-4140-8D40-899F3080DE58}" type="parTrans" cxnId="{44772785-24C0-4F11-86A6-95EF167ED841}">
      <dgm:prSet/>
      <dgm:spPr/>
      <dgm:t>
        <a:bodyPr/>
        <a:lstStyle/>
        <a:p>
          <a:endParaRPr lang="en-US"/>
        </a:p>
      </dgm:t>
    </dgm:pt>
    <dgm:pt modelId="{33605239-566F-47FE-9C0B-51CA99342E79}" type="sibTrans" cxnId="{44772785-24C0-4F11-86A6-95EF167ED841}">
      <dgm:prSet/>
      <dgm:spPr/>
      <dgm:t>
        <a:bodyPr/>
        <a:lstStyle/>
        <a:p>
          <a:endParaRPr lang="en-US"/>
        </a:p>
      </dgm:t>
    </dgm:pt>
    <dgm:pt modelId="{91B81FE8-9A9C-4441-ACBC-8881FD7EB915}">
      <dgm:prSet phldrT="[Text]"/>
      <dgm:spPr/>
      <dgm:t>
        <a:bodyPr/>
        <a:lstStyle/>
        <a:p>
          <a:r>
            <a:rPr lang="en-US" dirty="0"/>
            <a:t>Testing </a:t>
          </a:r>
        </a:p>
      </dgm:t>
    </dgm:pt>
    <dgm:pt modelId="{81EECAD1-182F-4E0C-B4E6-71498EC3FEF4}" type="parTrans" cxnId="{BEE3539C-4259-4C87-9A64-C0150EFA6BE6}">
      <dgm:prSet/>
      <dgm:spPr/>
      <dgm:t>
        <a:bodyPr/>
        <a:lstStyle/>
        <a:p>
          <a:endParaRPr lang="en-US"/>
        </a:p>
      </dgm:t>
    </dgm:pt>
    <dgm:pt modelId="{13BF23A2-1FBF-4659-BA9F-E991A91BF126}" type="sibTrans" cxnId="{BEE3539C-4259-4C87-9A64-C0150EFA6BE6}">
      <dgm:prSet/>
      <dgm:spPr/>
      <dgm:t>
        <a:bodyPr/>
        <a:lstStyle/>
        <a:p>
          <a:endParaRPr lang="en-US"/>
        </a:p>
      </dgm:t>
    </dgm:pt>
    <dgm:pt modelId="{201F56F1-8526-44FD-B603-EF00653F13B2}">
      <dgm:prSet phldrT="[Text]"/>
      <dgm:spPr/>
      <dgm:t>
        <a:bodyPr/>
        <a:lstStyle/>
        <a:p>
          <a:r>
            <a:rPr lang="en-US" dirty="0"/>
            <a:t>Deployment</a:t>
          </a:r>
        </a:p>
      </dgm:t>
    </dgm:pt>
    <dgm:pt modelId="{0CED4D78-5E4E-41DE-92B6-CA8B66CC925C}" type="parTrans" cxnId="{9C31D609-4CD0-4A92-8C9E-B209C287DE5C}">
      <dgm:prSet/>
      <dgm:spPr/>
      <dgm:t>
        <a:bodyPr/>
        <a:lstStyle/>
        <a:p>
          <a:endParaRPr lang="en-US"/>
        </a:p>
      </dgm:t>
    </dgm:pt>
    <dgm:pt modelId="{80785AF7-DD5D-4295-9252-FEE1249612BC}" type="sibTrans" cxnId="{9C31D609-4CD0-4A92-8C9E-B209C287DE5C}">
      <dgm:prSet/>
      <dgm:spPr/>
      <dgm:t>
        <a:bodyPr/>
        <a:lstStyle/>
        <a:p>
          <a:endParaRPr lang="en-US"/>
        </a:p>
      </dgm:t>
    </dgm:pt>
    <dgm:pt modelId="{33C01DE7-173A-4C75-927E-07592E8DD903}">
      <dgm:prSet phldrT="[Text]"/>
      <dgm:spPr/>
      <dgm:t>
        <a:bodyPr/>
        <a:lstStyle/>
        <a:p>
          <a:r>
            <a:rPr lang="en-US" dirty="0"/>
            <a:t>Maintenance </a:t>
          </a:r>
        </a:p>
      </dgm:t>
    </dgm:pt>
    <dgm:pt modelId="{D938A153-ED30-4891-B232-23CEBB79AE27}" type="parTrans" cxnId="{DCC7C253-DA6C-45E8-9D04-313F7B23F44B}">
      <dgm:prSet/>
      <dgm:spPr/>
      <dgm:t>
        <a:bodyPr/>
        <a:lstStyle/>
        <a:p>
          <a:endParaRPr lang="en-US"/>
        </a:p>
      </dgm:t>
    </dgm:pt>
    <dgm:pt modelId="{48684F28-20F8-4AC3-8E2B-055D2FF1B3C3}" type="sibTrans" cxnId="{DCC7C253-DA6C-45E8-9D04-313F7B23F44B}">
      <dgm:prSet/>
      <dgm:spPr/>
      <dgm:t>
        <a:bodyPr/>
        <a:lstStyle/>
        <a:p>
          <a:endParaRPr lang="en-US"/>
        </a:p>
      </dgm:t>
    </dgm:pt>
    <dgm:pt modelId="{FF2F1C25-CCD2-4BAE-AEC7-43553BDCEC52}" type="pres">
      <dgm:prSet presAssocID="{C1E6BC73-D4E0-4AE9-9791-FE13E7599211}" presName="cycle" presStyleCnt="0">
        <dgm:presLayoutVars>
          <dgm:dir/>
          <dgm:resizeHandles val="exact"/>
        </dgm:presLayoutVars>
      </dgm:prSet>
      <dgm:spPr/>
    </dgm:pt>
    <dgm:pt modelId="{EC7A744A-6EB2-48F9-AE7D-4695B91E1058}" type="pres">
      <dgm:prSet presAssocID="{7389EA21-7C7A-40E9-BB91-06452A2B4F45}" presName="node" presStyleLbl="node1" presStyleIdx="0" presStyleCnt="6">
        <dgm:presLayoutVars>
          <dgm:bulletEnabled val="1"/>
        </dgm:presLayoutVars>
      </dgm:prSet>
      <dgm:spPr/>
    </dgm:pt>
    <dgm:pt modelId="{9FF82634-8E46-4B69-92E4-B7354B958CFA}" type="pres">
      <dgm:prSet presAssocID="{7389EA21-7C7A-40E9-BB91-06452A2B4F45}" presName="spNode" presStyleCnt="0"/>
      <dgm:spPr/>
    </dgm:pt>
    <dgm:pt modelId="{D0E53C81-A03E-4C58-A506-659DAD23971F}" type="pres">
      <dgm:prSet presAssocID="{B0658EB7-1652-49F0-8805-CF99A81E35B8}" presName="sibTrans" presStyleLbl="sibTrans1D1" presStyleIdx="0" presStyleCnt="6"/>
      <dgm:spPr/>
    </dgm:pt>
    <dgm:pt modelId="{832866F4-80C5-453C-A6DB-5432EB1A423F}" type="pres">
      <dgm:prSet presAssocID="{F7C70DE4-46A8-42F1-97CB-D7DE3E0C5340}" presName="node" presStyleLbl="node1" presStyleIdx="1" presStyleCnt="6">
        <dgm:presLayoutVars>
          <dgm:bulletEnabled val="1"/>
        </dgm:presLayoutVars>
      </dgm:prSet>
      <dgm:spPr/>
    </dgm:pt>
    <dgm:pt modelId="{F1E20077-B2C9-4A3F-AFA8-31331612CA0A}" type="pres">
      <dgm:prSet presAssocID="{F7C70DE4-46A8-42F1-97CB-D7DE3E0C5340}" presName="spNode" presStyleCnt="0"/>
      <dgm:spPr/>
    </dgm:pt>
    <dgm:pt modelId="{4E8C3470-C81F-48D8-A024-8C007459AAF0}" type="pres">
      <dgm:prSet presAssocID="{4D11F2BC-18C0-4BE1-9575-FC9CB1B492EF}" presName="sibTrans" presStyleLbl="sibTrans1D1" presStyleIdx="1" presStyleCnt="6"/>
      <dgm:spPr/>
    </dgm:pt>
    <dgm:pt modelId="{8160EF89-2850-4662-A114-D86E9F3C7BA7}" type="pres">
      <dgm:prSet presAssocID="{95891445-312D-44BC-8FE5-E7A02FEABFE3}" presName="node" presStyleLbl="node1" presStyleIdx="2" presStyleCnt="6">
        <dgm:presLayoutVars>
          <dgm:bulletEnabled val="1"/>
        </dgm:presLayoutVars>
      </dgm:prSet>
      <dgm:spPr/>
    </dgm:pt>
    <dgm:pt modelId="{DFFE8BEC-0C3F-4F1F-8BF6-E9D14563B9E8}" type="pres">
      <dgm:prSet presAssocID="{95891445-312D-44BC-8FE5-E7A02FEABFE3}" presName="spNode" presStyleCnt="0"/>
      <dgm:spPr/>
    </dgm:pt>
    <dgm:pt modelId="{977126D1-E069-48B8-975D-907940DDE247}" type="pres">
      <dgm:prSet presAssocID="{33605239-566F-47FE-9C0B-51CA99342E79}" presName="sibTrans" presStyleLbl="sibTrans1D1" presStyleIdx="2" presStyleCnt="6"/>
      <dgm:spPr/>
    </dgm:pt>
    <dgm:pt modelId="{B1178105-FC93-4BC7-9EE1-9F7B7BA1A38C}" type="pres">
      <dgm:prSet presAssocID="{91B81FE8-9A9C-4441-ACBC-8881FD7EB915}" presName="node" presStyleLbl="node1" presStyleIdx="3" presStyleCnt="6">
        <dgm:presLayoutVars>
          <dgm:bulletEnabled val="1"/>
        </dgm:presLayoutVars>
      </dgm:prSet>
      <dgm:spPr/>
    </dgm:pt>
    <dgm:pt modelId="{47491068-D7A7-487B-81AD-38B5A09D2F39}" type="pres">
      <dgm:prSet presAssocID="{91B81FE8-9A9C-4441-ACBC-8881FD7EB915}" presName="spNode" presStyleCnt="0"/>
      <dgm:spPr/>
    </dgm:pt>
    <dgm:pt modelId="{D23C91E1-2B45-4846-BE84-E653507E9714}" type="pres">
      <dgm:prSet presAssocID="{13BF23A2-1FBF-4659-BA9F-E991A91BF126}" presName="sibTrans" presStyleLbl="sibTrans1D1" presStyleIdx="3" presStyleCnt="6"/>
      <dgm:spPr/>
    </dgm:pt>
    <dgm:pt modelId="{8B406071-5B1B-4AF5-8E3B-371AF948DE26}" type="pres">
      <dgm:prSet presAssocID="{201F56F1-8526-44FD-B603-EF00653F13B2}" presName="node" presStyleLbl="node1" presStyleIdx="4" presStyleCnt="6">
        <dgm:presLayoutVars>
          <dgm:bulletEnabled val="1"/>
        </dgm:presLayoutVars>
      </dgm:prSet>
      <dgm:spPr/>
    </dgm:pt>
    <dgm:pt modelId="{D46C91CE-74CC-4E1A-9B4E-D03D920CD130}" type="pres">
      <dgm:prSet presAssocID="{201F56F1-8526-44FD-B603-EF00653F13B2}" presName="spNode" presStyleCnt="0"/>
      <dgm:spPr/>
    </dgm:pt>
    <dgm:pt modelId="{0ED3EAEC-7466-441A-BA7C-CCBCBB93846E}" type="pres">
      <dgm:prSet presAssocID="{80785AF7-DD5D-4295-9252-FEE1249612BC}" presName="sibTrans" presStyleLbl="sibTrans1D1" presStyleIdx="4" presStyleCnt="6"/>
      <dgm:spPr/>
    </dgm:pt>
    <dgm:pt modelId="{00206A51-B07C-45B1-9B1D-4821D858E3CC}" type="pres">
      <dgm:prSet presAssocID="{33C01DE7-173A-4C75-927E-07592E8DD903}" presName="node" presStyleLbl="node1" presStyleIdx="5" presStyleCnt="6">
        <dgm:presLayoutVars>
          <dgm:bulletEnabled val="1"/>
        </dgm:presLayoutVars>
      </dgm:prSet>
      <dgm:spPr/>
    </dgm:pt>
    <dgm:pt modelId="{8B264BD3-724F-4606-8FC0-FD4D3C759D1D}" type="pres">
      <dgm:prSet presAssocID="{33C01DE7-173A-4C75-927E-07592E8DD903}" presName="spNode" presStyleCnt="0"/>
      <dgm:spPr/>
    </dgm:pt>
    <dgm:pt modelId="{089618B7-5F1E-404B-B88E-92377E7B1738}" type="pres">
      <dgm:prSet presAssocID="{48684F28-20F8-4AC3-8E2B-055D2FF1B3C3}" presName="sibTrans" presStyleLbl="sibTrans1D1" presStyleIdx="5" presStyleCnt="6"/>
      <dgm:spPr/>
    </dgm:pt>
  </dgm:ptLst>
  <dgm:cxnLst>
    <dgm:cxn modelId="{B41C9B01-FF86-49C6-83C3-FC948FBE6B71}" type="presOf" srcId="{4D11F2BC-18C0-4BE1-9575-FC9CB1B492EF}" destId="{4E8C3470-C81F-48D8-A024-8C007459AAF0}" srcOrd="0" destOrd="0" presId="urn:microsoft.com/office/officeart/2005/8/layout/cycle5"/>
    <dgm:cxn modelId="{04A89503-E8DD-4044-83F7-5131FD0BFFC9}" type="presOf" srcId="{80785AF7-DD5D-4295-9252-FEE1249612BC}" destId="{0ED3EAEC-7466-441A-BA7C-CCBCBB93846E}" srcOrd="0" destOrd="0" presId="urn:microsoft.com/office/officeart/2005/8/layout/cycle5"/>
    <dgm:cxn modelId="{9C31D609-4CD0-4A92-8C9E-B209C287DE5C}" srcId="{C1E6BC73-D4E0-4AE9-9791-FE13E7599211}" destId="{201F56F1-8526-44FD-B603-EF00653F13B2}" srcOrd="4" destOrd="0" parTransId="{0CED4D78-5E4E-41DE-92B6-CA8B66CC925C}" sibTransId="{80785AF7-DD5D-4295-9252-FEE1249612BC}"/>
    <dgm:cxn modelId="{DAEFF211-66F5-4975-AEAB-3B2F652DDE8C}" srcId="{C1E6BC73-D4E0-4AE9-9791-FE13E7599211}" destId="{F7C70DE4-46A8-42F1-97CB-D7DE3E0C5340}" srcOrd="1" destOrd="0" parTransId="{52F8D7E9-D221-4B1C-A215-5213EEC3D7C3}" sibTransId="{4D11F2BC-18C0-4BE1-9575-FC9CB1B492EF}"/>
    <dgm:cxn modelId="{FBB6851A-8C82-478C-BDF6-6283F00C4241}" type="presOf" srcId="{33605239-566F-47FE-9C0B-51CA99342E79}" destId="{977126D1-E069-48B8-975D-907940DDE247}" srcOrd="0" destOrd="0" presId="urn:microsoft.com/office/officeart/2005/8/layout/cycle5"/>
    <dgm:cxn modelId="{49D7E127-C49B-4FCA-A10D-3A7320B677DD}" type="presOf" srcId="{F7C70DE4-46A8-42F1-97CB-D7DE3E0C5340}" destId="{832866F4-80C5-453C-A6DB-5432EB1A423F}" srcOrd="0" destOrd="0" presId="urn:microsoft.com/office/officeart/2005/8/layout/cycle5"/>
    <dgm:cxn modelId="{4F9C0533-E7F1-4FE0-A7E7-BAE93144A5B4}" srcId="{C1E6BC73-D4E0-4AE9-9791-FE13E7599211}" destId="{7389EA21-7C7A-40E9-BB91-06452A2B4F45}" srcOrd="0" destOrd="0" parTransId="{841D8C42-B9ED-42C2-8869-5BAE6A86D7B3}" sibTransId="{B0658EB7-1652-49F0-8805-CF99A81E35B8}"/>
    <dgm:cxn modelId="{1297D060-7477-47E6-9A2A-AA9C3B52EA0C}" type="presOf" srcId="{91B81FE8-9A9C-4441-ACBC-8881FD7EB915}" destId="{B1178105-FC93-4BC7-9EE1-9F7B7BA1A38C}" srcOrd="0" destOrd="0" presId="urn:microsoft.com/office/officeart/2005/8/layout/cycle5"/>
    <dgm:cxn modelId="{981B846F-3113-4BB3-9246-5703CD0258A6}" type="presOf" srcId="{48684F28-20F8-4AC3-8E2B-055D2FF1B3C3}" destId="{089618B7-5F1E-404B-B88E-92377E7B1738}" srcOrd="0" destOrd="0" presId="urn:microsoft.com/office/officeart/2005/8/layout/cycle5"/>
    <dgm:cxn modelId="{DCC7C253-DA6C-45E8-9D04-313F7B23F44B}" srcId="{C1E6BC73-D4E0-4AE9-9791-FE13E7599211}" destId="{33C01DE7-173A-4C75-927E-07592E8DD903}" srcOrd="5" destOrd="0" parTransId="{D938A153-ED30-4891-B232-23CEBB79AE27}" sibTransId="{48684F28-20F8-4AC3-8E2B-055D2FF1B3C3}"/>
    <dgm:cxn modelId="{99431474-2D4B-471F-94B5-E66DFF72CF06}" type="presOf" srcId="{33C01DE7-173A-4C75-927E-07592E8DD903}" destId="{00206A51-B07C-45B1-9B1D-4821D858E3CC}" srcOrd="0" destOrd="0" presId="urn:microsoft.com/office/officeart/2005/8/layout/cycle5"/>
    <dgm:cxn modelId="{44772785-24C0-4F11-86A6-95EF167ED841}" srcId="{C1E6BC73-D4E0-4AE9-9791-FE13E7599211}" destId="{95891445-312D-44BC-8FE5-E7A02FEABFE3}" srcOrd="2" destOrd="0" parTransId="{6E2FAC76-E9F4-4140-8D40-899F3080DE58}" sibTransId="{33605239-566F-47FE-9C0B-51CA99342E79}"/>
    <dgm:cxn modelId="{BEE3539C-4259-4C87-9A64-C0150EFA6BE6}" srcId="{C1E6BC73-D4E0-4AE9-9791-FE13E7599211}" destId="{91B81FE8-9A9C-4441-ACBC-8881FD7EB915}" srcOrd="3" destOrd="0" parTransId="{81EECAD1-182F-4E0C-B4E6-71498EC3FEF4}" sibTransId="{13BF23A2-1FBF-4659-BA9F-E991A91BF126}"/>
    <dgm:cxn modelId="{87CBC8B2-F55C-414A-A48B-FDCDEA4B5B86}" type="presOf" srcId="{B0658EB7-1652-49F0-8805-CF99A81E35B8}" destId="{D0E53C81-A03E-4C58-A506-659DAD23971F}" srcOrd="0" destOrd="0" presId="urn:microsoft.com/office/officeart/2005/8/layout/cycle5"/>
    <dgm:cxn modelId="{E3EA2DB5-059D-44E0-AF66-DC51824B1EC7}" type="presOf" srcId="{7389EA21-7C7A-40E9-BB91-06452A2B4F45}" destId="{EC7A744A-6EB2-48F9-AE7D-4695B91E1058}" srcOrd="0" destOrd="0" presId="urn:microsoft.com/office/officeart/2005/8/layout/cycle5"/>
    <dgm:cxn modelId="{07780AB9-C753-41EF-B0F3-C0322B8664E8}" type="presOf" srcId="{201F56F1-8526-44FD-B603-EF00653F13B2}" destId="{8B406071-5B1B-4AF5-8E3B-371AF948DE26}" srcOrd="0" destOrd="0" presId="urn:microsoft.com/office/officeart/2005/8/layout/cycle5"/>
    <dgm:cxn modelId="{44C2FED3-4FEF-47BF-9606-E1586FF6E57D}" type="presOf" srcId="{95891445-312D-44BC-8FE5-E7A02FEABFE3}" destId="{8160EF89-2850-4662-A114-D86E9F3C7BA7}" srcOrd="0" destOrd="0" presId="urn:microsoft.com/office/officeart/2005/8/layout/cycle5"/>
    <dgm:cxn modelId="{684A7BED-664E-4274-8F65-C8612F35FF68}" type="presOf" srcId="{C1E6BC73-D4E0-4AE9-9791-FE13E7599211}" destId="{FF2F1C25-CCD2-4BAE-AEC7-43553BDCEC52}" srcOrd="0" destOrd="0" presId="urn:microsoft.com/office/officeart/2005/8/layout/cycle5"/>
    <dgm:cxn modelId="{ADF58CFC-6138-4783-8209-E2002BE588EC}" type="presOf" srcId="{13BF23A2-1FBF-4659-BA9F-E991A91BF126}" destId="{D23C91E1-2B45-4846-BE84-E653507E9714}" srcOrd="0" destOrd="0" presId="urn:microsoft.com/office/officeart/2005/8/layout/cycle5"/>
    <dgm:cxn modelId="{979C57E9-5451-41BA-8DDF-CDEA632C6E4C}" type="presParOf" srcId="{FF2F1C25-CCD2-4BAE-AEC7-43553BDCEC52}" destId="{EC7A744A-6EB2-48F9-AE7D-4695B91E1058}" srcOrd="0" destOrd="0" presId="urn:microsoft.com/office/officeart/2005/8/layout/cycle5"/>
    <dgm:cxn modelId="{84C76AAF-ACC0-43EB-A1E4-254D4C7A3ED6}" type="presParOf" srcId="{FF2F1C25-CCD2-4BAE-AEC7-43553BDCEC52}" destId="{9FF82634-8E46-4B69-92E4-B7354B958CFA}" srcOrd="1" destOrd="0" presId="urn:microsoft.com/office/officeart/2005/8/layout/cycle5"/>
    <dgm:cxn modelId="{9D32AE65-1388-4EB6-9F52-B50C5C7696A0}" type="presParOf" srcId="{FF2F1C25-CCD2-4BAE-AEC7-43553BDCEC52}" destId="{D0E53C81-A03E-4C58-A506-659DAD23971F}" srcOrd="2" destOrd="0" presId="urn:microsoft.com/office/officeart/2005/8/layout/cycle5"/>
    <dgm:cxn modelId="{1F4D3E16-4DBF-4B6C-B5BB-708B27772D74}" type="presParOf" srcId="{FF2F1C25-CCD2-4BAE-AEC7-43553BDCEC52}" destId="{832866F4-80C5-453C-A6DB-5432EB1A423F}" srcOrd="3" destOrd="0" presId="urn:microsoft.com/office/officeart/2005/8/layout/cycle5"/>
    <dgm:cxn modelId="{05995472-E71F-4E69-B38A-852D9C898711}" type="presParOf" srcId="{FF2F1C25-CCD2-4BAE-AEC7-43553BDCEC52}" destId="{F1E20077-B2C9-4A3F-AFA8-31331612CA0A}" srcOrd="4" destOrd="0" presId="urn:microsoft.com/office/officeart/2005/8/layout/cycle5"/>
    <dgm:cxn modelId="{3EF7573A-2BD9-457E-A914-F623B2F59221}" type="presParOf" srcId="{FF2F1C25-CCD2-4BAE-AEC7-43553BDCEC52}" destId="{4E8C3470-C81F-48D8-A024-8C007459AAF0}" srcOrd="5" destOrd="0" presId="urn:microsoft.com/office/officeart/2005/8/layout/cycle5"/>
    <dgm:cxn modelId="{4D20BE05-CEC1-4AAB-BBFA-7492C7A35675}" type="presParOf" srcId="{FF2F1C25-CCD2-4BAE-AEC7-43553BDCEC52}" destId="{8160EF89-2850-4662-A114-D86E9F3C7BA7}" srcOrd="6" destOrd="0" presId="urn:microsoft.com/office/officeart/2005/8/layout/cycle5"/>
    <dgm:cxn modelId="{421E3E01-5D3E-4694-8DAD-9E5A11A3C311}" type="presParOf" srcId="{FF2F1C25-CCD2-4BAE-AEC7-43553BDCEC52}" destId="{DFFE8BEC-0C3F-4F1F-8BF6-E9D14563B9E8}" srcOrd="7" destOrd="0" presId="urn:microsoft.com/office/officeart/2005/8/layout/cycle5"/>
    <dgm:cxn modelId="{55634D3D-31EB-4030-92D8-484F2EEB49D3}" type="presParOf" srcId="{FF2F1C25-CCD2-4BAE-AEC7-43553BDCEC52}" destId="{977126D1-E069-48B8-975D-907940DDE247}" srcOrd="8" destOrd="0" presId="urn:microsoft.com/office/officeart/2005/8/layout/cycle5"/>
    <dgm:cxn modelId="{ED502910-333C-46E9-9D24-E57DCD6DB66F}" type="presParOf" srcId="{FF2F1C25-CCD2-4BAE-AEC7-43553BDCEC52}" destId="{B1178105-FC93-4BC7-9EE1-9F7B7BA1A38C}" srcOrd="9" destOrd="0" presId="urn:microsoft.com/office/officeart/2005/8/layout/cycle5"/>
    <dgm:cxn modelId="{1B3C188B-07DE-4138-8484-2E87868BC04F}" type="presParOf" srcId="{FF2F1C25-CCD2-4BAE-AEC7-43553BDCEC52}" destId="{47491068-D7A7-487B-81AD-38B5A09D2F39}" srcOrd="10" destOrd="0" presId="urn:microsoft.com/office/officeart/2005/8/layout/cycle5"/>
    <dgm:cxn modelId="{A449C182-085A-4F29-A15D-EBE25EE51567}" type="presParOf" srcId="{FF2F1C25-CCD2-4BAE-AEC7-43553BDCEC52}" destId="{D23C91E1-2B45-4846-BE84-E653507E9714}" srcOrd="11" destOrd="0" presId="urn:microsoft.com/office/officeart/2005/8/layout/cycle5"/>
    <dgm:cxn modelId="{C53F3FB0-F34D-40BB-8A8E-287F43C6E64D}" type="presParOf" srcId="{FF2F1C25-CCD2-4BAE-AEC7-43553BDCEC52}" destId="{8B406071-5B1B-4AF5-8E3B-371AF948DE26}" srcOrd="12" destOrd="0" presId="urn:microsoft.com/office/officeart/2005/8/layout/cycle5"/>
    <dgm:cxn modelId="{78A0664F-4556-46D9-BACB-7C76818D6353}" type="presParOf" srcId="{FF2F1C25-CCD2-4BAE-AEC7-43553BDCEC52}" destId="{D46C91CE-74CC-4E1A-9B4E-D03D920CD130}" srcOrd="13" destOrd="0" presId="urn:microsoft.com/office/officeart/2005/8/layout/cycle5"/>
    <dgm:cxn modelId="{255920ED-B1EC-42B6-B1B9-ECE1E748F4F1}" type="presParOf" srcId="{FF2F1C25-CCD2-4BAE-AEC7-43553BDCEC52}" destId="{0ED3EAEC-7466-441A-BA7C-CCBCBB93846E}" srcOrd="14" destOrd="0" presId="urn:microsoft.com/office/officeart/2005/8/layout/cycle5"/>
    <dgm:cxn modelId="{3504846D-FCD4-4661-B4F3-792B0148C488}" type="presParOf" srcId="{FF2F1C25-CCD2-4BAE-AEC7-43553BDCEC52}" destId="{00206A51-B07C-45B1-9B1D-4821D858E3CC}" srcOrd="15" destOrd="0" presId="urn:microsoft.com/office/officeart/2005/8/layout/cycle5"/>
    <dgm:cxn modelId="{1875719D-0C32-46B0-867C-AD758247EB9E}" type="presParOf" srcId="{FF2F1C25-CCD2-4BAE-AEC7-43553BDCEC52}" destId="{8B264BD3-724F-4606-8FC0-FD4D3C759D1D}" srcOrd="16" destOrd="0" presId="urn:microsoft.com/office/officeart/2005/8/layout/cycle5"/>
    <dgm:cxn modelId="{3AD43DB9-06D7-4FC0-81F6-62A85F60F479}" type="presParOf" srcId="{FF2F1C25-CCD2-4BAE-AEC7-43553BDCEC52}" destId="{089618B7-5F1E-404B-B88E-92377E7B1738}" srcOrd="17"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7A744A-6EB2-48F9-AE7D-4695B91E1058}">
      <dsp:nvSpPr>
        <dsp:cNvPr id="0" name=""/>
        <dsp:cNvSpPr/>
      </dsp:nvSpPr>
      <dsp:spPr>
        <a:xfrm>
          <a:off x="1965063" y="1226"/>
          <a:ext cx="973253" cy="632615"/>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Requirement</a:t>
          </a:r>
        </a:p>
      </dsp:txBody>
      <dsp:txXfrm>
        <a:off x="1995945" y="32108"/>
        <a:ext cx="911489" cy="570851"/>
      </dsp:txXfrm>
    </dsp:sp>
    <dsp:sp modelId="{D0E53C81-A03E-4C58-A506-659DAD23971F}">
      <dsp:nvSpPr>
        <dsp:cNvPr id="0" name=""/>
        <dsp:cNvSpPr/>
      </dsp:nvSpPr>
      <dsp:spPr>
        <a:xfrm>
          <a:off x="961965" y="317533"/>
          <a:ext cx="2979448" cy="2979448"/>
        </a:xfrm>
        <a:custGeom>
          <a:avLst/>
          <a:gdLst/>
          <a:ahLst/>
          <a:cxnLst/>
          <a:rect l="0" t="0" r="0" b="0"/>
          <a:pathLst>
            <a:path>
              <a:moveTo>
                <a:pt x="2098636" y="130127"/>
              </a:moveTo>
              <a:arcTo wR="1489724" hR="1489724" stAng="17647548" swAng="923389"/>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832866F4-80C5-453C-A6DB-5432EB1A423F}">
      <dsp:nvSpPr>
        <dsp:cNvPr id="0" name=""/>
        <dsp:cNvSpPr/>
      </dsp:nvSpPr>
      <dsp:spPr>
        <a:xfrm>
          <a:off x="3255202" y="746088"/>
          <a:ext cx="973253" cy="632615"/>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Design</a:t>
          </a:r>
        </a:p>
      </dsp:txBody>
      <dsp:txXfrm>
        <a:off x="3286084" y="776970"/>
        <a:ext cx="911489" cy="570851"/>
      </dsp:txXfrm>
    </dsp:sp>
    <dsp:sp modelId="{4E8C3470-C81F-48D8-A024-8C007459AAF0}">
      <dsp:nvSpPr>
        <dsp:cNvPr id="0" name=""/>
        <dsp:cNvSpPr/>
      </dsp:nvSpPr>
      <dsp:spPr>
        <a:xfrm>
          <a:off x="961965" y="317533"/>
          <a:ext cx="2979448" cy="2979448"/>
        </a:xfrm>
        <a:custGeom>
          <a:avLst/>
          <a:gdLst/>
          <a:ahLst/>
          <a:cxnLst/>
          <a:rect l="0" t="0" r="0" b="0"/>
          <a:pathLst>
            <a:path>
              <a:moveTo>
                <a:pt x="2956245" y="1227817"/>
              </a:moveTo>
              <a:arcTo wR="1489724" hR="1489724" stAng="20992455" swAng="1215089"/>
            </a:path>
          </a:pathLst>
        </a:custGeom>
        <a:noFill/>
        <a:ln w="9525"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8160EF89-2850-4662-A114-D86E9F3C7BA7}">
      <dsp:nvSpPr>
        <dsp:cNvPr id="0" name=""/>
        <dsp:cNvSpPr/>
      </dsp:nvSpPr>
      <dsp:spPr>
        <a:xfrm>
          <a:off x="3255202" y="2235812"/>
          <a:ext cx="973253" cy="632615"/>
        </a:xfrm>
        <a:prstGeom prst="round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Implementation</a:t>
          </a:r>
        </a:p>
      </dsp:txBody>
      <dsp:txXfrm>
        <a:off x="3286084" y="2266694"/>
        <a:ext cx="911489" cy="570851"/>
      </dsp:txXfrm>
    </dsp:sp>
    <dsp:sp modelId="{977126D1-E069-48B8-975D-907940DDE247}">
      <dsp:nvSpPr>
        <dsp:cNvPr id="0" name=""/>
        <dsp:cNvSpPr/>
      </dsp:nvSpPr>
      <dsp:spPr>
        <a:xfrm>
          <a:off x="961965" y="317533"/>
          <a:ext cx="2979448" cy="2979448"/>
        </a:xfrm>
        <a:custGeom>
          <a:avLst/>
          <a:gdLst/>
          <a:ahLst/>
          <a:cxnLst/>
          <a:rect l="0" t="0" r="0" b="0"/>
          <a:pathLst>
            <a:path>
              <a:moveTo>
                <a:pt x="2437618" y="2638973"/>
              </a:moveTo>
              <a:arcTo wR="1489724" hR="1489724" stAng="3029063" swAng="923389"/>
            </a:path>
          </a:pathLst>
        </a:custGeom>
        <a:noFill/>
        <a:ln w="9525" cap="flat" cmpd="sng" algn="ctr">
          <a:solidFill>
            <a:schemeClr val="accent4">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B1178105-FC93-4BC7-9EE1-9F7B7BA1A38C}">
      <dsp:nvSpPr>
        <dsp:cNvPr id="0" name=""/>
        <dsp:cNvSpPr/>
      </dsp:nvSpPr>
      <dsp:spPr>
        <a:xfrm>
          <a:off x="1965063" y="2980674"/>
          <a:ext cx="973253" cy="632615"/>
        </a:xfrm>
        <a:prstGeom prst="round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Testing </a:t>
          </a:r>
        </a:p>
      </dsp:txBody>
      <dsp:txXfrm>
        <a:off x="1995945" y="3011556"/>
        <a:ext cx="911489" cy="570851"/>
      </dsp:txXfrm>
    </dsp:sp>
    <dsp:sp modelId="{D23C91E1-2B45-4846-BE84-E653507E9714}">
      <dsp:nvSpPr>
        <dsp:cNvPr id="0" name=""/>
        <dsp:cNvSpPr/>
      </dsp:nvSpPr>
      <dsp:spPr>
        <a:xfrm>
          <a:off x="961965" y="317533"/>
          <a:ext cx="2979448" cy="2979448"/>
        </a:xfrm>
        <a:custGeom>
          <a:avLst/>
          <a:gdLst/>
          <a:ahLst/>
          <a:cxnLst/>
          <a:rect l="0" t="0" r="0" b="0"/>
          <a:pathLst>
            <a:path>
              <a:moveTo>
                <a:pt x="880812" y="2849321"/>
              </a:moveTo>
              <a:arcTo wR="1489724" hR="1489724" stAng="6847548" swAng="923389"/>
            </a:path>
          </a:pathLst>
        </a:custGeom>
        <a:noFill/>
        <a:ln w="9525" cap="flat" cmpd="sng" algn="ctr">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8B406071-5B1B-4AF5-8E3B-371AF948DE26}">
      <dsp:nvSpPr>
        <dsp:cNvPr id="0" name=""/>
        <dsp:cNvSpPr/>
      </dsp:nvSpPr>
      <dsp:spPr>
        <a:xfrm>
          <a:off x="674923" y="2235812"/>
          <a:ext cx="973253" cy="632615"/>
        </a:xfrm>
        <a:prstGeom prst="round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Deployment</a:t>
          </a:r>
        </a:p>
      </dsp:txBody>
      <dsp:txXfrm>
        <a:off x="705805" y="2266694"/>
        <a:ext cx="911489" cy="570851"/>
      </dsp:txXfrm>
    </dsp:sp>
    <dsp:sp modelId="{0ED3EAEC-7466-441A-BA7C-CCBCBB93846E}">
      <dsp:nvSpPr>
        <dsp:cNvPr id="0" name=""/>
        <dsp:cNvSpPr/>
      </dsp:nvSpPr>
      <dsp:spPr>
        <a:xfrm>
          <a:off x="961965" y="317533"/>
          <a:ext cx="2979448" cy="2979448"/>
        </a:xfrm>
        <a:custGeom>
          <a:avLst/>
          <a:gdLst/>
          <a:ahLst/>
          <a:cxnLst/>
          <a:rect l="0" t="0" r="0" b="0"/>
          <a:pathLst>
            <a:path>
              <a:moveTo>
                <a:pt x="23203" y="1751631"/>
              </a:moveTo>
              <a:arcTo wR="1489724" hR="1489724" stAng="10192455" swAng="1215089"/>
            </a:path>
          </a:pathLst>
        </a:custGeom>
        <a:noFill/>
        <a:ln w="9525" cap="flat" cmpd="sng" algn="ctr">
          <a:solidFill>
            <a:schemeClr val="accent6">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00206A51-B07C-45B1-9B1D-4821D858E3CC}">
      <dsp:nvSpPr>
        <dsp:cNvPr id="0" name=""/>
        <dsp:cNvSpPr/>
      </dsp:nvSpPr>
      <dsp:spPr>
        <a:xfrm>
          <a:off x="674923" y="746088"/>
          <a:ext cx="973253" cy="632615"/>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Maintenance </a:t>
          </a:r>
        </a:p>
      </dsp:txBody>
      <dsp:txXfrm>
        <a:off x="705805" y="776970"/>
        <a:ext cx="911489" cy="570851"/>
      </dsp:txXfrm>
    </dsp:sp>
    <dsp:sp modelId="{089618B7-5F1E-404B-B88E-92377E7B1738}">
      <dsp:nvSpPr>
        <dsp:cNvPr id="0" name=""/>
        <dsp:cNvSpPr/>
      </dsp:nvSpPr>
      <dsp:spPr>
        <a:xfrm>
          <a:off x="961965" y="317533"/>
          <a:ext cx="2979448" cy="2979448"/>
        </a:xfrm>
        <a:custGeom>
          <a:avLst/>
          <a:gdLst/>
          <a:ahLst/>
          <a:cxnLst/>
          <a:rect l="0" t="0" r="0" b="0"/>
          <a:pathLst>
            <a:path>
              <a:moveTo>
                <a:pt x="541829" y="340474"/>
              </a:moveTo>
              <a:arcTo wR="1489724" hR="1489724" stAng="13829063" swAng="923389"/>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DCE04-C024-47DD-AC70-89179991A7B8}" type="datetimeFigureOut">
              <a:rPr lang="en-US" smtClean="0"/>
              <a:t>3/25/2026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7FFCE0-FCC0-48EC-A07B-A1300ED1DFFB}" type="slidenum">
              <a:rPr lang="en-US" smtClean="0"/>
              <a:t>‹#›</a:t>
            </a:fld>
            <a:endParaRPr lang="en-US"/>
          </a:p>
        </p:txBody>
      </p:sp>
    </p:spTree>
    <p:extLst>
      <p:ext uri="{BB962C8B-B14F-4D97-AF65-F5344CB8AC3E}">
        <p14:creationId xmlns:p14="http://schemas.microsoft.com/office/powerpoint/2010/main" val="7824183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720E7F44-BA3B-310F-988F-4490320883C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536732B-E5D9-4D90-9607-60958AD75F5B}" type="slidenum">
              <a:rPr lang="en-US" altLang="en-US" smtClean="0"/>
              <a:pPr>
                <a:spcBef>
                  <a:spcPct val="0"/>
                </a:spcBef>
              </a:pPr>
              <a:t>3</a:t>
            </a:fld>
            <a:endParaRPr lang="en-US" altLang="en-US"/>
          </a:p>
        </p:txBody>
      </p:sp>
      <p:sp>
        <p:nvSpPr>
          <p:cNvPr id="14339" name="Rectangle 2">
            <a:extLst>
              <a:ext uri="{FF2B5EF4-FFF2-40B4-BE49-F238E27FC236}">
                <a16:creationId xmlns:a16="http://schemas.microsoft.com/office/drawing/2014/main" id="{3C9E9D09-E748-319C-327A-84467F7F4CF9}"/>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93607C59-ED3D-732A-C1F2-4099AB60430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CD406E59-6FF2-CC4D-8F76-7B10C50ACB4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B2BE992-13CA-4F35-9042-AA03DAFFFCBE}" type="slidenum">
              <a:rPr lang="en-US" altLang="en-US" smtClean="0"/>
              <a:pPr>
                <a:spcBef>
                  <a:spcPct val="0"/>
                </a:spcBef>
              </a:pPr>
              <a:t>4</a:t>
            </a:fld>
            <a:endParaRPr lang="en-US" altLang="en-US"/>
          </a:p>
        </p:txBody>
      </p:sp>
      <p:sp>
        <p:nvSpPr>
          <p:cNvPr id="20483" name="Rectangle 2">
            <a:extLst>
              <a:ext uri="{FF2B5EF4-FFF2-40B4-BE49-F238E27FC236}">
                <a16:creationId xmlns:a16="http://schemas.microsoft.com/office/drawing/2014/main" id="{B8C6F1CC-041A-50A3-5240-F0DC1BD44128}"/>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513C124B-EE57-9A54-55A8-DEB5F835B9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BECD3DAE-5F27-110D-14F0-F9BFDC5F79F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9D66FC3-D82E-4984-B3ED-37A0282DB822}" type="slidenum">
              <a:rPr lang="en-US" altLang="en-US" smtClean="0"/>
              <a:pPr>
                <a:spcBef>
                  <a:spcPct val="0"/>
                </a:spcBef>
              </a:pPr>
              <a:t>6</a:t>
            </a:fld>
            <a:endParaRPr lang="en-US" altLang="en-US"/>
          </a:p>
        </p:txBody>
      </p:sp>
      <p:sp>
        <p:nvSpPr>
          <p:cNvPr id="28675" name="Rectangle 2">
            <a:extLst>
              <a:ext uri="{FF2B5EF4-FFF2-40B4-BE49-F238E27FC236}">
                <a16:creationId xmlns:a16="http://schemas.microsoft.com/office/drawing/2014/main" id="{DD3061D9-4E08-9DDB-0A91-04A84CAE3E27}"/>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C22E4469-972B-6542-C1F8-BDB7441F781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AB5E139C-715A-CF18-E710-1A39EE2A5B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DB64F1F-0BC0-4B2A-B95B-538ACCDE1100}" type="slidenum">
              <a:rPr lang="en-US" altLang="en-US" smtClean="0"/>
              <a:pPr>
                <a:spcBef>
                  <a:spcPct val="0"/>
                </a:spcBef>
              </a:pPr>
              <a:t>7</a:t>
            </a:fld>
            <a:endParaRPr lang="en-US" altLang="en-US"/>
          </a:p>
        </p:txBody>
      </p:sp>
      <p:sp>
        <p:nvSpPr>
          <p:cNvPr id="34819" name="Rectangle 2">
            <a:extLst>
              <a:ext uri="{FF2B5EF4-FFF2-40B4-BE49-F238E27FC236}">
                <a16:creationId xmlns:a16="http://schemas.microsoft.com/office/drawing/2014/main" id="{9235AE26-CE4D-8823-D124-9AFDCEFA2977}"/>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93DF0FB6-BDAD-1182-4E6A-E68774BD331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AF98C0E6-3D40-533A-896C-14261DA093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2F4B190-24A1-4715-8383-B8F05CAF130C}" type="slidenum">
              <a:rPr lang="en-US" altLang="en-US" smtClean="0"/>
              <a:pPr>
                <a:spcBef>
                  <a:spcPct val="0"/>
                </a:spcBef>
              </a:pPr>
              <a:t>8</a:t>
            </a:fld>
            <a:endParaRPr lang="en-US" altLang="en-US"/>
          </a:p>
        </p:txBody>
      </p:sp>
      <p:sp>
        <p:nvSpPr>
          <p:cNvPr id="40963" name="Rectangle 2">
            <a:extLst>
              <a:ext uri="{FF2B5EF4-FFF2-40B4-BE49-F238E27FC236}">
                <a16:creationId xmlns:a16="http://schemas.microsoft.com/office/drawing/2014/main" id="{66FF813F-D0FC-6F2D-2ED1-C2A7B9A46302}"/>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315AEC04-87B2-7BBA-D2B2-2068B66BD5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2BE24203-0F88-CA01-855A-AD6D0854EC2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CE73CA1-58DA-4A2D-8569-AAC73F3AE43B}" type="slidenum">
              <a:rPr lang="en-US" altLang="en-US" smtClean="0"/>
              <a:pPr>
                <a:spcBef>
                  <a:spcPct val="0"/>
                </a:spcBef>
              </a:pPr>
              <a:t>9</a:t>
            </a:fld>
            <a:endParaRPr lang="en-US" altLang="en-US"/>
          </a:p>
        </p:txBody>
      </p:sp>
      <p:sp>
        <p:nvSpPr>
          <p:cNvPr id="47107" name="Rectangle 2">
            <a:extLst>
              <a:ext uri="{FF2B5EF4-FFF2-40B4-BE49-F238E27FC236}">
                <a16:creationId xmlns:a16="http://schemas.microsoft.com/office/drawing/2014/main" id="{3359627D-F22B-A3D9-D4FD-FEE6141EFB8D}"/>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D9F17C8D-91CA-095D-A993-705FEFBFB2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AC52F796-096C-A49B-0D14-65204A8E4D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2F9E1F7-2BD1-4E87-9EA0-BD6D3426C4BC}" type="slidenum">
              <a:rPr lang="en-US" altLang="en-US" smtClean="0"/>
              <a:pPr>
                <a:spcBef>
                  <a:spcPct val="0"/>
                </a:spcBef>
              </a:pPr>
              <a:t>11</a:t>
            </a:fld>
            <a:endParaRPr lang="en-US" altLang="en-US"/>
          </a:p>
        </p:txBody>
      </p:sp>
      <p:sp>
        <p:nvSpPr>
          <p:cNvPr id="65539" name="Rectangle 2">
            <a:extLst>
              <a:ext uri="{FF2B5EF4-FFF2-40B4-BE49-F238E27FC236}">
                <a16:creationId xmlns:a16="http://schemas.microsoft.com/office/drawing/2014/main" id="{DDBB9B02-5C21-F926-F8D9-50926F9BCF1A}"/>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6A08FCCA-D723-1453-D718-A755CC4F16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7AD40122-B067-7B3D-C2C4-2A9C95743F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4CC009D-04BD-4D3E-85DE-944419C6A330}" type="slidenum">
              <a:rPr lang="en-US" altLang="en-US" smtClean="0"/>
              <a:pPr>
                <a:spcBef>
                  <a:spcPct val="0"/>
                </a:spcBef>
              </a:pPr>
              <a:t>12</a:t>
            </a:fld>
            <a:endParaRPr lang="en-US" altLang="en-US"/>
          </a:p>
        </p:txBody>
      </p:sp>
      <p:sp>
        <p:nvSpPr>
          <p:cNvPr id="67587" name="Rectangle 2">
            <a:extLst>
              <a:ext uri="{FF2B5EF4-FFF2-40B4-BE49-F238E27FC236}">
                <a16:creationId xmlns:a16="http://schemas.microsoft.com/office/drawing/2014/main" id="{4D2524E3-8D2F-2952-525A-CBB6DC46965D}"/>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B68BD0CA-2CF5-DD2F-1D49-1BCE2FC055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345B9C93-0456-646C-03B8-02570CA091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64D0473-8F8F-41CE-BA10-265AB7BE4315}" type="slidenum">
              <a:rPr lang="en-US" altLang="en-US" smtClean="0"/>
              <a:pPr>
                <a:spcBef>
                  <a:spcPct val="0"/>
                </a:spcBef>
              </a:pPr>
              <a:t>13</a:t>
            </a:fld>
            <a:endParaRPr lang="en-US" altLang="en-US"/>
          </a:p>
        </p:txBody>
      </p:sp>
      <p:sp>
        <p:nvSpPr>
          <p:cNvPr id="69635" name="Rectangle 2">
            <a:extLst>
              <a:ext uri="{FF2B5EF4-FFF2-40B4-BE49-F238E27FC236}">
                <a16:creationId xmlns:a16="http://schemas.microsoft.com/office/drawing/2014/main" id="{877DC899-852D-10A9-FB5B-136DB962FFE0}"/>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ACCC09AA-8B90-295F-B663-3809C50B0F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45054F29-C70C-B24D-60BC-11B9D06B63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D1A29FB-E07C-4471-B1C5-64904E4DB5B9}" type="slidenum">
              <a:rPr lang="en-US" altLang="en-US" smtClean="0"/>
              <a:pPr>
                <a:spcBef>
                  <a:spcPct val="0"/>
                </a:spcBef>
              </a:pPr>
              <a:t>15</a:t>
            </a:fld>
            <a:endParaRPr lang="en-US" altLang="en-US"/>
          </a:p>
        </p:txBody>
      </p:sp>
      <p:sp>
        <p:nvSpPr>
          <p:cNvPr id="12291" name="Rectangle 2">
            <a:extLst>
              <a:ext uri="{FF2B5EF4-FFF2-40B4-BE49-F238E27FC236}">
                <a16:creationId xmlns:a16="http://schemas.microsoft.com/office/drawing/2014/main" id="{47CD6FD5-C352-173F-40E1-D61063F29CFA}"/>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CA5BBAFD-CD82-5F6F-DEAF-2B5961720C0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D287E6E7-9270-3DB2-2939-49AD3D5820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7704F05-7A33-4DDD-82FC-AAF751C8E264}" type="slidenum">
              <a:rPr lang="en-US" altLang="en-US" smtClean="0"/>
              <a:pPr>
                <a:spcBef>
                  <a:spcPct val="0"/>
                </a:spcBef>
              </a:pPr>
              <a:t>16</a:t>
            </a:fld>
            <a:endParaRPr lang="en-US" altLang="en-US"/>
          </a:p>
        </p:txBody>
      </p:sp>
      <p:sp>
        <p:nvSpPr>
          <p:cNvPr id="14339" name="Rectangle 2">
            <a:extLst>
              <a:ext uri="{FF2B5EF4-FFF2-40B4-BE49-F238E27FC236}">
                <a16:creationId xmlns:a16="http://schemas.microsoft.com/office/drawing/2014/main" id="{A4426B20-F094-317D-4B81-91F55A81380A}"/>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5F02F2E1-84E0-8072-9EC2-870EF57416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1761A467-CEBD-8964-9A20-22457A7058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770E7AE-261D-465A-816F-7ABC74B81503}" type="slidenum">
              <a:rPr lang="en-US" altLang="en-US" smtClean="0"/>
              <a:pPr>
                <a:spcBef>
                  <a:spcPct val="0"/>
                </a:spcBef>
              </a:pPr>
              <a:t>17</a:t>
            </a:fld>
            <a:endParaRPr lang="en-US" altLang="en-US"/>
          </a:p>
        </p:txBody>
      </p:sp>
      <p:sp>
        <p:nvSpPr>
          <p:cNvPr id="16387" name="Rectangle 2">
            <a:extLst>
              <a:ext uri="{FF2B5EF4-FFF2-40B4-BE49-F238E27FC236}">
                <a16:creationId xmlns:a16="http://schemas.microsoft.com/office/drawing/2014/main" id="{353B62C1-8624-819F-3551-AF81CC3506E5}"/>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1330DCC2-87AC-931A-4A3F-381EF3722A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98472CA9-CB22-1D32-F844-9FA1474287C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3ECB17A-379C-41BF-B13C-561B03D2C50B}" type="slidenum">
              <a:rPr lang="en-US" altLang="en-US" smtClean="0"/>
              <a:pPr>
                <a:spcBef>
                  <a:spcPct val="0"/>
                </a:spcBef>
              </a:pPr>
              <a:t>18</a:t>
            </a:fld>
            <a:endParaRPr lang="en-US" altLang="en-US"/>
          </a:p>
        </p:txBody>
      </p:sp>
      <p:sp>
        <p:nvSpPr>
          <p:cNvPr id="30723" name="Rectangle 2">
            <a:extLst>
              <a:ext uri="{FF2B5EF4-FFF2-40B4-BE49-F238E27FC236}">
                <a16:creationId xmlns:a16="http://schemas.microsoft.com/office/drawing/2014/main" id="{29112A1F-DE8B-8BC6-C033-4AA2B889BCC5}"/>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7DDB6E83-57F8-6E17-C904-464FDEBCF3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5726A466-FCE9-304D-2D2F-BE10F2223A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50EFEB8-DECF-4C69-8E1B-A29EBE2FD052}" type="slidenum">
              <a:rPr lang="en-US" altLang="en-US" smtClean="0"/>
              <a:pPr>
                <a:spcBef>
                  <a:spcPct val="0"/>
                </a:spcBef>
              </a:pPr>
              <a:t>19</a:t>
            </a:fld>
            <a:endParaRPr lang="en-US" altLang="en-US"/>
          </a:p>
        </p:txBody>
      </p:sp>
      <p:sp>
        <p:nvSpPr>
          <p:cNvPr id="32771" name="Rectangle 2">
            <a:extLst>
              <a:ext uri="{FF2B5EF4-FFF2-40B4-BE49-F238E27FC236}">
                <a16:creationId xmlns:a16="http://schemas.microsoft.com/office/drawing/2014/main" id="{F0CB0CED-93C2-3900-1C02-E2D38D3DA873}"/>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133AD5DB-D713-225F-7612-391109988E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5726A466-FCE9-304D-2D2F-BE10F2223A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50EFEB8-DECF-4C69-8E1B-A29EBE2FD052}" type="slidenum">
              <a:rPr lang="en-US" altLang="en-US" smtClean="0"/>
              <a:pPr>
                <a:spcBef>
                  <a:spcPct val="0"/>
                </a:spcBef>
              </a:pPr>
              <a:t>20</a:t>
            </a:fld>
            <a:endParaRPr lang="en-US" altLang="en-US"/>
          </a:p>
        </p:txBody>
      </p:sp>
      <p:sp>
        <p:nvSpPr>
          <p:cNvPr id="32771" name="Rectangle 2">
            <a:extLst>
              <a:ext uri="{FF2B5EF4-FFF2-40B4-BE49-F238E27FC236}">
                <a16:creationId xmlns:a16="http://schemas.microsoft.com/office/drawing/2014/main" id="{F0CB0CED-93C2-3900-1C02-E2D38D3DA873}"/>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133AD5DB-D713-225F-7612-391109988E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extLst>
      <p:ext uri="{BB962C8B-B14F-4D97-AF65-F5344CB8AC3E}">
        <p14:creationId xmlns:p14="http://schemas.microsoft.com/office/powerpoint/2010/main" val="23699064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5726A466-FCE9-304D-2D2F-BE10F2223A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50EFEB8-DECF-4C69-8E1B-A29EBE2FD052}" type="slidenum">
              <a:rPr lang="en-US" altLang="en-US" smtClean="0"/>
              <a:pPr>
                <a:spcBef>
                  <a:spcPct val="0"/>
                </a:spcBef>
              </a:pPr>
              <a:t>21</a:t>
            </a:fld>
            <a:endParaRPr lang="en-US" altLang="en-US"/>
          </a:p>
        </p:txBody>
      </p:sp>
      <p:sp>
        <p:nvSpPr>
          <p:cNvPr id="32771" name="Rectangle 2">
            <a:extLst>
              <a:ext uri="{FF2B5EF4-FFF2-40B4-BE49-F238E27FC236}">
                <a16:creationId xmlns:a16="http://schemas.microsoft.com/office/drawing/2014/main" id="{F0CB0CED-93C2-3900-1C02-E2D38D3DA873}"/>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133AD5DB-D713-225F-7612-391109988E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extLst>
      <p:ext uri="{BB962C8B-B14F-4D97-AF65-F5344CB8AC3E}">
        <p14:creationId xmlns:p14="http://schemas.microsoft.com/office/powerpoint/2010/main" val="26050068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5726A466-FCE9-304D-2D2F-BE10F2223A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50EFEB8-DECF-4C69-8E1B-A29EBE2FD052}" type="slidenum">
              <a:rPr lang="en-US" altLang="en-US" smtClean="0"/>
              <a:pPr>
                <a:spcBef>
                  <a:spcPct val="0"/>
                </a:spcBef>
              </a:pPr>
              <a:t>22</a:t>
            </a:fld>
            <a:endParaRPr lang="en-US" altLang="en-US"/>
          </a:p>
        </p:txBody>
      </p:sp>
      <p:sp>
        <p:nvSpPr>
          <p:cNvPr id="32771" name="Rectangle 2">
            <a:extLst>
              <a:ext uri="{FF2B5EF4-FFF2-40B4-BE49-F238E27FC236}">
                <a16:creationId xmlns:a16="http://schemas.microsoft.com/office/drawing/2014/main" id="{F0CB0CED-93C2-3900-1C02-E2D38D3DA873}"/>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133AD5DB-D713-225F-7612-391109988E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extLst>
      <p:ext uri="{BB962C8B-B14F-4D97-AF65-F5344CB8AC3E}">
        <p14:creationId xmlns:p14="http://schemas.microsoft.com/office/powerpoint/2010/main" val="21225629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5726A466-FCE9-304D-2D2F-BE10F2223A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50EFEB8-DECF-4C69-8E1B-A29EBE2FD052}" type="slidenum">
              <a:rPr lang="en-US" altLang="en-US" smtClean="0"/>
              <a:pPr>
                <a:spcBef>
                  <a:spcPct val="0"/>
                </a:spcBef>
              </a:pPr>
              <a:t>23</a:t>
            </a:fld>
            <a:endParaRPr lang="en-US" altLang="en-US"/>
          </a:p>
        </p:txBody>
      </p:sp>
      <p:sp>
        <p:nvSpPr>
          <p:cNvPr id="32771" name="Rectangle 2">
            <a:extLst>
              <a:ext uri="{FF2B5EF4-FFF2-40B4-BE49-F238E27FC236}">
                <a16:creationId xmlns:a16="http://schemas.microsoft.com/office/drawing/2014/main" id="{F0CB0CED-93C2-3900-1C02-E2D38D3DA873}"/>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133AD5DB-D713-225F-7612-391109988E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extLst>
      <p:ext uri="{BB962C8B-B14F-4D97-AF65-F5344CB8AC3E}">
        <p14:creationId xmlns:p14="http://schemas.microsoft.com/office/powerpoint/2010/main" val="16083802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5726A466-FCE9-304D-2D2F-BE10F2223A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50EFEB8-DECF-4C69-8E1B-A29EBE2FD052}" type="slidenum">
              <a:rPr lang="en-US" altLang="en-US" smtClean="0"/>
              <a:pPr>
                <a:spcBef>
                  <a:spcPct val="0"/>
                </a:spcBef>
              </a:pPr>
              <a:t>24</a:t>
            </a:fld>
            <a:endParaRPr lang="en-US" altLang="en-US"/>
          </a:p>
        </p:txBody>
      </p:sp>
      <p:sp>
        <p:nvSpPr>
          <p:cNvPr id="32771" name="Rectangle 2">
            <a:extLst>
              <a:ext uri="{FF2B5EF4-FFF2-40B4-BE49-F238E27FC236}">
                <a16:creationId xmlns:a16="http://schemas.microsoft.com/office/drawing/2014/main" id="{F0CB0CED-93C2-3900-1C02-E2D38D3DA873}"/>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133AD5DB-D713-225F-7612-391109988E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extLst>
      <p:ext uri="{BB962C8B-B14F-4D97-AF65-F5344CB8AC3E}">
        <p14:creationId xmlns:p14="http://schemas.microsoft.com/office/powerpoint/2010/main" val="19139116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3F3D96A6-58E4-7957-0BDF-3B1011E50F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1488351-B730-4AD3-A41E-84DD8485F33C}" type="slidenum">
              <a:rPr lang="en-US" altLang="en-US" smtClean="0"/>
              <a:pPr>
                <a:spcBef>
                  <a:spcPct val="0"/>
                </a:spcBef>
              </a:pPr>
              <a:t>25</a:t>
            </a:fld>
            <a:endParaRPr lang="en-US" altLang="en-US"/>
          </a:p>
        </p:txBody>
      </p:sp>
      <p:sp>
        <p:nvSpPr>
          <p:cNvPr id="34819" name="Rectangle 2">
            <a:extLst>
              <a:ext uri="{FF2B5EF4-FFF2-40B4-BE49-F238E27FC236}">
                <a16:creationId xmlns:a16="http://schemas.microsoft.com/office/drawing/2014/main" id="{29CA07B7-A0C3-EEBB-0F0B-862A4453F403}"/>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E6F90A02-A660-5213-49F2-26FC5107DA9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3F3D96A6-58E4-7957-0BDF-3B1011E50F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1488351-B730-4AD3-A41E-84DD8485F33C}" type="slidenum">
              <a:rPr lang="en-US" altLang="en-US" smtClean="0"/>
              <a:pPr>
                <a:spcBef>
                  <a:spcPct val="0"/>
                </a:spcBef>
              </a:pPr>
              <a:t>26</a:t>
            </a:fld>
            <a:endParaRPr lang="en-US" altLang="en-US"/>
          </a:p>
        </p:txBody>
      </p:sp>
      <p:sp>
        <p:nvSpPr>
          <p:cNvPr id="34819" name="Rectangle 2">
            <a:extLst>
              <a:ext uri="{FF2B5EF4-FFF2-40B4-BE49-F238E27FC236}">
                <a16:creationId xmlns:a16="http://schemas.microsoft.com/office/drawing/2014/main" id="{29CA07B7-A0C3-EEBB-0F0B-862A4453F403}"/>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E6F90A02-A660-5213-49F2-26FC5107DA9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extLst>
      <p:ext uri="{BB962C8B-B14F-4D97-AF65-F5344CB8AC3E}">
        <p14:creationId xmlns:p14="http://schemas.microsoft.com/office/powerpoint/2010/main" val="12553100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3F3D96A6-58E4-7957-0BDF-3B1011E50F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1488351-B730-4AD3-A41E-84DD8485F33C}" type="slidenum">
              <a:rPr lang="en-US" altLang="en-US" smtClean="0"/>
              <a:pPr>
                <a:spcBef>
                  <a:spcPct val="0"/>
                </a:spcBef>
              </a:pPr>
              <a:t>27</a:t>
            </a:fld>
            <a:endParaRPr lang="en-US" altLang="en-US"/>
          </a:p>
        </p:txBody>
      </p:sp>
      <p:sp>
        <p:nvSpPr>
          <p:cNvPr id="34819" name="Rectangle 2">
            <a:extLst>
              <a:ext uri="{FF2B5EF4-FFF2-40B4-BE49-F238E27FC236}">
                <a16:creationId xmlns:a16="http://schemas.microsoft.com/office/drawing/2014/main" id="{29CA07B7-A0C3-EEBB-0F0B-862A4453F403}"/>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E6F90A02-A660-5213-49F2-26FC5107DA9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extLst>
      <p:ext uri="{BB962C8B-B14F-4D97-AF65-F5344CB8AC3E}">
        <p14:creationId xmlns:p14="http://schemas.microsoft.com/office/powerpoint/2010/main" val="29319778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3F3D96A6-58E4-7957-0BDF-3B1011E50F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1488351-B730-4AD3-A41E-84DD8485F33C}" type="slidenum">
              <a:rPr lang="en-US" altLang="en-US" smtClean="0"/>
              <a:pPr>
                <a:spcBef>
                  <a:spcPct val="0"/>
                </a:spcBef>
              </a:pPr>
              <a:t>28</a:t>
            </a:fld>
            <a:endParaRPr lang="en-US" altLang="en-US"/>
          </a:p>
        </p:txBody>
      </p:sp>
      <p:sp>
        <p:nvSpPr>
          <p:cNvPr id="34819" name="Rectangle 2">
            <a:extLst>
              <a:ext uri="{FF2B5EF4-FFF2-40B4-BE49-F238E27FC236}">
                <a16:creationId xmlns:a16="http://schemas.microsoft.com/office/drawing/2014/main" id="{29CA07B7-A0C3-EEBB-0F0B-862A4453F403}"/>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E6F90A02-A660-5213-49F2-26FC5107DA9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extLst>
      <p:ext uri="{BB962C8B-B14F-4D97-AF65-F5344CB8AC3E}">
        <p14:creationId xmlns:p14="http://schemas.microsoft.com/office/powerpoint/2010/main" val="37878432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3F3D96A6-58E4-7957-0BDF-3B1011E50F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1488351-B730-4AD3-A41E-84DD8485F33C}" type="slidenum">
              <a:rPr lang="en-US" altLang="en-US" smtClean="0"/>
              <a:pPr>
                <a:spcBef>
                  <a:spcPct val="0"/>
                </a:spcBef>
              </a:pPr>
              <a:t>29</a:t>
            </a:fld>
            <a:endParaRPr lang="en-US" altLang="en-US"/>
          </a:p>
        </p:txBody>
      </p:sp>
      <p:sp>
        <p:nvSpPr>
          <p:cNvPr id="34819" name="Rectangle 2">
            <a:extLst>
              <a:ext uri="{FF2B5EF4-FFF2-40B4-BE49-F238E27FC236}">
                <a16:creationId xmlns:a16="http://schemas.microsoft.com/office/drawing/2014/main" id="{29CA07B7-A0C3-EEBB-0F0B-862A4453F403}"/>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E6F90A02-A660-5213-49F2-26FC5107DA9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extLst>
      <p:ext uri="{BB962C8B-B14F-4D97-AF65-F5344CB8AC3E}">
        <p14:creationId xmlns:p14="http://schemas.microsoft.com/office/powerpoint/2010/main" val="17163467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3B05F6AF-3F71-0634-3329-833C6C463BF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752DDC1-CAAD-40A3-889F-7F6DEA46E52A}" type="slidenum">
              <a:rPr lang="en-US" altLang="en-US" smtClean="0"/>
              <a:pPr>
                <a:spcBef>
                  <a:spcPct val="0"/>
                </a:spcBef>
              </a:pPr>
              <a:t>30</a:t>
            </a:fld>
            <a:endParaRPr lang="en-US" altLang="en-US"/>
          </a:p>
        </p:txBody>
      </p:sp>
      <p:sp>
        <p:nvSpPr>
          <p:cNvPr id="36867" name="Rectangle 2">
            <a:extLst>
              <a:ext uri="{FF2B5EF4-FFF2-40B4-BE49-F238E27FC236}">
                <a16:creationId xmlns:a16="http://schemas.microsoft.com/office/drawing/2014/main" id="{1E1E4A56-54B9-0866-E323-AE8BE1A3B760}"/>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EA7E1F1D-3B73-2670-9E29-268260F393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40DB093F-6CD9-5F18-41DF-9E0FF9BC9E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A0FE090-C9A9-41F5-9785-60B8E1299A02}" type="slidenum">
              <a:rPr lang="en-US" altLang="en-US" smtClean="0"/>
              <a:pPr>
                <a:spcBef>
                  <a:spcPct val="0"/>
                </a:spcBef>
              </a:pPr>
              <a:t>31</a:t>
            </a:fld>
            <a:endParaRPr lang="en-US" altLang="en-US"/>
          </a:p>
        </p:txBody>
      </p:sp>
      <p:sp>
        <p:nvSpPr>
          <p:cNvPr id="38915" name="Rectangle 2">
            <a:extLst>
              <a:ext uri="{FF2B5EF4-FFF2-40B4-BE49-F238E27FC236}">
                <a16:creationId xmlns:a16="http://schemas.microsoft.com/office/drawing/2014/main" id="{71FAAA09-74AA-E0F8-1852-A4623FA89B42}"/>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978CF190-02E6-7515-D559-59B32ACBC5A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40DB093F-6CD9-5F18-41DF-9E0FF9BC9E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A0FE090-C9A9-41F5-9785-60B8E1299A02}" type="slidenum">
              <a:rPr lang="en-US" altLang="en-US" smtClean="0"/>
              <a:pPr>
                <a:spcBef>
                  <a:spcPct val="0"/>
                </a:spcBef>
              </a:pPr>
              <a:t>32</a:t>
            </a:fld>
            <a:endParaRPr lang="en-US" altLang="en-US"/>
          </a:p>
        </p:txBody>
      </p:sp>
      <p:sp>
        <p:nvSpPr>
          <p:cNvPr id="38915" name="Rectangle 2">
            <a:extLst>
              <a:ext uri="{FF2B5EF4-FFF2-40B4-BE49-F238E27FC236}">
                <a16:creationId xmlns:a16="http://schemas.microsoft.com/office/drawing/2014/main" id="{71FAAA09-74AA-E0F8-1852-A4623FA89B42}"/>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978CF190-02E6-7515-D559-59B32ACBC5A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extLst>
      <p:ext uri="{BB962C8B-B14F-4D97-AF65-F5344CB8AC3E}">
        <p14:creationId xmlns:p14="http://schemas.microsoft.com/office/powerpoint/2010/main" val="21376312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40DB093F-6CD9-5F18-41DF-9E0FF9BC9E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A0FE090-C9A9-41F5-9785-60B8E1299A02}" type="slidenum">
              <a:rPr lang="en-US" altLang="en-US" smtClean="0"/>
              <a:pPr>
                <a:spcBef>
                  <a:spcPct val="0"/>
                </a:spcBef>
              </a:pPr>
              <a:t>33</a:t>
            </a:fld>
            <a:endParaRPr lang="en-US" altLang="en-US"/>
          </a:p>
        </p:txBody>
      </p:sp>
      <p:sp>
        <p:nvSpPr>
          <p:cNvPr id="38915" name="Rectangle 2">
            <a:extLst>
              <a:ext uri="{FF2B5EF4-FFF2-40B4-BE49-F238E27FC236}">
                <a16:creationId xmlns:a16="http://schemas.microsoft.com/office/drawing/2014/main" id="{71FAAA09-74AA-E0F8-1852-A4623FA89B42}"/>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978CF190-02E6-7515-D559-59B32ACBC5A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extLst>
      <p:ext uri="{BB962C8B-B14F-4D97-AF65-F5344CB8AC3E}">
        <p14:creationId xmlns:p14="http://schemas.microsoft.com/office/powerpoint/2010/main" val="13233606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40DB093F-6CD9-5F18-41DF-9E0FF9BC9E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A0FE090-C9A9-41F5-9785-60B8E1299A02}" type="slidenum">
              <a:rPr lang="en-US" altLang="en-US" smtClean="0"/>
              <a:pPr>
                <a:spcBef>
                  <a:spcPct val="0"/>
                </a:spcBef>
              </a:pPr>
              <a:t>34</a:t>
            </a:fld>
            <a:endParaRPr lang="en-US" altLang="en-US"/>
          </a:p>
        </p:txBody>
      </p:sp>
      <p:sp>
        <p:nvSpPr>
          <p:cNvPr id="38915" name="Rectangle 2">
            <a:extLst>
              <a:ext uri="{FF2B5EF4-FFF2-40B4-BE49-F238E27FC236}">
                <a16:creationId xmlns:a16="http://schemas.microsoft.com/office/drawing/2014/main" id="{71FAAA09-74AA-E0F8-1852-A4623FA89B42}"/>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978CF190-02E6-7515-D559-59B32ACBC5A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extLst>
      <p:ext uri="{BB962C8B-B14F-4D97-AF65-F5344CB8AC3E}">
        <p14:creationId xmlns:p14="http://schemas.microsoft.com/office/powerpoint/2010/main" val="12384301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76398431-5639-114A-4582-70E2E6F566A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8D2E7F3-8CF3-4EA2-B0B6-6EE5F849E1C8}" type="slidenum">
              <a:rPr lang="en-US" altLang="en-US" smtClean="0"/>
              <a:pPr>
                <a:spcBef>
                  <a:spcPct val="0"/>
                </a:spcBef>
              </a:pPr>
              <a:t>35</a:t>
            </a:fld>
            <a:endParaRPr lang="en-US" altLang="en-US"/>
          </a:p>
        </p:txBody>
      </p:sp>
      <p:sp>
        <p:nvSpPr>
          <p:cNvPr id="40963" name="Rectangle 2">
            <a:extLst>
              <a:ext uri="{FF2B5EF4-FFF2-40B4-BE49-F238E27FC236}">
                <a16:creationId xmlns:a16="http://schemas.microsoft.com/office/drawing/2014/main" id="{7DAC7ADE-CE85-8FB5-ABFD-B66A990C3B0C}"/>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A1C9CEC0-C6F6-E652-A9AE-F7E7A6C17D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D07AF5DB-A351-781E-B436-378E551D16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3FE23DB-3AA3-44EF-B10A-CFEBBD476B73}" type="slidenum">
              <a:rPr lang="en-US" altLang="en-US" smtClean="0"/>
              <a:pPr>
                <a:spcBef>
                  <a:spcPct val="0"/>
                </a:spcBef>
              </a:pPr>
              <a:t>36</a:t>
            </a:fld>
            <a:endParaRPr lang="en-US" altLang="en-US"/>
          </a:p>
        </p:txBody>
      </p:sp>
      <p:sp>
        <p:nvSpPr>
          <p:cNvPr id="43011" name="Rectangle 2">
            <a:extLst>
              <a:ext uri="{FF2B5EF4-FFF2-40B4-BE49-F238E27FC236}">
                <a16:creationId xmlns:a16="http://schemas.microsoft.com/office/drawing/2014/main" id="{731F0E44-A1D7-110E-C600-A26F08902628}"/>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3824F8DE-36B2-1E1A-AFAE-AE2B6D2709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20B5DDA7-5268-AFBA-339F-97EE12E38F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A9A40F4-C969-4570-A7C2-47A7C8502E75}" type="slidenum">
              <a:rPr lang="en-US" altLang="en-US" smtClean="0"/>
              <a:pPr>
                <a:spcBef>
                  <a:spcPct val="0"/>
                </a:spcBef>
              </a:pPr>
              <a:t>37</a:t>
            </a:fld>
            <a:endParaRPr lang="en-US" altLang="en-US"/>
          </a:p>
        </p:txBody>
      </p:sp>
      <p:sp>
        <p:nvSpPr>
          <p:cNvPr id="45059" name="Rectangle 2">
            <a:extLst>
              <a:ext uri="{FF2B5EF4-FFF2-40B4-BE49-F238E27FC236}">
                <a16:creationId xmlns:a16="http://schemas.microsoft.com/office/drawing/2014/main" id="{C24D9098-1DB4-41D9-E363-EDCE53344CF9}"/>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4B5B87F1-035D-1072-FE60-CA8495A7DC3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7A8883B2-247D-2F13-E8B9-BEA98175094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C54D807-42D1-47B4-83E6-AC660B67EEE7}" type="slidenum">
              <a:rPr lang="en-US" altLang="en-US" smtClean="0"/>
              <a:pPr>
                <a:spcBef>
                  <a:spcPct val="0"/>
                </a:spcBef>
              </a:pPr>
              <a:t>39</a:t>
            </a:fld>
            <a:endParaRPr lang="en-US" altLang="en-US"/>
          </a:p>
        </p:txBody>
      </p:sp>
      <p:sp>
        <p:nvSpPr>
          <p:cNvPr id="20483" name="Rectangle 2">
            <a:extLst>
              <a:ext uri="{FF2B5EF4-FFF2-40B4-BE49-F238E27FC236}">
                <a16:creationId xmlns:a16="http://schemas.microsoft.com/office/drawing/2014/main" id="{4B4968D0-67D8-536D-3FD9-74B4F950F3FB}"/>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2D3778A1-3372-045F-D55E-6426A4D9491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C7ECA236-D523-A19E-4939-106F41AE624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DF9209F-73A7-4EC0-BDF3-473A745BC711}" type="slidenum">
              <a:rPr lang="en-US" altLang="en-US" smtClean="0"/>
              <a:pPr>
                <a:spcBef>
                  <a:spcPct val="0"/>
                </a:spcBef>
              </a:pPr>
              <a:t>40</a:t>
            </a:fld>
            <a:endParaRPr lang="en-US" altLang="en-US"/>
          </a:p>
        </p:txBody>
      </p:sp>
      <p:sp>
        <p:nvSpPr>
          <p:cNvPr id="24579" name="Rectangle 2">
            <a:extLst>
              <a:ext uri="{FF2B5EF4-FFF2-40B4-BE49-F238E27FC236}">
                <a16:creationId xmlns:a16="http://schemas.microsoft.com/office/drawing/2014/main" id="{F8EED9E5-0401-F516-B27A-CB2CD1FFECA0}"/>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B8C19225-F553-5D02-DD51-6E410302B12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CE5BFCA0-BD5C-3F22-A68D-339BAE0588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D11A87F-DB45-4779-B880-072073087107}" type="slidenum">
              <a:rPr lang="en-US" altLang="en-US" smtClean="0"/>
              <a:pPr>
                <a:spcBef>
                  <a:spcPct val="0"/>
                </a:spcBef>
              </a:pPr>
              <a:t>41</a:t>
            </a:fld>
            <a:endParaRPr lang="en-US" altLang="en-US"/>
          </a:p>
        </p:txBody>
      </p:sp>
      <p:sp>
        <p:nvSpPr>
          <p:cNvPr id="26627" name="Rectangle 2">
            <a:extLst>
              <a:ext uri="{FF2B5EF4-FFF2-40B4-BE49-F238E27FC236}">
                <a16:creationId xmlns:a16="http://schemas.microsoft.com/office/drawing/2014/main" id="{5BED458C-ADD1-C42C-2B3C-D08EEB7A0C8C}"/>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E8A3CE98-8109-1E2C-8565-DED9D6F03B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279BA6AE-8DBA-C190-63A7-A7A599159E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0842AC1-A1AF-48A8-BE54-3EFC2C89C5D5}" type="slidenum">
              <a:rPr lang="en-US" altLang="en-US" smtClean="0"/>
              <a:pPr>
                <a:spcBef>
                  <a:spcPct val="0"/>
                </a:spcBef>
              </a:pPr>
              <a:t>42</a:t>
            </a:fld>
            <a:endParaRPr lang="en-US" altLang="en-US"/>
          </a:p>
        </p:txBody>
      </p:sp>
      <p:sp>
        <p:nvSpPr>
          <p:cNvPr id="28675" name="Rectangle 2">
            <a:extLst>
              <a:ext uri="{FF2B5EF4-FFF2-40B4-BE49-F238E27FC236}">
                <a16:creationId xmlns:a16="http://schemas.microsoft.com/office/drawing/2014/main" id="{8AA17AFD-91CE-3DA1-ED36-7ECF32911362}"/>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F3A6F8E9-62F5-DD2F-73E7-733DC7C2C2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D5C39C80-F661-98E5-FEEE-E5E4F60E191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35F12F4-4904-48DB-997B-337E22CF7110}" type="slidenum">
              <a:rPr lang="en-US" altLang="en-US" smtClean="0"/>
              <a:pPr>
                <a:spcBef>
                  <a:spcPct val="0"/>
                </a:spcBef>
              </a:pPr>
              <a:t>44</a:t>
            </a:fld>
            <a:endParaRPr lang="en-US" altLang="en-US"/>
          </a:p>
        </p:txBody>
      </p:sp>
      <p:sp>
        <p:nvSpPr>
          <p:cNvPr id="49155" name="Rectangle 2">
            <a:extLst>
              <a:ext uri="{FF2B5EF4-FFF2-40B4-BE49-F238E27FC236}">
                <a16:creationId xmlns:a16="http://schemas.microsoft.com/office/drawing/2014/main" id="{C96A2291-A0FE-9246-C053-D4762B54E4D0}"/>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A016843B-85BD-4E09-63D7-3DE74CBEE4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D5C39C80-F661-98E5-FEEE-E5E4F60E191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35F12F4-4904-48DB-997B-337E22CF7110}" type="slidenum">
              <a:rPr lang="en-US" altLang="en-US" smtClean="0"/>
              <a:pPr>
                <a:spcBef>
                  <a:spcPct val="0"/>
                </a:spcBef>
              </a:pPr>
              <a:t>45</a:t>
            </a:fld>
            <a:endParaRPr lang="en-US" altLang="en-US"/>
          </a:p>
        </p:txBody>
      </p:sp>
      <p:sp>
        <p:nvSpPr>
          <p:cNvPr id="49155" name="Rectangle 2">
            <a:extLst>
              <a:ext uri="{FF2B5EF4-FFF2-40B4-BE49-F238E27FC236}">
                <a16:creationId xmlns:a16="http://schemas.microsoft.com/office/drawing/2014/main" id="{C96A2291-A0FE-9246-C053-D4762B54E4D0}"/>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A016843B-85BD-4E09-63D7-3DE74CBEE4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extLst>
      <p:ext uri="{BB962C8B-B14F-4D97-AF65-F5344CB8AC3E}">
        <p14:creationId xmlns:p14="http://schemas.microsoft.com/office/powerpoint/2010/main" val="119731382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CB28ADC5-6A7E-9BC8-A85C-D9BF126BD6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6CAFD0F-7A80-482E-8ECB-F2B2D06FB48B}" type="slidenum">
              <a:rPr lang="en-US" altLang="en-US" smtClean="0"/>
              <a:pPr>
                <a:spcBef>
                  <a:spcPct val="0"/>
                </a:spcBef>
              </a:pPr>
              <a:t>46</a:t>
            </a:fld>
            <a:endParaRPr lang="en-US" altLang="en-US"/>
          </a:p>
        </p:txBody>
      </p:sp>
      <p:sp>
        <p:nvSpPr>
          <p:cNvPr id="51203" name="Rectangle 2">
            <a:extLst>
              <a:ext uri="{FF2B5EF4-FFF2-40B4-BE49-F238E27FC236}">
                <a16:creationId xmlns:a16="http://schemas.microsoft.com/office/drawing/2014/main" id="{4C616FA5-2B7A-1E4B-2FD0-24D6F47D1AFC}"/>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7AFBBE15-F04B-A950-F01F-016CE0B730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803A2519-1B2E-9357-D5CB-153E4A7EEFA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1AB29AE-7293-41BF-8A6E-7A52AC0D7C7C}" type="slidenum">
              <a:rPr lang="en-US" altLang="en-US" smtClean="0"/>
              <a:pPr>
                <a:spcBef>
                  <a:spcPct val="0"/>
                </a:spcBef>
              </a:pPr>
              <a:t>47</a:t>
            </a:fld>
            <a:endParaRPr lang="en-US" altLang="en-US"/>
          </a:p>
        </p:txBody>
      </p:sp>
      <p:sp>
        <p:nvSpPr>
          <p:cNvPr id="53251" name="Rectangle 2">
            <a:extLst>
              <a:ext uri="{FF2B5EF4-FFF2-40B4-BE49-F238E27FC236}">
                <a16:creationId xmlns:a16="http://schemas.microsoft.com/office/drawing/2014/main" id="{6B6EA4A9-A9D8-5248-4FBC-A1D422164A50}"/>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D49CC0F9-D2B6-C3CE-C750-8FF3F29D648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4902FD5F-30D8-5C1C-1268-3A09BD4E192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6B3B8E6-6709-451F-8355-8EA720BA784C}" type="slidenum">
              <a:rPr lang="en-US" altLang="en-US" smtClean="0"/>
              <a:pPr>
                <a:spcBef>
                  <a:spcPct val="0"/>
                </a:spcBef>
              </a:pPr>
              <a:t>48</a:t>
            </a:fld>
            <a:endParaRPr lang="en-US" altLang="en-US"/>
          </a:p>
        </p:txBody>
      </p:sp>
      <p:sp>
        <p:nvSpPr>
          <p:cNvPr id="55299" name="Rectangle 2">
            <a:extLst>
              <a:ext uri="{FF2B5EF4-FFF2-40B4-BE49-F238E27FC236}">
                <a16:creationId xmlns:a16="http://schemas.microsoft.com/office/drawing/2014/main" id="{62515E27-FF9F-DA94-C7D3-98AA26E1FFFD}"/>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D5B39204-805B-C62D-B5F8-08EEF0CEA0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BA7E1DC8-C831-A02F-9CD1-281E010199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D08512A-05A6-42D2-B126-FD50B4E9D730}" type="slidenum">
              <a:rPr lang="en-US" altLang="en-US" smtClean="0"/>
              <a:pPr>
                <a:spcBef>
                  <a:spcPct val="0"/>
                </a:spcBef>
              </a:pPr>
              <a:t>49</a:t>
            </a:fld>
            <a:endParaRPr lang="en-US" altLang="en-US"/>
          </a:p>
        </p:txBody>
      </p:sp>
      <p:sp>
        <p:nvSpPr>
          <p:cNvPr id="57347" name="Rectangle 2">
            <a:extLst>
              <a:ext uri="{FF2B5EF4-FFF2-40B4-BE49-F238E27FC236}">
                <a16:creationId xmlns:a16="http://schemas.microsoft.com/office/drawing/2014/main" id="{99B2490A-5004-C590-CE17-5E3DC93C1F1E}"/>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ECB3B508-C95E-85C5-D873-25C49D972E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BA7E1DC8-C831-A02F-9CD1-281E010199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D08512A-05A6-42D2-B126-FD50B4E9D730}" type="slidenum">
              <a:rPr lang="en-US" altLang="en-US" smtClean="0"/>
              <a:pPr>
                <a:spcBef>
                  <a:spcPct val="0"/>
                </a:spcBef>
              </a:pPr>
              <a:t>50</a:t>
            </a:fld>
            <a:endParaRPr lang="en-US" altLang="en-US"/>
          </a:p>
        </p:txBody>
      </p:sp>
      <p:sp>
        <p:nvSpPr>
          <p:cNvPr id="57347" name="Rectangle 2">
            <a:extLst>
              <a:ext uri="{FF2B5EF4-FFF2-40B4-BE49-F238E27FC236}">
                <a16:creationId xmlns:a16="http://schemas.microsoft.com/office/drawing/2014/main" id="{99B2490A-5004-C590-CE17-5E3DC93C1F1E}"/>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ECB3B508-C95E-85C5-D873-25C49D972E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extLst>
      <p:ext uri="{BB962C8B-B14F-4D97-AF65-F5344CB8AC3E}">
        <p14:creationId xmlns:p14="http://schemas.microsoft.com/office/powerpoint/2010/main" val="113662411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4CE62353-C220-0BBD-7E54-C937710EC8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219FCEA-C01A-41A4-AAC3-BF41E4059C71}" type="slidenum">
              <a:rPr lang="en-US" altLang="en-US" smtClean="0"/>
              <a:pPr>
                <a:spcBef>
                  <a:spcPct val="0"/>
                </a:spcBef>
              </a:pPr>
              <a:t>51</a:t>
            </a:fld>
            <a:endParaRPr lang="en-US" altLang="en-US"/>
          </a:p>
        </p:txBody>
      </p:sp>
      <p:sp>
        <p:nvSpPr>
          <p:cNvPr id="59395" name="Rectangle 2">
            <a:extLst>
              <a:ext uri="{FF2B5EF4-FFF2-40B4-BE49-F238E27FC236}">
                <a16:creationId xmlns:a16="http://schemas.microsoft.com/office/drawing/2014/main" id="{F06D4940-50DF-569E-CD29-61A097678580}"/>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A4746EE2-276E-EE9C-84DD-2E9F5D7566B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3265BFC5-B522-BF59-7241-8B9FDE9B29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4F08EBE-1DEB-4EFE-BF2A-ED101842782B}" type="slidenum">
              <a:rPr lang="en-US" altLang="en-US" smtClean="0"/>
              <a:pPr>
                <a:spcBef>
                  <a:spcPct val="0"/>
                </a:spcBef>
              </a:pPr>
              <a:t>52</a:t>
            </a:fld>
            <a:endParaRPr lang="en-US" altLang="en-US"/>
          </a:p>
        </p:txBody>
      </p:sp>
      <p:sp>
        <p:nvSpPr>
          <p:cNvPr id="61443" name="Rectangle 2">
            <a:extLst>
              <a:ext uri="{FF2B5EF4-FFF2-40B4-BE49-F238E27FC236}">
                <a16:creationId xmlns:a16="http://schemas.microsoft.com/office/drawing/2014/main" id="{B2459BB7-765B-EB67-9D63-CC109AD110F5}"/>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1D63D9C9-5A02-C100-86BA-97F463C725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DA7DAEF1-7028-990C-CE86-BDDD3FEF5F0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B51F213-0998-4D24-86C4-48FA59BD8873}" type="slidenum">
              <a:rPr lang="en-US" altLang="en-US" smtClean="0"/>
              <a:pPr>
                <a:spcBef>
                  <a:spcPct val="0"/>
                </a:spcBef>
              </a:pPr>
              <a:t>53</a:t>
            </a:fld>
            <a:endParaRPr lang="en-US" altLang="en-US"/>
          </a:p>
        </p:txBody>
      </p:sp>
      <p:sp>
        <p:nvSpPr>
          <p:cNvPr id="63491" name="Rectangle 2">
            <a:extLst>
              <a:ext uri="{FF2B5EF4-FFF2-40B4-BE49-F238E27FC236}">
                <a16:creationId xmlns:a16="http://schemas.microsoft.com/office/drawing/2014/main" id="{0D15726A-C714-8E5B-31D4-F81BBF4CE993}"/>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67095A24-CC98-1473-FFB7-9632194071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E9F71FB3-AD8A-ADAC-093A-C012C5EC66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3774564-08B0-4F4A-8120-A256D2DC545C}" type="slidenum">
              <a:rPr lang="en-US" altLang="en-US" smtClean="0"/>
              <a:pPr>
                <a:spcBef>
                  <a:spcPct val="0"/>
                </a:spcBef>
              </a:pPr>
              <a:t>54</a:t>
            </a:fld>
            <a:endParaRPr lang="en-US" altLang="en-US"/>
          </a:p>
        </p:txBody>
      </p:sp>
      <p:sp>
        <p:nvSpPr>
          <p:cNvPr id="75779" name="Rectangle 2">
            <a:extLst>
              <a:ext uri="{FF2B5EF4-FFF2-40B4-BE49-F238E27FC236}">
                <a16:creationId xmlns:a16="http://schemas.microsoft.com/office/drawing/2014/main" id="{C0295A1C-E088-0B57-8145-6E9471C2F968}"/>
              </a:ext>
            </a:extLst>
          </p:cNvPr>
          <p:cNvSpPr>
            <a:spLocks noGrp="1" noRot="1" noChangeAspect="1" noChangeArrowheads="1" noTextEdit="1"/>
          </p:cNvSpPr>
          <p:nvPr>
            <p:ph type="sldImg"/>
          </p:nvPr>
        </p:nvSpPr>
        <p:spPr>
          <a:ln/>
        </p:spPr>
      </p:sp>
      <p:sp>
        <p:nvSpPr>
          <p:cNvPr id="75780" name="Rectangle 3">
            <a:extLst>
              <a:ext uri="{FF2B5EF4-FFF2-40B4-BE49-F238E27FC236}">
                <a16:creationId xmlns:a16="http://schemas.microsoft.com/office/drawing/2014/main" id="{1B8FC1E4-44B9-D844-3511-8346BD84DB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32BD607B-A8D4-4F27-B506-31336095EEA1}" type="datetimeFigureOut">
              <a:rPr lang="en-US" smtClean="0"/>
              <a:t>3/25/2026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F3976CA2-9178-4127-A7CF-212E4A9C0EDA}"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21220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BD607B-A8D4-4F27-B506-31336095EEA1}"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976CA2-9178-4127-A7CF-212E4A9C0EDA}" type="slidenum">
              <a:rPr lang="en-US" smtClean="0"/>
              <a:t>‹#›</a:t>
            </a:fld>
            <a:endParaRPr lang="en-US"/>
          </a:p>
        </p:txBody>
      </p:sp>
    </p:spTree>
    <p:extLst>
      <p:ext uri="{BB962C8B-B14F-4D97-AF65-F5344CB8AC3E}">
        <p14:creationId xmlns:p14="http://schemas.microsoft.com/office/powerpoint/2010/main" val="3833478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D607B-A8D4-4F27-B506-31336095EEA1}"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976CA2-9178-4127-A7CF-212E4A9C0EDA}"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80943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2BD607B-A8D4-4F27-B506-31336095EEA1}"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976CA2-9178-4127-A7CF-212E4A9C0EDA}" type="slidenum">
              <a:rPr lang="en-US" smtClean="0"/>
              <a:t>‹#›</a:t>
            </a:fld>
            <a:endParaRPr lang="en-US"/>
          </a:p>
        </p:txBody>
      </p:sp>
    </p:spTree>
    <p:extLst>
      <p:ext uri="{BB962C8B-B14F-4D97-AF65-F5344CB8AC3E}">
        <p14:creationId xmlns:p14="http://schemas.microsoft.com/office/powerpoint/2010/main" val="2011191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2BD607B-A8D4-4F27-B506-31336095EEA1}" type="datetimeFigureOut">
              <a:rPr lang="en-US" smtClean="0"/>
              <a:t>3/25/2026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3976CA2-9178-4127-A7CF-212E4A9C0EDA}"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0744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2BD607B-A8D4-4F27-B506-31336095EEA1}" type="datetimeFigureOut">
              <a:rPr lang="en-US" smtClean="0"/>
              <a:t>3/25/2026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3976CA2-9178-4127-A7CF-212E4A9C0EDA}"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243065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BD607B-A8D4-4F27-B506-31336095EEA1}" type="datetimeFigureOut">
              <a:rPr lang="en-US" smtClean="0"/>
              <a:t>3/25/2026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3976CA2-9178-4127-A7CF-212E4A9C0EDA}" type="slidenum">
              <a:rPr lang="en-US" smtClean="0"/>
              <a:t>‹#›</a:t>
            </a:fld>
            <a:endParaRPr lang="en-US"/>
          </a:p>
        </p:txBody>
      </p:sp>
    </p:spTree>
    <p:extLst>
      <p:ext uri="{BB962C8B-B14F-4D97-AF65-F5344CB8AC3E}">
        <p14:creationId xmlns:p14="http://schemas.microsoft.com/office/powerpoint/2010/main" val="1823614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BD607B-A8D4-4F27-B506-31336095EEA1}"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976CA2-9178-4127-A7CF-212E4A9C0EDA}"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4191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BD607B-A8D4-4F27-B506-31336095EEA1}"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976CA2-9178-4127-A7CF-212E4A9C0EDA}" type="slidenum">
              <a:rPr lang="en-US" smtClean="0"/>
              <a:t>‹#›</a:t>
            </a:fld>
            <a:endParaRPr lang="en-US"/>
          </a:p>
        </p:txBody>
      </p:sp>
    </p:spTree>
    <p:extLst>
      <p:ext uri="{BB962C8B-B14F-4D97-AF65-F5344CB8AC3E}">
        <p14:creationId xmlns:p14="http://schemas.microsoft.com/office/powerpoint/2010/main" val="1076487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BD607B-A8D4-4F27-B506-31336095EEA1}"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976CA2-9178-4127-A7CF-212E4A9C0EDA}" type="slidenum">
              <a:rPr lang="en-US" smtClean="0"/>
              <a:t>‹#›</a:t>
            </a:fld>
            <a:endParaRPr lang="en-US"/>
          </a:p>
        </p:txBody>
      </p:sp>
    </p:spTree>
    <p:extLst>
      <p:ext uri="{BB962C8B-B14F-4D97-AF65-F5344CB8AC3E}">
        <p14:creationId xmlns:p14="http://schemas.microsoft.com/office/powerpoint/2010/main" val="21105740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D607B-A8D4-4F27-B506-31336095EEA1}"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976CA2-9178-4127-A7CF-212E4A9C0EDA}"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289359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D607B-A8D4-4F27-B506-31336095EEA1}"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976CA2-9178-4127-A7CF-212E4A9C0EDA}"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700083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D607B-A8D4-4F27-B506-31336095EEA1}"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976CA2-9178-4127-A7CF-212E4A9C0EDA}" type="slidenum">
              <a:rPr lang="en-US" smtClean="0"/>
              <a:t>‹#›</a:t>
            </a:fld>
            <a:endParaRPr lang="en-US"/>
          </a:p>
        </p:txBody>
      </p:sp>
    </p:spTree>
    <p:extLst>
      <p:ext uri="{BB962C8B-B14F-4D97-AF65-F5344CB8AC3E}">
        <p14:creationId xmlns:p14="http://schemas.microsoft.com/office/powerpoint/2010/main" val="5469499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D607B-A8D4-4F27-B506-31336095EEA1}"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976CA2-9178-4127-A7CF-212E4A9C0EDA}"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210383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D607B-A8D4-4F27-B506-31336095EEA1}"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976CA2-9178-4127-A7CF-212E4A9C0EDA}"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984288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BD607B-A8D4-4F27-B506-31336095EEA1}"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976CA2-9178-4127-A7CF-212E4A9C0EDA}"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305862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BD607B-A8D4-4F27-B506-31336095EEA1}"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976CA2-9178-4127-A7CF-212E4A9C0EDA}"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632798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11200" y="381000"/>
            <a:ext cx="10769600" cy="1143000"/>
          </a:xfrm>
        </p:spPr>
        <p:txBody>
          <a:bodyPr/>
          <a:lstStyle/>
          <a:p>
            <a:r>
              <a:rPr lang="en-US"/>
              <a:t>Click to edit Master title style</a:t>
            </a:r>
          </a:p>
        </p:txBody>
      </p:sp>
      <p:sp>
        <p:nvSpPr>
          <p:cNvPr id="3" name="Text Placeholder 2"/>
          <p:cNvSpPr>
            <a:spLocks noGrp="1"/>
          </p:cNvSpPr>
          <p:nvPr>
            <p:ph type="body" sz="half" idx="1"/>
          </p:nvPr>
        </p:nvSpPr>
        <p:spPr>
          <a:xfrm>
            <a:off x="711200" y="1676400"/>
            <a:ext cx="5283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76400"/>
            <a:ext cx="5283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540C1B33-D439-464A-ED7A-A82D56467B8F}"/>
              </a:ext>
            </a:extLst>
          </p:cNvPr>
          <p:cNvSpPr>
            <a:spLocks noGrp="1" noChangeArrowheads="1"/>
          </p:cNvSpPr>
          <p:nvPr>
            <p:ph type="ftr" sz="quarter" idx="10"/>
          </p:nvPr>
        </p:nvSpPr>
        <p:spPr>
          <a:xfrm>
            <a:off x="711200" y="6324600"/>
            <a:ext cx="8432800" cy="381000"/>
          </a:xfrm>
        </p:spPr>
        <p:txBody>
          <a:bodyPr/>
          <a:lstStyle>
            <a:lvl1pPr>
              <a:defRPr/>
            </a:lvl1pPr>
          </a:lstStyle>
          <a:p>
            <a:pPr>
              <a:defRPr/>
            </a:pPr>
            <a:r>
              <a:rPr lang="en-US"/>
              <a:t>Secure Software Development: A Security Programmer’s Guide, First Edition</a:t>
            </a:r>
          </a:p>
        </p:txBody>
      </p:sp>
      <p:sp>
        <p:nvSpPr>
          <p:cNvPr id="6" name="Slide Number Placeholder 5">
            <a:extLst>
              <a:ext uri="{FF2B5EF4-FFF2-40B4-BE49-F238E27FC236}">
                <a16:creationId xmlns:a16="http://schemas.microsoft.com/office/drawing/2014/main" id="{8C1528D2-5314-6930-F7B1-C4B2459ECA6E}"/>
              </a:ext>
            </a:extLst>
          </p:cNvPr>
          <p:cNvSpPr>
            <a:spLocks noGrp="1" noChangeArrowheads="1"/>
          </p:cNvSpPr>
          <p:nvPr>
            <p:ph type="sldNum" sz="quarter" idx="11"/>
          </p:nvPr>
        </p:nvSpPr>
        <p:spPr/>
        <p:txBody>
          <a:bodyPr/>
          <a:lstStyle>
            <a:lvl1pPr>
              <a:defRPr/>
            </a:lvl1pPr>
          </a:lstStyle>
          <a:p>
            <a:pPr>
              <a:defRPr/>
            </a:pPr>
            <a:fld id="{57C69E43-3ABA-42CA-A63B-C5A801FA2B26}" type="slidenum">
              <a:rPr lang="en-US" altLang="en-US"/>
              <a:pPr>
                <a:defRPr/>
              </a:pPr>
              <a:t>‹#›</a:t>
            </a:fld>
            <a:endParaRPr lang="en-US" altLang="en-US"/>
          </a:p>
        </p:txBody>
      </p:sp>
    </p:spTree>
    <p:extLst>
      <p:ext uri="{BB962C8B-B14F-4D97-AF65-F5344CB8AC3E}">
        <p14:creationId xmlns:p14="http://schemas.microsoft.com/office/powerpoint/2010/main" val="42246386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0" name="Picture 9"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2BD607B-A8D4-4F27-B506-31336095EEA1}" type="datetimeFigureOut">
              <a:rPr lang="en-US" smtClean="0"/>
              <a:t>3/25/2026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3976CA2-9178-4127-A7CF-212E4A9C0EDA}" type="slidenum">
              <a:rPr lang="en-US" smtClean="0"/>
              <a:t>‹#›</a:t>
            </a:fld>
            <a:endParaRPr lang="en-US"/>
          </a:p>
        </p:txBody>
      </p:sp>
    </p:spTree>
    <p:extLst>
      <p:ext uri="{BB962C8B-B14F-4D97-AF65-F5344CB8AC3E}">
        <p14:creationId xmlns:p14="http://schemas.microsoft.com/office/powerpoint/2010/main" val="29966154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4.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87B70-2BFA-2EFD-3A55-B2DEEA414F2D}"/>
              </a:ext>
            </a:extLst>
          </p:cNvPr>
          <p:cNvSpPr>
            <a:spLocks noGrp="1"/>
          </p:cNvSpPr>
          <p:nvPr>
            <p:ph type="ctrTitle"/>
          </p:nvPr>
        </p:nvSpPr>
        <p:spPr/>
        <p:txBody>
          <a:bodyPr/>
          <a:lstStyle/>
          <a:p>
            <a:r>
              <a:rPr lang="en-US" altLang="en-US" sz="5400" dirty="0"/>
              <a:t>Secure Software Development Process</a:t>
            </a:r>
            <a:endParaRPr lang="en-US" dirty="0"/>
          </a:p>
        </p:txBody>
      </p:sp>
      <p:sp>
        <p:nvSpPr>
          <p:cNvPr id="3" name="Subtitle 2">
            <a:extLst>
              <a:ext uri="{FF2B5EF4-FFF2-40B4-BE49-F238E27FC236}">
                <a16:creationId xmlns:a16="http://schemas.microsoft.com/office/drawing/2014/main" id="{1481FE28-F62D-EC7D-61D4-CEF3FC9157E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804856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3C817-1EF5-7C40-8217-8446FA332853}"/>
              </a:ext>
            </a:extLst>
          </p:cNvPr>
          <p:cNvSpPr>
            <a:spLocks noGrp="1"/>
          </p:cNvSpPr>
          <p:nvPr>
            <p:ph type="title"/>
          </p:nvPr>
        </p:nvSpPr>
        <p:spPr/>
        <p:txBody>
          <a:bodyPr/>
          <a:lstStyle/>
          <a:p>
            <a:r>
              <a:rPr lang="en-US" dirty="0"/>
              <a:t>Software Development Lifecycle (SDLC)</a:t>
            </a:r>
          </a:p>
        </p:txBody>
      </p:sp>
      <p:sp>
        <p:nvSpPr>
          <p:cNvPr id="3" name="Content Placeholder 2">
            <a:extLst>
              <a:ext uri="{FF2B5EF4-FFF2-40B4-BE49-F238E27FC236}">
                <a16:creationId xmlns:a16="http://schemas.microsoft.com/office/drawing/2014/main" id="{AB2420DA-410F-16D7-321B-5186392FD91C}"/>
              </a:ext>
            </a:extLst>
          </p:cNvPr>
          <p:cNvSpPr>
            <a:spLocks noGrp="1"/>
          </p:cNvSpPr>
          <p:nvPr>
            <p:ph idx="1"/>
          </p:nvPr>
        </p:nvSpPr>
        <p:spPr/>
        <p:txBody>
          <a:bodyPr/>
          <a:lstStyle/>
          <a:p>
            <a:endParaRPr lang="en-US" dirty="0"/>
          </a:p>
        </p:txBody>
      </p:sp>
      <p:graphicFrame>
        <p:nvGraphicFramePr>
          <p:cNvPr id="4" name="Content Placeholder 3">
            <a:extLst>
              <a:ext uri="{FF2B5EF4-FFF2-40B4-BE49-F238E27FC236}">
                <a16:creationId xmlns:a16="http://schemas.microsoft.com/office/drawing/2014/main" id="{0010985D-09ED-D4F7-B3CA-57B59BFF5B0E}"/>
              </a:ext>
            </a:extLst>
          </p:cNvPr>
          <p:cNvGraphicFramePr>
            <a:graphicFrameLocks/>
          </p:cNvGraphicFramePr>
          <p:nvPr/>
        </p:nvGraphicFramePr>
        <p:xfrm>
          <a:off x="3735514" y="2556932"/>
          <a:ext cx="4903380" cy="36145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a:extLst>
              <a:ext uri="{FF2B5EF4-FFF2-40B4-BE49-F238E27FC236}">
                <a16:creationId xmlns:a16="http://schemas.microsoft.com/office/drawing/2014/main" id="{F4B98574-0F04-49C3-7FF2-5D4BAF20B5C5}"/>
              </a:ext>
            </a:extLst>
          </p:cNvPr>
          <p:cNvSpPr>
            <a:spLocks noGrp="1"/>
          </p:cNvSpPr>
          <p:nvPr>
            <p:ph type="ftr" sz="quarter" idx="11"/>
          </p:nvPr>
        </p:nvSpPr>
        <p:spPr/>
        <p:txBody>
          <a:bodyPr/>
          <a:lstStyle/>
          <a:p>
            <a:r>
              <a:rPr lang="en-US"/>
              <a:t>Prepared by Safaa Hriez</a:t>
            </a:r>
          </a:p>
        </p:txBody>
      </p:sp>
    </p:spTree>
    <p:extLst>
      <p:ext uri="{BB962C8B-B14F-4D97-AF65-F5344CB8AC3E}">
        <p14:creationId xmlns:p14="http://schemas.microsoft.com/office/powerpoint/2010/main" val="21949859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Slide Number Placeholder 4">
            <a:extLst>
              <a:ext uri="{FF2B5EF4-FFF2-40B4-BE49-F238E27FC236}">
                <a16:creationId xmlns:a16="http://schemas.microsoft.com/office/drawing/2014/main" id="{3AE13352-6B88-8026-70D8-9BBF06C04CFC}"/>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62CB65A-F045-4986-87AC-CBE6FD1DBE69}" type="slidenum">
              <a:rPr lang="en-US" altLang="en-US" sz="1400"/>
              <a:pPr>
                <a:spcBef>
                  <a:spcPct val="0"/>
                </a:spcBef>
                <a:buFontTx/>
                <a:buNone/>
              </a:pPr>
              <a:t>3</a:t>
            </a:fld>
            <a:endParaRPr lang="en-US" altLang="en-US" sz="1400"/>
          </a:p>
        </p:txBody>
      </p:sp>
      <p:sp>
        <p:nvSpPr>
          <p:cNvPr id="13316" name="Rectangle 2">
            <a:extLst>
              <a:ext uri="{FF2B5EF4-FFF2-40B4-BE49-F238E27FC236}">
                <a16:creationId xmlns:a16="http://schemas.microsoft.com/office/drawing/2014/main" id="{D3153C94-6B06-7D84-D5C9-DD2F82FA07DD}"/>
              </a:ext>
            </a:extLst>
          </p:cNvPr>
          <p:cNvSpPr>
            <a:spLocks noGrp="1" noChangeArrowheads="1"/>
          </p:cNvSpPr>
          <p:nvPr>
            <p:ph type="title"/>
          </p:nvPr>
        </p:nvSpPr>
        <p:spPr/>
        <p:txBody>
          <a:bodyPr/>
          <a:lstStyle/>
          <a:p>
            <a:pPr eaLnBrk="1" hangingPunct="1"/>
            <a:r>
              <a:rPr lang="en-US" altLang="en-US" sz="3200" dirty="0"/>
              <a:t>Secure Software Development Process (continued)</a:t>
            </a:r>
          </a:p>
        </p:txBody>
      </p:sp>
      <p:sp>
        <p:nvSpPr>
          <p:cNvPr id="13317" name="Rectangle 3">
            <a:extLst>
              <a:ext uri="{FF2B5EF4-FFF2-40B4-BE49-F238E27FC236}">
                <a16:creationId xmlns:a16="http://schemas.microsoft.com/office/drawing/2014/main" id="{CB292427-4C3E-9059-86EC-442F5675C65C}"/>
              </a:ext>
            </a:extLst>
          </p:cNvPr>
          <p:cNvSpPr>
            <a:spLocks noGrp="1" noChangeArrowheads="1"/>
          </p:cNvSpPr>
          <p:nvPr>
            <p:ph type="body" idx="1"/>
          </p:nvPr>
        </p:nvSpPr>
        <p:spPr/>
        <p:txBody>
          <a:bodyPr/>
          <a:lstStyle/>
          <a:p>
            <a:pPr eaLnBrk="1" hangingPunct="1"/>
            <a:r>
              <a:rPr lang="en-US" altLang="en-US"/>
              <a:t>A secure software development process includes three main ingredients:</a:t>
            </a:r>
          </a:p>
          <a:p>
            <a:pPr lvl="1" eaLnBrk="1" hangingPunct="1"/>
            <a:r>
              <a:rPr lang="en-US" altLang="en-US"/>
              <a:t>SDLC in the industry</a:t>
            </a:r>
          </a:p>
          <a:p>
            <a:pPr lvl="1" eaLnBrk="1" hangingPunct="1"/>
            <a:r>
              <a:rPr lang="en-US" altLang="en-US"/>
              <a:t>SDLC in the organization</a:t>
            </a:r>
          </a:p>
          <a:p>
            <a:pPr lvl="1" eaLnBrk="1" hangingPunct="1"/>
            <a:r>
              <a:rPr lang="en-US" altLang="en-US"/>
              <a:t>SDLC in the cube</a:t>
            </a:r>
          </a:p>
          <a:p>
            <a:pPr lvl="1" eaLnBrk="1" hangingPunct="1"/>
            <a:endParaRPr lang="en-US" altLang="en-US"/>
          </a:p>
          <a:p>
            <a:pPr eaLnBrk="1" hangingPunct="1"/>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Slide Number Placeholder 4">
            <a:extLst>
              <a:ext uri="{FF2B5EF4-FFF2-40B4-BE49-F238E27FC236}">
                <a16:creationId xmlns:a16="http://schemas.microsoft.com/office/drawing/2014/main" id="{0067E938-150E-69F4-BF69-A4ACCAEB469D}"/>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6A262DD-8BA2-4F7F-826F-7A2E151B41AA}" type="slidenum">
              <a:rPr lang="en-US" altLang="en-US" sz="1400"/>
              <a:pPr>
                <a:spcBef>
                  <a:spcPct val="0"/>
                </a:spcBef>
                <a:buFontTx/>
                <a:buNone/>
              </a:pPr>
              <a:t>4</a:t>
            </a:fld>
            <a:endParaRPr lang="en-US" altLang="en-US" sz="1400"/>
          </a:p>
        </p:txBody>
      </p:sp>
      <p:sp>
        <p:nvSpPr>
          <p:cNvPr id="19460" name="Rectangle 2">
            <a:extLst>
              <a:ext uri="{FF2B5EF4-FFF2-40B4-BE49-F238E27FC236}">
                <a16:creationId xmlns:a16="http://schemas.microsoft.com/office/drawing/2014/main" id="{F0187F6E-C54F-3FF8-E327-1224629F55E5}"/>
              </a:ext>
            </a:extLst>
          </p:cNvPr>
          <p:cNvSpPr>
            <a:spLocks noGrp="1" noChangeArrowheads="1"/>
          </p:cNvSpPr>
          <p:nvPr>
            <p:ph type="title"/>
          </p:nvPr>
        </p:nvSpPr>
        <p:spPr/>
        <p:txBody>
          <a:bodyPr/>
          <a:lstStyle/>
          <a:p>
            <a:pPr eaLnBrk="1" hangingPunct="1"/>
            <a:r>
              <a:rPr lang="en-US" altLang="en-US" sz="3200" dirty="0"/>
              <a:t>SDLC in the Industry</a:t>
            </a:r>
          </a:p>
        </p:txBody>
      </p:sp>
      <p:sp>
        <p:nvSpPr>
          <p:cNvPr id="19461" name="Rectangle 3">
            <a:extLst>
              <a:ext uri="{FF2B5EF4-FFF2-40B4-BE49-F238E27FC236}">
                <a16:creationId xmlns:a16="http://schemas.microsoft.com/office/drawing/2014/main" id="{05910C1C-B676-DE49-8FE3-D8973AFD2A40}"/>
              </a:ext>
            </a:extLst>
          </p:cNvPr>
          <p:cNvSpPr>
            <a:spLocks noGrp="1" noChangeArrowheads="1"/>
          </p:cNvSpPr>
          <p:nvPr>
            <p:ph type="body" idx="1"/>
          </p:nvPr>
        </p:nvSpPr>
        <p:spPr/>
        <p:txBody>
          <a:bodyPr>
            <a:normAutofit fontScale="47500" lnSpcReduction="20000"/>
          </a:bodyPr>
          <a:lstStyle/>
          <a:p>
            <a:pPr>
              <a:lnSpc>
                <a:spcPct val="90000"/>
              </a:lnSpc>
            </a:pPr>
            <a:r>
              <a:rPr lang="en-US" altLang="en-US" sz="2900" dirty="0"/>
              <a:t>Standard development life cycle—IEEE 12207</a:t>
            </a:r>
          </a:p>
          <a:p>
            <a:pPr lvl="1">
              <a:lnSpc>
                <a:spcPct val="90000"/>
              </a:lnSpc>
            </a:pPr>
            <a:r>
              <a:rPr lang="en-US" altLang="en-US" sz="2700" dirty="0"/>
              <a:t>The ISO/IEEE 12207 standard provides the industry with standard activities each software project </a:t>
            </a:r>
            <a:r>
              <a:rPr lang="en-US" altLang="en-US" sz="2700" i="1" dirty="0"/>
              <a:t>must </a:t>
            </a:r>
            <a:r>
              <a:rPr lang="en-US" altLang="en-US" sz="2700" dirty="0"/>
              <a:t>follow to be compliant</a:t>
            </a:r>
          </a:p>
          <a:p>
            <a:pPr lvl="1">
              <a:lnSpc>
                <a:spcPct val="90000"/>
              </a:lnSpc>
            </a:pPr>
            <a:r>
              <a:rPr lang="en-US" altLang="en-US" sz="2700" dirty="0"/>
              <a:t>The ISO/IEEE 12207 can be looked at as the standard of all standards</a:t>
            </a:r>
          </a:p>
          <a:p>
            <a:pPr lvl="2">
              <a:lnSpc>
                <a:spcPct val="90000"/>
              </a:lnSpc>
            </a:pPr>
            <a:r>
              <a:rPr lang="en-US" altLang="en-US" sz="2700" dirty="0">
                <a:solidFill>
                  <a:srgbClr val="00B050"/>
                </a:solidFill>
              </a:rPr>
              <a:t>System requirements analysis</a:t>
            </a:r>
          </a:p>
          <a:p>
            <a:pPr lvl="2">
              <a:lnSpc>
                <a:spcPct val="90000"/>
              </a:lnSpc>
            </a:pPr>
            <a:r>
              <a:rPr lang="en-US" altLang="en-US" sz="2700" dirty="0">
                <a:solidFill>
                  <a:srgbClr val="C00000"/>
                </a:solidFill>
              </a:rPr>
              <a:t>System design</a:t>
            </a:r>
          </a:p>
          <a:p>
            <a:pPr lvl="2">
              <a:lnSpc>
                <a:spcPct val="90000"/>
              </a:lnSpc>
            </a:pPr>
            <a:r>
              <a:rPr lang="en-US" altLang="en-US" sz="2700" dirty="0">
                <a:solidFill>
                  <a:srgbClr val="C00000"/>
                </a:solidFill>
              </a:rPr>
              <a:t>Software architectural design</a:t>
            </a:r>
          </a:p>
          <a:p>
            <a:pPr lvl="2">
              <a:lnSpc>
                <a:spcPct val="90000"/>
              </a:lnSpc>
            </a:pPr>
            <a:r>
              <a:rPr lang="en-US" altLang="en-US" sz="2700" dirty="0">
                <a:solidFill>
                  <a:srgbClr val="C00000"/>
                </a:solidFill>
              </a:rPr>
              <a:t>Software detailed design</a:t>
            </a:r>
          </a:p>
          <a:p>
            <a:pPr lvl="2">
              <a:lnSpc>
                <a:spcPct val="90000"/>
              </a:lnSpc>
            </a:pPr>
            <a:r>
              <a:rPr lang="en-US" altLang="en-US" sz="2700" dirty="0">
                <a:solidFill>
                  <a:schemeClr val="accent2"/>
                </a:solidFill>
              </a:rPr>
              <a:t>Software coding</a:t>
            </a:r>
          </a:p>
          <a:p>
            <a:pPr lvl="2">
              <a:lnSpc>
                <a:spcPct val="90000"/>
              </a:lnSpc>
            </a:pPr>
            <a:r>
              <a:rPr lang="en-US" altLang="en-US" sz="2700" dirty="0">
                <a:solidFill>
                  <a:srgbClr val="FFC000"/>
                </a:solidFill>
              </a:rPr>
              <a:t>Software testing</a:t>
            </a:r>
          </a:p>
          <a:p>
            <a:pPr lvl="2">
              <a:lnSpc>
                <a:spcPct val="90000"/>
              </a:lnSpc>
            </a:pPr>
            <a:r>
              <a:rPr lang="en-US" altLang="en-US" sz="2700" dirty="0">
                <a:solidFill>
                  <a:srgbClr val="18B2B6"/>
                </a:solidFill>
              </a:rPr>
              <a:t>Software installation</a:t>
            </a:r>
          </a:p>
          <a:p>
            <a:pPr lvl="2">
              <a:lnSpc>
                <a:spcPct val="90000"/>
              </a:lnSpc>
            </a:pPr>
            <a:r>
              <a:rPr lang="en-US" altLang="en-US" sz="2700" dirty="0">
                <a:solidFill>
                  <a:srgbClr val="18B2B6"/>
                </a:solidFill>
              </a:rPr>
              <a:t>Software acceptance</a:t>
            </a:r>
          </a:p>
          <a:p>
            <a:pPr lvl="2">
              <a:lnSpc>
                <a:spcPct val="90000"/>
              </a:lnSpc>
            </a:pPr>
            <a:r>
              <a:rPr lang="en-US" altLang="en-US" sz="2700" dirty="0">
                <a:solidFill>
                  <a:srgbClr val="7030A0"/>
                </a:solidFill>
              </a:rPr>
              <a:t>Software maintenance</a:t>
            </a:r>
          </a:p>
          <a:p>
            <a:pPr eaLnBrk="1" hangingPunct="1">
              <a:lnSpc>
                <a:spcPct val="90000"/>
              </a:lnSpc>
            </a:pPr>
            <a:endParaRPr lang="en-US" altLang="en-US" sz="2000" dirty="0"/>
          </a:p>
        </p:txBody>
      </p:sp>
      <p:sp>
        <p:nvSpPr>
          <p:cNvPr id="19462" name="TextBox 1">
            <a:extLst>
              <a:ext uri="{FF2B5EF4-FFF2-40B4-BE49-F238E27FC236}">
                <a16:creationId xmlns:a16="http://schemas.microsoft.com/office/drawing/2014/main" id="{2C36FE09-7BA8-D2B3-32F6-C10564DD6F77}"/>
              </a:ext>
            </a:extLst>
          </p:cNvPr>
          <p:cNvSpPr txBox="1">
            <a:spLocks noChangeArrowheads="1"/>
          </p:cNvSpPr>
          <p:nvPr/>
        </p:nvSpPr>
        <p:spPr bwMode="auto">
          <a:xfrm>
            <a:off x="5206429" y="3282806"/>
            <a:ext cx="4081409"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300" dirty="0">
                <a:solidFill>
                  <a:srgbClr val="00B050"/>
                </a:solidFill>
                <a:latin typeface="Times New Roman" panose="02020603050405020304" pitchFamily="18" charset="0"/>
                <a:sym typeface="Wingdings" panose="05000000000000000000" pitchFamily="2" charset="2"/>
              </a:rPr>
              <a:t> Define system requirements  </a:t>
            </a:r>
            <a:endParaRPr lang="en-US" altLang="en-US" sz="1300" dirty="0">
              <a:solidFill>
                <a:srgbClr val="00B050"/>
              </a:solidFill>
              <a:latin typeface="Times New Roman" panose="02020603050405020304" pitchFamily="18" charset="0"/>
            </a:endParaRPr>
          </a:p>
        </p:txBody>
      </p:sp>
      <p:sp>
        <p:nvSpPr>
          <p:cNvPr id="19463" name="TextBox 2">
            <a:extLst>
              <a:ext uri="{FF2B5EF4-FFF2-40B4-BE49-F238E27FC236}">
                <a16:creationId xmlns:a16="http://schemas.microsoft.com/office/drawing/2014/main" id="{3B3D3FC3-8013-C749-B511-2D235A7C081E}"/>
              </a:ext>
            </a:extLst>
          </p:cNvPr>
          <p:cNvSpPr txBox="1">
            <a:spLocks noChangeArrowheads="1"/>
          </p:cNvSpPr>
          <p:nvPr/>
        </p:nvSpPr>
        <p:spPr bwMode="auto">
          <a:xfrm>
            <a:off x="5206429" y="3727695"/>
            <a:ext cx="3200400"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300" dirty="0">
                <a:solidFill>
                  <a:srgbClr val="C00000"/>
                </a:solidFill>
                <a:latin typeface="Times New Roman" panose="02020603050405020304" pitchFamily="18" charset="0"/>
                <a:sym typeface="Wingdings" panose="05000000000000000000" pitchFamily="2" charset="2"/>
              </a:rPr>
              <a:t> System Design</a:t>
            </a:r>
            <a:endParaRPr lang="en-US" altLang="en-US" sz="1300" dirty="0">
              <a:solidFill>
                <a:srgbClr val="C00000"/>
              </a:solidFill>
              <a:latin typeface="Times New Roman" panose="02020603050405020304" pitchFamily="18" charset="0"/>
            </a:endParaRPr>
          </a:p>
        </p:txBody>
      </p:sp>
      <p:sp>
        <p:nvSpPr>
          <p:cNvPr id="19464" name="TextBox 5">
            <a:extLst>
              <a:ext uri="{FF2B5EF4-FFF2-40B4-BE49-F238E27FC236}">
                <a16:creationId xmlns:a16="http://schemas.microsoft.com/office/drawing/2014/main" id="{B7CA70A0-5689-73F7-CC7C-4982C74C4E0A}"/>
              </a:ext>
            </a:extLst>
          </p:cNvPr>
          <p:cNvSpPr txBox="1">
            <a:spLocks noChangeArrowheads="1"/>
          </p:cNvSpPr>
          <p:nvPr/>
        </p:nvSpPr>
        <p:spPr bwMode="auto">
          <a:xfrm>
            <a:off x="5206429" y="4172585"/>
            <a:ext cx="3200400"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300" dirty="0">
                <a:solidFill>
                  <a:schemeClr val="accent2"/>
                </a:solidFill>
                <a:latin typeface="Times New Roman" panose="02020603050405020304" pitchFamily="18" charset="0"/>
                <a:sym typeface="Wingdings" panose="05000000000000000000" pitchFamily="2" charset="2"/>
              </a:rPr>
              <a:t> System Development</a:t>
            </a:r>
            <a:endParaRPr lang="en-US" altLang="en-US" sz="1300" dirty="0">
              <a:solidFill>
                <a:schemeClr val="accent2"/>
              </a:solidFill>
              <a:latin typeface="Times New Roman" panose="02020603050405020304" pitchFamily="18" charset="0"/>
            </a:endParaRPr>
          </a:p>
        </p:txBody>
      </p:sp>
      <p:sp>
        <p:nvSpPr>
          <p:cNvPr id="19465" name="TextBox 6">
            <a:extLst>
              <a:ext uri="{FF2B5EF4-FFF2-40B4-BE49-F238E27FC236}">
                <a16:creationId xmlns:a16="http://schemas.microsoft.com/office/drawing/2014/main" id="{9A743585-7C92-31C3-A8C0-6CFD1C786824}"/>
              </a:ext>
            </a:extLst>
          </p:cNvPr>
          <p:cNvSpPr txBox="1">
            <a:spLocks noChangeArrowheads="1"/>
          </p:cNvSpPr>
          <p:nvPr/>
        </p:nvSpPr>
        <p:spPr bwMode="auto">
          <a:xfrm>
            <a:off x="5206429" y="4510853"/>
            <a:ext cx="3200400"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300" dirty="0">
                <a:solidFill>
                  <a:srgbClr val="FFC000"/>
                </a:solidFill>
                <a:latin typeface="Times New Roman" panose="02020603050405020304" pitchFamily="18" charset="0"/>
                <a:sym typeface="Wingdings" panose="05000000000000000000" pitchFamily="2" charset="2"/>
              </a:rPr>
              <a:t> System Testing</a:t>
            </a:r>
            <a:endParaRPr lang="en-US" altLang="en-US" sz="1300" dirty="0">
              <a:solidFill>
                <a:srgbClr val="FFC000"/>
              </a:solidFill>
              <a:latin typeface="Times New Roman" panose="02020603050405020304" pitchFamily="18" charset="0"/>
            </a:endParaRPr>
          </a:p>
        </p:txBody>
      </p:sp>
      <p:sp>
        <p:nvSpPr>
          <p:cNvPr id="19466" name="TextBox 7">
            <a:extLst>
              <a:ext uri="{FF2B5EF4-FFF2-40B4-BE49-F238E27FC236}">
                <a16:creationId xmlns:a16="http://schemas.microsoft.com/office/drawing/2014/main" id="{12F8DCBD-69A1-2CAB-3284-8705BBC36E5B}"/>
              </a:ext>
            </a:extLst>
          </p:cNvPr>
          <p:cNvSpPr txBox="1">
            <a:spLocks noChangeArrowheads="1"/>
          </p:cNvSpPr>
          <p:nvPr/>
        </p:nvSpPr>
        <p:spPr bwMode="auto">
          <a:xfrm>
            <a:off x="5206429" y="4844880"/>
            <a:ext cx="3200400"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300" dirty="0">
                <a:solidFill>
                  <a:srgbClr val="18B2B6"/>
                </a:solidFill>
                <a:latin typeface="Times New Roman" panose="02020603050405020304" pitchFamily="18" charset="0"/>
                <a:sym typeface="Wingdings" panose="05000000000000000000" pitchFamily="2" charset="2"/>
              </a:rPr>
              <a:t> System Deployment</a:t>
            </a:r>
            <a:endParaRPr lang="en-US" altLang="en-US" sz="1300" dirty="0">
              <a:solidFill>
                <a:srgbClr val="18B2B6"/>
              </a:solidFill>
              <a:latin typeface="Times New Roman" panose="02020603050405020304" pitchFamily="18" charset="0"/>
            </a:endParaRPr>
          </a:p>
        </p:txBody>
      </p:sp>
      <p:sp>
        <p:nvSpPr>
          <p:cNvPr id="2" name="TextBox 7">
            <a:extLst>
              <a:ext uri="{FF2B5EF4-FFF2-40B4-BE49-F238E27FC236}">
                <a16:creationId xmlns:a16="http://schemas.microsoft.com/office/drawing/2014/main" id="{C7A78845-4846-FBC9-49E2-1EE06F5920A0}"/>
              </a:ext>
            </a:extLst>
          </p:cNvPr>
          <p:cNvSpPr txBox="1">
            <a:spLocks noChangeArrowheads="1"/>
          </p:cNvSpPr>
          <p:nvPr/>
        </p:nvSpPr>
        <p:spPr bwMode="auto">
          <a:xfrm>
            <a:off x="5206429" y="5262007"/>
            <a:ext cx="3200400"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300" dirty="0">
                <a:solidFill>
                  <a:srgbClr val="7030A0"/>
                </a:solidFill>
                <a:latin typeface="Times New Roman" panose="02020603050405020304" pitchFamily="18" charset="0"/>
                <a:sym typeface="Wingdings" panose="05000000000000000000" pitchFamily="2" charset="2"/>
              </a:rPr>
              <a:t> System Maintenance </a:t>
            </a:r>
            <a:endParaRPr lang="en-US" altLang="en-US" sz="1300" dirty="0">
              <a:solidFill>
                <a:srgbClr val="7030A0"/>
              </a:solidFill>
              <a:latin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3CDA5-9F69-791C-6AC7-40647B59F816}"/>
              </a:ext>
            </a:extLst>
          </p:cNvPr>
          <p:cNvSpPr>
            <a:spLocks noGrp="1"/>
          </p:cNvSpPr>
          <p:nvPr>
            <p:ph type="title"/>
          </p:nvPr>
        </p:nvSpPr>
        <p:spPr/>
        <p:txBody>
          <a:bodyPr>
            <a:normAutofit/>
          </a:bodyPr>
          <a:lstStyle/>
          <a:p>
            <a:r>
              <a:rPr lang="en-US" dirty="0"/>
              <a:t>SDLC in the Organization</a:t>
            </a:r>
          </a:p>
        </p:txBody>
      </p:sp>
      <p:sp>
        <p:nvSpPr>
          <p:cNvPr id="3" name="Content Placeholder 2">
            <a:extLst>
              <a:ext uri="{FF2B5EF4-FFF2-40B4-BE49-F238E27FC236}">
                <a16:creationId xmlns:a16="http://schemas.microsoft.com/office/drawing/2014/main" id="{9950F334-53DD-A514-804A-E9CF75C1255E}"/>
              </a:ext>
            </a:extLst>
          </p:cNvPr>
          <p:cNvSpPr>
            <a:spLocks noGrp="1"/>
          </p:cNvSpPr>
          <p:nvPr>
            <p:ph idx="1"/>
          </p:nvPr>
        </p:nvSpPr>
        <p:spPr/>
        <p:txBody>
          <a:bodyPr/>
          <a:lstStyle/>
          <a:p>
            <a:r>
              <a:rPr lang="en-US" altLang="en-US" dirty="0"/>
              <a:t>A </a:t>
            </a:r>
            <a:r>
              <a:rPr lang="en-US" altLang="en-US" b="1" dirty="0"/>
              <a:t>software methodology </a:t>
            </a:r>
            <a:r>
              <a:rPr lang="en-US" altLang="en-US" dirty="0"/>
              <a:t>is a set of methods, procedures, and rules that can be repeatedly carried out to produce software</a:t>
            </a:r>
          </a:p>
          <a:p>
            <a:r>
              <a:rPr lang="en-US" dirty="0"/>
              <a:t>To list a few:</a:t>
            </a:r>
          </a:p>
          <a:p>
            <a:pPr lvl="1"/>
            <a:r>
              <a:rPr lang="en-US" altLang="en-US" dirty="0"/>
              <a:t>Waterfall</a:t>
            </a:r>
          </a:p>
          <a:p>
            <a:pPr lvl="1"/>
            <a:r>
              <a:rPr lang="en-US" altLang="en-US" dirty="0"/>
              <a:t>Iterative</a:t>
            </a:r>
          </a:p>
          <a:p>
            <a:pPr lvl="1"/>
            <a:r>
              <a:rPr lang="en-US" altLang="en-US" dirty="0"/>
              <a:t>Spiral</a:t>
            </a:r>
          </a:p>
          <a:p>
            <a:pPr lvl="1"/>
            <a:r>
              <a:rPr lang="en-US" altLang="en-US" dirty="0"/>
              <a:t>Agile</a:t>
            </a:r>
          </a:p>
          <a:p>
            <a:endParaRPr lang="en-US" dirty="0"/>
          </a:p>
        </p:txBody>
      </p:sp>
    </p:spTree>
    <p:extLst>
      <p:ext uri="{BB962C8B-B14F-4D97-AF65-F5344CB8AC3E}">
        <p14:creationId xmlns:p14="http://schemas.microsoft.com/office/powerpoint/2010/main" val="3914299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032606B-5908-26E0-0728-DA2FB1F67FE2}"/>
              </a:ext>
            </a:extLst>
          </p:cNvPr>
          <p:cNvSpPr>
            <a:spLocks noGrp="1"/>
          </p:cNvSpPr>
          <p:nvPr>
            <p:ph type="ftr" sz="quarter" idx="10"/>
          </p:nvPr>
        </p:nvSpPr>
        <p:spPr/>
        <p:txBody>
          <a:bodyPr/>
          <a:lstStyle/>
          <a:p>
            <a:pPr>
              <a:defRPr/>
            </a:pPr>
            <a:r>
              <a:rPr lang="en-US"/>
              <a:t>Secure Software Development: A Security Programmer’s Guide, First Edition</a:t>
            </a:r>
          </a:p>
        </p:txBody>
      </p:sp>
      <p:sp>
        <p:nvSpPr>
          <p:cNvPr id="27651" name="Slide Number Placeholder 5">
            <a:extLst>
              <a:ext uri="{FF2B5EF4-FFF2-40B4-BE49-F238E27FC236}">
                <a16:creationId xmlns:a16="http://schemas.microsoft.com/office/drawing/2014/main" id="{26025C61-4FC7-6927-F565-BFDDB640203C}"/>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7231F49-DF03-43E3-8D19-BAF8B484158A}" type="slidenum">
              <a:rPr lang="en-US" altLang="en-US" sz="1400"/>
              <a:pPr>
                <a:spcBef>
                  <a:spcPct val="0"/>
                </a:spcBef>
                <a:buFontTx/>
                <a:buNone/>
              </a:pPr>
              <a:t>6</a:t>
            </a:fld>
            <a:endParaRPr lang="en-US" altLang="en-US" sz="1400"/>
          </a:p>
        </p:txBody>
      </p:sp>
      <p:sp>
        <p:nvSpPr>
          <p:cNvPr id="27652" name="Rectangle 2">
            <a:extLst>
              <a:ext uri="{FF2B5EF4-FFF2-40B4-BE49-F238E27FC236}">
                <a16:creationId xmlns:a16="http://schemas.microsoft.com/office/drawing/2014/main" id="{33B64B9D-715F-084B-B096-8AD06C7DDDC5}"/>
              </a:ext>
            </a:extLst>
          </p:cNvPr>
          <p:cNvSpPr>
            <a:spLocks noGrp="1" noChangeArrowheads="1"/>
          </p:cNvSpPr>
          <p:nvPr>
            <p:ph type="title"/>
          </p:nvPr>
        </p:nvSpPr>
        <p:spPr/>
        <p:txBody>
          <a:bodyPr/>
          <a:lstStyle/>
          <a:p>
            <a:pPr eaLnBrk="1" hangingPunct="1"/>
            <a:r>
              <a:rPr lang="en-US" altLang="en-US" sz="3200" dirty="0"/>
              <a:t>SDLC in the Organization (continued)</a:t>
            </a:r>
          </a:p>
        </p:txBody>
      </p:sp>
      <p:sp>
        <p:nvSpPr>
          <p:cNvPr id="27653" name="Rectangle 3">
            <a:extLst>
              <a:ext uri="{FF2B5EF4-FFF2-40B4-BE49-F238E27FC236}">
                <a16:creationId xmlns:a16="http://schemas.microsoft.com/office/drawing/2014/main" id="{A63F2DEC-ED7D-212B-5207-DFE1105D867B}"/>
              </a:ext>
            </a:extLst>
          </p:cNvPr>
          <p:cNvSpPr>
            <a:spLocks noGrp="1" noChangeArrowheads="1"/>
          </p:cNvSpPr>
          <p:nvPr>
            <p:ph type="body" sz="half" idx="1"/>
          </p:nvPr>
        </p:nvSpPr>
        <p:spPr>
          <a:xfrm>
            <a:off x="1027416" y="1676399"/>
            <a:ext cx="4763784" cy="3594243"/>
          </a:xfrm>
        </p:spPr>
        <p:txBody>
          <a:bodyPr>
            <a:normAutofit fontScale="92500" lnSpcReduction="20000"/>
          </a:bodyPr>
          <a:lstStyle/>
          <a:p>
            <a:pPr lvl="1" eaLnBrk="1" hangingPunct="1"/>
            <a:r>
              <a:rPr lang="en-US" altLang="en-US" dirty="0"/>
              <a:t>Waterfall</a:t>
            </a:r>
          </a:p>
          <a:p>
            <a:pPr lvl="2">
              <a:buFont typeface="Garamond" panose="02020404030301010803" pitchFamily="18" charset="0"/>
              <a:buChar char="+"/>
            </a:pPr>
            <a:r>
              <a:rPr lang="en-US" altLang="en-US" dirty="0"/>
              <a:t>It is best suited when the size and scope of the project is small and generally well understood by all team members on the development team.</a:t>
            </a:r>
          </a:p>
          <a:p>
            <a:pPr lvl="2">
              <a:buFont typeface="Garamond" panose="02020404030301010803" pitchFamily="18" charset="0"/>
              <a:buChar char="­"/>
            </a:pPr>
            <a:r>
              <a:rPr lang="en-US" altLang="en-US" dirty="0"/>
              <a:t>This methodology is too restrictive and forces the developers to complete each phase before moving on</a:t>
            </a:r>
          </a:p>
          <a:p>
            <a:pPr lvl="2">
              <a:buFont typeface="Garamond" panose="02020404030301010803" pitchFamily="18" charset="0"/>
              <a:buChar char="­"/>
            </a:pPr>
            <a:r>
              <a:rPr lang="en-US" altLang="en-US" dirty="0"/>
              <a:t>It is also very rare that the users know exactly what they want</a:t>
            </a:r>
          </a:p>
          <a:p>
            <a:pPr lvl="2">
              <a:buFont typeface="Garamond" panose="02020404030301010803" pitchFamily="18" charset="0"/>
              <a:buChar char="­"/>
            </a:pPr>
            <a:r>
              <a:rPr lang="en-US" altLang="en-US" dirty="0"/>
              <a:t>Poor communication and false assumptions are prevalent in this approach</a:t>
            </a:r>
          </a:p>
          <a:p>
            <a:pPr lvl="2"/>
            <a:endParaRPr lang="en-US" altLang="en-US" dirty="0"/>
          </a:p>
          <a:p>
            <a:pPr lvl="1" eaLnBrk="1" hangingPunct="1"/>
            <a:endParaRPr lang="en-US" altLang="en-US" dirty="0"/>
          </a:p>
          <a:p>
            <a:pPr lvl="2" eaLnBrk="1" hangingPunct="1"/>
            <a:endParaRPr lang="en-US" altLang="en-US" dirty="0"/>
          </a:p>
          <a:p>
            <a:pPr eaLnBrk="1" hangingPunct="1"/>
            <a:endParaRPr lang="en-US" altLang="en-US" sz="2200" dirty="0"/>
          </a:p>
        </p:txBody>
      </p:sp>
      <p:pic>
        <p:nvPicPr>
          <p:cNvPr id="27654" name="Picture 7" descr="Fig02-02">
            <a:extLst>
              <a:ext uri="{FF2B5EF4-FFF2-40B4-BE49-F238E27FC236}">
                <a16:creationId xmlns:a16="http://schemas.microsoft.com/office/drawing/2014/main" id="{ED11AD93-60D8-8EE8-834A-46816175BE3D}"/>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281739" y="1676400"/>
            <a:ext cx="3743325" cy="4572000"/>
          </a:xfr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D396347-FC02-115B-5BA2-0126C598AC2F}"/>
              </a:ext>
            </a:extLst>
          </p:cNvPr>
          <p:cNvSpPr>
            <a:spLocks noGrp="1"/>
          </p:cNvSpPr>
          <p:nvPr>
            <p:ph type="ftr" sz="quarter" idx="10"/>
          </p:nvPr>
        </p:nvSpPr>
        <p:spPr/>
        <p:txBody>
          <a:bodyPr/>
          <a:lstStyle/>
          <a:p>
            <a:pPr>
              <a:defRPr/>
            </a:pPr>
            <a:r>
              <a:rPr lang="en-US"/>
              <a:t>Secure Software Development: A Security Programmer’s Guide, First Edition</a:t>
            </a:r>
          </a:p>
        </p:txBody>
      </p:sp>
      <p:sp>
        <p:nvSpPr>
          <p:cNvPr id="33795" name="Slide Number Placeholder 5">
            <a:extLst>
              <a:ext uri="{FF2B5EF4-FFF2-40B4-BE49-F238E27FC236}">
                <a16:creationId xmlns:a16="http://schemas.microsoft.com/office/drawing/2014/main" id="{27F2AEC3-8CC5-4925-B6BA-4E1510855F1F}"/>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CD6D047-4537-485C-818C-143F13D577F0}" type="slidenum">
              <a:rPr lang="en-US" altLang="en-US" sz="1400"/>
              <a:pPr>
                <a:spcBef>
                  <a:spcPct val="0"/>
                </a:spcBef>
                <a:buFontTx/>
                <a:buNone/>
              </a:pPr>
              <a:t>7</a:t>
            </a:fld>
            <a:endParaRPr lang="en-US" altLang="en-US" sz="1400"/>
          </a:p>
        </p:txBody>
      </p:sp>
      <p:sp>
        <p:nvSpPr>
          <p:cNvPr id="33796" name="Rectangle 2">
            <a:extLst>
              <a:ext uri="{FF2B5EF4-FFF2-40B4-BE49-F238E27FC236}">
                <a16:creationId xmlns:a16="http://schemas.microsoft.com/office/drawing/2014/main" id="{F79867D8-F16D-69A1-5413-5C1832C631FC}"/>
              </a:ext>
            </a:extLst>
          </p:cNvPr>
          <p:cNvSpPr>
            <a:spLocks noGrp="1" noChangeArrowheads="1"/>
          </p:cNvSpPr>
          <p:nvPr>
            <p:ph type="title"/>
          </p:nvPr>
        </p:nvSpPr>
        <p:spPr/>
        <p:txBody>
          <a:bodyPr/>
          <a:lstStyle/>
          <a:p>
            <a:pPr eaLnBrk="1" hangingPunct="1"/>
            <a:r>
              <a:rPr lang="en-US" altLang="en-US" sz="3200" dirty="0"/>
              <a:t>SDLC in the Organization (continued)</a:t>
            </a:r>
          </a:p>
        </p:txBody>
      </p:sp>
      <p:sp>
        <p:nvSpPr>
          <p:cNvPr id="33797" name="Rectangle 3">
            <a:extLst>
              <a:ext uri="{FF2B5EF4-FFF2-40B4-BE49-F238E27FC236}">
                <a16:creationId xmlns:a16="http://schemas.microsoft.com/office/drawing/2014/main" id="{FFF4BA0B-5783-44AF-7652-5153AA277985}"/>
              </a:ext>
            </a:extLst>
          </p:cNvPr>
          <p:cNvSpPr>
            <a:spLocks noGrp="1" noChangeArrowheads="1"/>
          </p:cNvSpPr>
          <p:nvPr>
            <p:ph type="body" sz="half" idx="1"/>
          </p:nvPr>
        </p:nvSpPr>
        <p:spPr/>
        <p:txBody>
          <a:bodyPr>
            <a:normAutofit fontScale="92500"/>
          </a:bodyPr>
          <a:lstStyle/>
          <a:p>
            <a:pPr lvl="1" eaLnBrk="1" hangingPunct="1"/>
            <a:r>
              <a:rPr lang="en-US" altLang="en-US" dirty="0"/>
              <a:t>Iterative</a:t>
            </a:r>
          </a:p>
          <a:p>
            <a:pPr lvl="2">
              <a:buFont typeface="Garamond" panose="02020404030301010803" pitchFamily="18" charset="0"/>
              <a:buChar char="+"/>
            </a:pPr>
            <a:r>
              <a:rPr lang="en-US" altLang="en-US" dirty="0"/>
              <a:t>Great for moderate to large applications with varying degrees of complexity</a:t>
            </a:r>
          </a:p>
          <a:p>
            <a:pPr lvl="2">
              <a:buFont typeface="Garamond" panose="02020404030301010803" pitchFamily="18" charset="0"/>
              <a:buChar char="­"/>
            </a:pPr>
            <a:r>
              <a:rPr lang="en-US" altLang="en-US" sz="2200" dirty="0"/>
              <a:t>The iterative process tends to be too constrictive for teams that have been working together closely for years</a:t>
            </a:r>
          </a:p>
          <a:p>
            <a:pPr lvl="2">
              <a:buFont typeface="Garamond" panose="02020404030301010803" pitchFamily="18" charset="0"/>
              <a:buChar char="­"/>
            </a:pPr>
            <a:r>
              <a:rPr lang="en-US" altLang="en-US" sz="2200" dirty="0"/>
              <a:t>Because the iterative process really concentrates on one feature at a time, some mature teams do not like the pace</a:t>
            </a:r>
          </a:p>
          <a:p>
            <a:pPr lvl="2">
              <a:buFont typeface="Garamond" panose="02020404030301010803" pitchFamily="18" charset="0"/>
              <a:buChar char="­"/>
            </a:pPr>
            <a:r>
              <a:rPr lang="en-US" altLang="en-US" sz="2200" dirty="0"/>
              <a:t>End users and customers cannot afford to spend the amount of time needed to test each new feature as it’s launched</a:t>
            </a:r>
          </a:p>
          <a:p>
            <a:pPr lvl="1" eaLnBrk="1" hangingPunct="1"/>
            <a:endParaRPr lang="en-US" altLang="en-US" dirty="0"/>
          </a:p>
          <a:p>
            <a:pPr lvl="2" eaLnBrk="1" hangingPunct="1"/>
            <a:endParaRPr lang="en-US" altLang="en-US" dirty="0"/>
          </a:p>
        </p:txBody>
      </p:sp>
      <p:pic>
        <p:nvPicPr>
          <p:cNvPr id="33798" name="Picture 4" descr="Fig02-03">
            <a:extLst>
              <a:ext uri="{FF2B5EF4-FFF2-40B4-BE49-F238E27FC236}">
                <a16:creationId xmlns:a16="http://schemas.microsoft.com/office/drawing/2014/main" id="{360589ED-068C-32C0-6884-1008727FF79A}"/>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643955" y="1638300"/>
            <a:ext cx="3632200" cy="4572000"/>
          </a:xfr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469C84-FCD8-F146-9E78-BB600FDDC1C6}"/>
              </a:ext>
            </a:extLst>
          </p:cNvPr>
          <p:cNvSpPr>
            <a:spLocks noGrp="1"/>
          </p:cNvSpPr>
          <p:nvPr>
            <p:ph type="ftr" sz="quarter" idx="10"/>
          </p:nvPr>
        </p:nvSpPr>
        <p:spPr/>
        <p:txBody>
          <a:bodyPr/>
          <a:lstStyle/>
          <a:p>
            <a:pPr>
              <a:defRPr/>
            </a:pPr>
            <a:r>
              <a:rPr lang="en-US"/>
              <a:t>Secure Software Development: A Security Programmer’s Guide, First Edition</a:t>
            </a:r>
          </a:p>
        </p:txBody>
      </p:sp>
      <p:sp>
        <p:nvSpPr>
          <p:cNvPr id="39939" name="Slide Number Placeholder 5">
            <a:extLst>
              <a:ext uri="{FF2B5EF4-FFF2-40B4-BE49-F238E27FC236}">
                <a16:creationId xmlns:a16="http://schemas.microsoft.com/office/drawing/2014/main" id="{8EDFEE34-F140-2B17-A4E5-1FBC3C8B3445}"/>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3DCF0C1-3562-4F8F-8484-6DB5915AA2A9}" type="slidenum">
              <a:rPr lang="en-US" altLang="en-US" sz="1400"/>
              <a:pPr>
                <a:spcBef>
                  <a:spcPct val="0"/>
                </a:spcBef>
                <a:buFontTx/>
                <a:buNone/>
              </a:pPr>
              <a:t>8</a:t>
            </a:fld>
            <a:endParaRPr lang="en-US" altLang="en-US" sz="1400"/>
          </a:p>
        </p:txBody>
      </p:sp>
      <p:sp>
        <p:nvSpPr>
          <p:cNvPr id="39940" name="Rectangle 2">
            <a:extLst>
              <a:ext uri="{FF2B5EF4-FFF2-40B4-BE49-F238E27FC236}">
                <a16:creationId xmlns:a16="http://schemas.microsoft.com/office/drawing/2014/main" id="{964A5607-D5D5-B0A3-7689-DD3020817C44}"/>
              </a:ext>
            </a:extLst>
          </p:cNvPr>
          <p:cNvSpPr>
            <a:spLocks noGrp="1" noChangeArrowheads="1"/>
          </p:cNvSpPr>
          <p:nvPr>
            <p:ph type="title"/>
          </p:nvPr>
        </p:nvSpPr>
        <p:spPr/>
        <p:txBody>
          <a:bodyPr/>
          <a:lstStyle/>
          <a:p>
            <a:pPr eaLnBrk="1" hangingPunct="1"/>
            <a:r>
              <a:rPr lang="en-US" altLang="en-US" sz="3200" dirty="0"/>
              <a:t>SDLC in the Organization (continued)</a:t>
            </a:r>
          </a:p>
        </p:txBody>
      </p:sp>
      <p:sp>
        <p:nvSpPr>
          <p:cNvPr id="39941" name="Rectangle 3">
            <a:extLst>
              <a:ext uri="{FF2B5EF4-FFF2-40B4-BE49-F238E27FC236}">
                <a16:creationId xmlns:a16="http://schemas.microsoft.com/office/drawing/2014/main" id="{02E9B9A2-DED0-93F8-EDA1-B1F5E46D6507}"/>
              </a:ext>
            </a:extLst>
          </p:cNvPr>
          <p:cNvSpPr>
            <a:spLocks noGrp="1" noChangeArrowheads="1"/>
          </p:cNvSpPr>
          <p:nvPr>
            <p:ph type="body" sz="half" idx="1"/>
          </p:nvPr>
        </p:nvSpPr>
        <p:spPr>
          <a:xfrm>
            <a:off x="1050533" y="1676400"/>
            <a:ext cx="7924800" cy="4572000"/>
          </a:xfrm>
        </p:spPr>
        <p:txBody>
          <a:bodyPr/>
          <a:lstStyle/>
          <a:p>
            <a:pPr lvl="1" eaLnBrk="1" hangingPunct="1"/>
            <a:r>
              <a:rPr lang="en-US" altLang="en-US" dirty="0"/>
              <a:t>Spiral</a:t>
            </a:r>
          </a:p>
          <a:p>
            <a:pPr lvl="2">
              <a:buFont typeface="Garamond" panose="02020404030301010803" pitchFamily="18" charset="0"/>
              <a:buChar char="+"/>
            </a:pPr>
            <a:r>
              <a:rPr lang="en-US" altLang="en-US" dirty="0"/>
              <a:t>This spiral process allows developers and</a:t>
            </a:r>
          </a:p>
          <a:p>
            <a:pPr marL="914400" lvl="2" indent="0">
              <a:buNone/>
            </a:pPr>
            <a:r>
              <a:rPr lang="en-US" altLang="en-US" dirty="0"/>
              <a:t>      users to analyze each requirement and </a:t>
            </a:r>
          </a:p>
          <a:p>
            <a:pPr marL="914400" lvl="2" indent="0">
              <a:buNone/>
            </a:pPr>
            <a:r>
              <a:rPr lang="en-US" altLang="en-US" dirty="0"/>
              <a:t>      apply appropriate </a:t>
            </a:r>
            <a:r>
              <a:rPr lang="en-US" altLang="en-US" i="1" dirty="0"/>
              <a:t>what-if </a:t>
            </a:r>
            <a:r>
              <a:rPr lang="en-US" altLang="en-US" dirty="0"/>
              <a:t>questions</a:t>
            </a:r>
          </a:p>
          <a:p>
            <a:pPr lvl="2">
              <a:buFont typeface="Garamond" panose="02020404030301010803" pitchFamily="18" charset="0"/>
              <a:buChar char="­"/>
            </a:pPr>
            <a:r>
              <a:rPr lang="en-US" altLang="en-US" sz="2200" dirty="0"/>
              <a:t>It takes a lot of development time </a:t>
            </a:r>
          </a:p>
          <a:p>
            <a:pPr marL="914400" lvl="2" indent="0">
              <a:buNone/>
            </a:pPr>
            <a:r>
              <a:rPr lang="en-US" altLang="en-US" sz="2200" dirty="0"/>
              <a:t>    to produce and analyze prototypes</a:t>
            </a:r>
          </a:p>
          <a:p>
            <a:pPr lvl="2">
              <a:buFont typeface="Garamond" panose="02020404030301010803" pitchFamily="18" charset="0"/>
              <a:buChar char="­"/>
            </a:pPr>
            <a:r>
              <a:rPr lang="en-US" altLang="en-US" sz="2200" dirty="0"/>
              <a:t>End users and customers cannot afford </a:t>
            </a:r>
          </a:p>
          <a:p>
            <a:pPr marL="914400" lvl="2" indent="0">
              <a:buNone/>
            </a:pPr>
            <a:r>
              <a:rPr lang="en-US" altLang="en-US" sz="2200" dirty="0"/>
              <a:t>    to spend the amount of time needed </a:t>
            </a:r>
          </a:p>
          <a:p>
            <a:pPr marL="914400" lvl="2" indent="0">
              <a:buNone/>
            </a:pPr>
            <a:r>
              <a:rPr lang="en-US" altLang="en-US" sz="2200" dirty="0"/>
              <a:t>     to test each new feature as it’s launched</a:t>
            </a:r>
          </a:p>
          <a:p>
            <a:pPr lvl="1" eaLnBrk="1" hangingPunct="1"/>
            <a:endParaRPr lang="en-US" altLang="en-US" dirty="0"/>
          </a:p>
          <a:p>
            <a:pPr lvl="2" eaLnBrk="1" hangingPunct="1"/>
            <a:endParaRPr lang="en-US" altLang="en-US" dirty="0"/>
          </a:p>
        </p:txBody>
      </p:sp>
      <p:pic>
        <p:nvPicPr>
          <p:cNvPr id="39942" name="Picture 4" descr="Fig02-04">
            <a:extLst>
              <a:ext uri="{FF2B5EF4-FFF2-40B4-BE49-F238E27FC236}">
                <a16:creationId xmlns:a16="http://schemas.microsoft.com/office/drawing/2014/main" id="{36D1E0B4-818C-9DC3-D848-523EAA64B27A}"/>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939188" y="1397000"/>
            <a:ext cx="3414713" cy="4572000"/>
          </a:xfr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BDEE40C5-A2C3-28DD-B3DF-38870970DFB1}"/>
              </a:ext>
            </a:extLst>
          </p:cNvPr>
          <p:cNvSpPr>
            <a:spLocks noGrp="1"/>
          </p:cNvSpPr>
          <p:nvPr>
            <p:ph type="ftr" sz="quarter" idx="10"/>
          </p:nvPr>
        </p:nvSpPr>
        <p:spPr/>
        <p:txBody>
          <a:bodyPr/>
          <a:lstStyle/>
          <a:p>
            <a:pPr>
              <a:defRPr/>
            </a:pPr>
            <a:r>
              <a:rPr lang="en-US"/>
              <a:t>Secure Software Development: A Security Programmer’s Guide, First Edition</a:t>
            </a:r>
          </a:p>
        </p:txBody>
      </p:sp>
      <p:sp>
        <p:nvSpPr>
          <p:cNvPr id="46083" name="Slide Number Placeholder 5">
            <a:extLst>
              <a:ext uri="{FF2B5EF4-FFF2-40B4-BE49-F238E27FC236}">
                <a16:creationId xmlns:a16="http://schemas.microsoft.com/office/drawing/2014/main" id="{DB7A2377-0E83-9A9C-1F5C-FF1E9C408A73}"/>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5B38A93-3C00-422D-B3E4-6B70EEABAB2B}" type="slidenum">
              <a:rPr lang="en-US" altLang="en-US" sz="1400"/>
              <a:pPr>
                <a:spcBef>
                  <a:spcPct val="0"/>
                </a:spcBef>
                <a:buFontTx/>
                <a:buNone/>
              </a:pPr>
              <a:t>9</a:t>
            </a:fld>
            <a:endParaRPr lang="en-US" altLang="en-US" sz="1400"/>
          </a:p>
        </p:txBody>
      </p:sp>
      <p:sp>
        <p:nvSpPr>
          <p:cNvPr id="46084" name="Rectangle 2">
            <a:extLst>
              <a:ext uri="{FF2B5EF4-FFF2-40B4-BE49-F238E27FC236}">
                <a16:creationId xmlns:a16="http://schemas.microsoft.com/office/drawing/2014/main" id="{43DCCDFB-779B-CF5F-03EB-0B039C85C19C}"/>
              </a:ext>
            </a:extLst>
          </p:cNvPr>
          <p:cNvSpPr>
            <a:spLocks noGrp="1" noChangeArrowheads="1"/>
          </p:cNvSpPr>
          <p:nvPr>
            <p:ph type="title"/>
          </p:nvPr>
        </p:nvSpPr>
        <p:spPr/>
        <p:txBody>
          <a:bodyPr/>
          <a:lstStyle/>
          <a:p>
            <a:pPr eaLnBrk="1" hangingPunct="1"/>
            <a:r>
              <a:rPr lang="en-US" altLang="en-US" sz="3200" dirty="0"/>
              <a:t>SDLC in the Organization (continued)</a:t>
            </a:r>
          </a:p>
        </p:txBody>
      </p:sp>
      <p:sp>
        <p:nvSpPr>
          <p:cNvPr id="46085" name="Rectangle 3">
            <a:extLst>
              <a:ext uri="{FF2B5EF4-FFF2-40B4-BE49-F238E27FC236}">
                <a16:creationId xmlns:a16="http://schemas.microsoft.com/office/drawing/2014/main" id="{4436FA65-DA23-C7D9-EF3C-575F62299313}"/>
              </a:ext>
            </a:extLst>
          </p:cNvPr>
          <p:cNvSpPr>
            <a:spLocks noGrp="1" noChangeArrowheads="1"/>
          </p:cNvSpPr>
          <p:nvPr>
            <p:ph type="body" sz="half" idx="1"/>
          </p:nvPr>
        </p:nvSpPr>
        <p:spPr>
          <a:xfrm>
            <a:off x="793679" y="1638300"/>
            <a:ext cx="7924800" cy="4572000"/>
          </a:xfrm>
        </p:spPr>
        <p:txBody>
          <a:bodyPr/>
          <a:lstStyle/>
          <a:p>
            <a:pPr lvl="1" eaLnBrk="1" hangingPunct="1"/>
            <a:r>
              <a:rPr lang="en-US" altLang="en-US" dirty="0"/>
              <a:t>Advanced Methodologies</a:t>
            </a:r>
          </a:p>
          <a:p>
            <a:pPr lvl="2" eaLnBrk="1" hangingPunct="1"/>
            <a:r>
              <a:rPr lang="en-US" altLang="en-US" dirty="0"/>
              <a:t>Agile development</a:t>
            </a:r>
          </a:p>
          <a:p>
            <a:pPr lvl="3"/>
            <a:r>
              <a:rPr lang="en-US" altLang="en-US" dirty="0"/>
              <a:t>is a project management framework that breaks projects down into several dynamic phases, commonly known as sprints.</a:t>
            </a:r>
          </a:p>
          <a:p>
            <a:pPr lvl="2" eaLnBrk="1" hangingPunct="1"/>
            <a:endParaRPr lang="en-US" altLang="en-US" dirty="0"/>
          </a:p>
          <a:p>
            <a:pPr lvl="2" eaLnBrk="1" hangingPunct="1">
              <a:buFontTx/>
              <a:buNone/>
            </a:pPr>
            <a:endParaRPr lang="en-US" altLang="en-US" dirty="0"/>
          </a:p>
        </p:txBody>
      </p:sp>
      <p:pic>
        <p:nvPicPr>
          <p:cNvPr id="46086" name="Picture 2" descr="Logo&#10;&#10;Description automatically generated with medium confidence">
            <a:extLst>
              <a:ext uri="{FF2B5EF4-FFF2-40B4-BE49-F238E27FC236}">
                <a16:creationId xmlns:a16="http://schemas.microsoft.com/office/drawing/2014/main" id="{72ECDE3D-B9C0-7307-C48C-9744B9F6DE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4770" y="3195327"/>
            <a:ext cx="4522460" cy="3014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CEA6E-2410-5D19-44DF-B41374340F9D}"/>
              </a:ext>
            </a:extLst>
          </p:cNvPr>
          <p:cNvSpPr>
            <a:spLocks noGrp="1"/>
          </p:cNvSpPr>
          <p:nvPr>
            <p:ph type="title"/>
          </p:nvPr>
        </p:nvSpPr>
        <p:spPr/>
        <p:txBody>
          <a:bodyPr/>
          <a:lstStyle/>
          <a:p>
            <a:r>
              <a:rPr lang="en-US" dirty="0"/>
              <a:t>SDLC in the Cube</a:t>
            </a:r>
          </a:p>
        </p:txBody>
      </p:sp>
      <p:sp>
        <p:nvSpPr>
          <p:cNvPr id="3" name="Content Placeholder 2">
            <a:extLst>
              <a:ext uri="{FF2B5EF4-FFF2-40B4-BE49-F238E27FC236}">
                <a16:creationId xmlns:a16="http://schemas.microsoft.com/office/drawing/2014/main" id="{6503962C-C872-39C4-2167-62F1BE2A0455}"/>
              </a:ext>
            </a:extLst>
          </p:cNvPr>
          <p:cNvSpPr>
            <a:spLocks noGrp="1"/>
          </p:cNvSpPr>
          <p:nvPr>
            <p:ph idx="1"/>
          </p:nvPr>
        </p:nvSpPr>
        <p:spPr/>
        <p:txBody>
          <a:bodyPr/>
          <a:lstStyle/>
          <a:p>
            <a:r>
              <a:rPr lang="en-US" altLang="en-US" sz="2400" dirty="0"/>
              <a:t>Define the roles and responsibilities for the team</a:t>
            </a:r>
          </a:p>
          <a:p>
            <a:r>
              <a:rPr lang="en-US" altLang="en-US" sz="2400" dirty="0"/>
              <a:t>Communicating effectively</a:t>
            </a:r>
          </a:p>
          <a:p>
            <a:r>
              <a:rPr lang="en-US" altLang="en-US" sz="2400" dirty="0"/>
              <a:t>Encouraging discussions</a:t>
            </a:r>
          </a:p>
          <a:p>
            <a:endParaRPr lang="en-US" altLang="en-US" sz="2400" dirty="0"/>
          </a:p>
          <a:p>
            <a:endParaRPr lang="en-US" dirty="0"/>
          </a:p>
        </p:txBody>
      </p:sp>
    </p:spTree>
    <p:extLst>
      <p:ext uri="{BB962C8B-B14F-4D97-AF65-F5344CB8AC3E}">
        <p14:creationId xmlns:p14="http://schemas.microsoft.com/office/powerpoint/2010/main" val="31845614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4763127E-124B-9DE6-9EFC-1E839230D516}"/>
              </a:ext>
            </a:extLst>
          </p:cNvPr>
          <p:cNvSpPr>
            <a:spLocks noGrp="1"/>
          </p:cNvSpPr>
          <p:nvPr>
            <p:ph type="ftr" sz="quarter" idx="10"/>
          </p:nvPr>
        </p:nvSpPr>
        <p:spPr/>
        <p:txBody>
          <a:bodyPr/>
          <a:lstStyle/>
          <a:p>
            <a:pPr>
              <a:defRPr/>
            </a:pPr>
            <a:r>
              <a:rPr lang="en-US"/>
              <a:t>Secure Software Development: A Security Programmer’s Guide, First Edition</a:t>
            </a:r>
          </a:p>
        </p:txBody>
      </p:sp>
      <p:sp>
        <p:nvSpPr>
          <p:cNvPr id="64515" name="Slide Number Placeholder 5">
            <a:extLst>
              <a:ext uri="{FF2B5EF4-FFF2-40B4-BE49-F238E27FC236}">
                <a16:creationId xmlns:a16="http://schemas.microsoft.com/office/drawing/2014/main" id="{CD06FB85-2063-7696-0BA4-80CED7384E38}"/>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75D80FB-AFF5-4371-82F3-2E4818BA17AE}" type="slidenum">
              <a:rPr lang="en-US" altLang="en-US" sz="1400"/>
              <a:pPr>
                <a:spcBef>
                  <a:spcPct val="0"/>
                </a:spcBef>
                <a:buFontTx/>
                <a:buNone/>
              </a:pPr>
              <a:t>11</a:t>
            </a:fld>
            <a:endParaRPr lang="en-US" altLang="en-US" sz="1400"/>
          </a:p>
        </p:txBody>
      </p:sp>
      <p:sp>
        <p:nvSpPr>
          <p:cNvPr id="64516" name="Rectangle 2">
            <a:extLst>
              <a:ext uri="{FF2B5EF4-FFF2-40B4-BE49-F238E27FC236}">
                <a16:creationId xmlns:a16="http://schemas.microsoft.com/office/drawing/2014/main" id="{6BE569ED-E4D8-6615-56E3-A298C59779D5}"/>
              </a:ext>
            </a:extLst>
          </p:cNvPr>
          <p:cNvSpPr>
            <a:spLocks noGrp="1" noChangeArrowheads="1"/>
          </p:cNvSpPr>
          <p:nvPr>
            <p:ph type="title"/>
          </p:nvPr>
        </p:nvSpPr>
        <p:spPr/>
        <p:txBody>
          <a:bodyPr>
            <a:normAutofit/>
          </a:bodyPr>
          <a:lstStyle/>
          <a:p>
            <a:pPr eaLnBrk="1" hangingPunct="1"/>
            <a:r>
              <a:rPr lang="en-US" altLang="en-US" dirty="0"/>
              <a:t>The Development Team (continued)</a:t>
            </a:r>
          </a:p>
        </p:txBody>
      </p:sp>
      <p:sp>
        <p:nvSpPr>
          <p:cNvPr id="64517" name="Rectangle 3">
            <a:extLst>
              <a:ext uri="{FF2B5EF4-FFF2-40B4-BE49-F238E27FC236}">
                <a16:creationId xmlns:a16="http://schemas.microsoft.com/office/drawing/2014/main" id="{2FBFB922-24B1-AC99-F231-65FFD18D58DB}"/>
              </a:ext>
            </a:extLst>
          </p:cNvPr>
          <p:cNvSpPr>
            <a:spLocks noGrp="1" noChangeArrowheads="1"/>
          </p:cNvSpPr>
          <p:nvPr>
            <p:ph type="body" sz="half" idx="1"/>
          </p:nvPr>
        </p:nvSpPr>
        <p:spPr>
          <a:xfrm>
            <a:off x="2286000" y="1676400"/>
            <a:ext cx="7696200" cy="4267200"/>
          </a:xfrm>
        </p:spPr>
        <p:txBody>
          <a:bodyPr>
            <a:normAutofit fontScale="92500" lnSpcReduction="10000"/>
          </a:bodyPr>
          <a:lstStyle/>
          <a:p>
            <a:pPr eaLnBrk="1" hangingPunct="1"/>
            <a:r>
              <a:rPr lang="en-US" altLang="en-US" sz="2200"/>
              <a:t>Makeup of a Development Team</a:t>
            </a:r>
          </a:p>
          <a:p>
            <a:pPr lvl="3" eaLnBrk="1" hangingPunct="1"/>
            <a:r>
              <a:rPr lang="en-US" altLang="en-US" sz="2000"/>
              <a:t>1. Project manager (PM)</a:t>
            </a:r>
          </a:p>
          <a:p>
            <a:pPr lvl="4" eaLnBrk="1" hangingPunct="1"/>
            <a:r>
              <a:rPr lang="en-US" altLang="en-US" sz="1800"/>
              <a:t>This person has strong management skills and is keenly aware of the SDLC</a:t>
            </a:r>
          </a:p>
          <a:p>
            <a:pPr lvl="4" eaLnBrk="1" hangingPunct="1"/>
            <a:r>
              <a:rPr lang="en-US" altLang="en-US" sz="1800"/>
              <a:t>He or she is likely a </a:t>
            </a:r>
            <a:r>
              <a:rPr lang="en-US" altLang="en-US" sz="1800" b="1"/>
              <a:t>PMP </a:t>
            </a:r>
            <a:r>
              <a:rPr lang="en-US" altLang="en-US" sz="1800"/>
              <a:t>(project management professional) certified to manage an IT project</a:t>
            </a:r>
          </a:p>
          <a:p>
            <a:pPr lvl="4" eaLnBrk="1" hangingPunct="1"/>
            <a:r>
              <a:rPr lang="en-US" altLang="en-US" sz="1800"/>
              <a:t>The PM is fully aware of the security needs and policies of the current project</a:t>
            </a:r>
          </a:p>
          <a:p>
            <a:pPr lvl="3" eaLnBrk="1" hangingPunct="1"/>
            <a:r>
              <a:rPr lang="en-US" altLang="en-US" sz="2000"/>
              <a:t>2. Business analyst (BA)</a:t>
            </a:r>
          </a:p>
          <a:p>
            <a:pPr lvl="4" eaLnBrk="1" hangingPunct="1"/>
            <a:r>
              <a:rPr lang="en-US" altLang="en-US" sz="1800"/>
              <a:t>A business analyst is someone who knows and understands the business side of the application</a:t>
            </a:r>
          </a:p>
          <a:p>
            <a:pPr lvl="4" eaLnBrk="1" hangingPunct="1"/>
            <a:r>
              <a:rPr lang="en-US" altLang="en-US" sz="1800"/>
              <a:t>This person takes customer requests and translates them into software requirements</a:t>
            </a:r>
          </a:p>
          <a:p>
            <a:pPr lvl="2" eaLnBrk="1" hangingPunct="1">
              <a:buFontTx/>
              <a:buNone/>
            </a:pPr>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5C0637DD-DC3F-6D5C-B6D2-B1C8AFDE6599}"/>
              </a:ext>
            </a:extLst>
          </p:cNvPr>
          <p:cNvSpPr>
            <a:spLocks noGrp="1"/>
          </p:cNvSpPr>
          <p:nvPr>
            <p:ph type="ftr" sz="quarter" idx="10"/>
          </p:nvPr>
        </p:nvSpPr>
        <p:spPr/>
        <p:txBody>
          <a:bodyPr/>
          <a:lstStyle/>
          <a:p>
            <a:pPr>
              <a:defRPr/>
            </a:pPr>
            <a:r>
              <a:rPr lang="en-US"/>
              <a:t>Secure Software Development: A Security Programmer’s Guide, First Edition</a:t>
            </a:r>
          </a:p>
        </p:txBody>
      </p:sp>
      <p:sp>
        <p:nvSpPr>
          <p:cNvPr id="66563" name="Slide Number Placeholder 5">
            <a:extLst>
              <a:ext uri="{FF2B5EF4-FFF2-40B4-BE49-F238E27FC236}">
                <a16:creationId xmlns:a16="http://schemas.microsoft.com/office/drawing/2014/main" id="{72A31CF1-6C67-CF39-6EF7-C48BAE8C7AEA}"/>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3F0139B-5D52-4728-964A-8E224EB616B1}" type="slidenum">
              <a:rPr lang="en-US" altLang="en-US" sz="1400"/>
              <a:pPr>
                <a:spcBef>
                  <a:spcPct val="0"/>
                </a:spcBef>
                <a:buFontTx/>
                <a:buNone/>
              </a:pPr>
              <a:t>12</a:t>
            </a:fld>
            <a:endParaRPr lang="en-US" altLang="en-US" sz="1400"/>
          </a:p>
        </p:txBody>
      </p:sp>
      <p:sp>
        <p:nvSpPr>
          <p:cNvPr id="66564" name="Rectangle 2">
            <a:extLst>
              <a:ext uri="{FF2B5EF4-FFF2-40B4-BE49-F238E27FC236}">
                <a16:creationId xmlns:a16="http://schemas.microsoft.com/office/drawing/2014/main" id="{DB93E216-C6DC-414F-452C-DFA6BB517485}"/>
              </a:ext>
            </a:extLst>
          </p:cNvPr>
          <p:cNvSpPr>
            <a:spLocks noGrp="1" noChangeArrowheads="1"/>
          </p:cNvSpPr>
          <p:nvPr>
            <p:ph type="title"/>
          </p:nvPr>
        </p:nvSpPr>
        <p:spPr/>
        <p:txBody>
          <a:bodyPr>
            <a:normAutofit/>
          </a:bodyPr>
          <a:lstStyle/>
          <a:p>
            <a:pPr eaLnBrk="1" hangingPunct="1"/>
            <a:r>
              <a:rPr lang="en-US" altLang="en-US" dirty="0"/>
              <a:t>The Development Team (continued)</a:t>
            </a:r>
          </a:p>
        </p:txBody>
      </p:sp>
      <p:sp>
        <p:nvSpPr>
          <p:cNvPr id="66565" name="Rectangle 3">
            <a:extLst>
              <a:ext uri="{FF2B5EF4-FFF2-40B4-BE49-F238E27FC236}">
                <a16:creationId xmlns:a16="http://schemas.microsoft.com/office/drawing/2014/main" id="{806237C6-8E53-5F41-6E87-11133B79377F}"/>
              </a:ext>
            </a:extLst>
          </p:cNvPr>
          <p:cNvSpPr>
            <a:spLocks noGrp="1" noChangeArrowheads="1"/>
          </p:cNvSpPr>
          <p:nvPr>
            <p:ph type="body" sz="half" idx="1"/>
          </p:nvPr>
        </p:nvSpPr>
        <p:spPr>
          <a:xfrm>
            <a:off x="2286000" y="1676400"/>
            <a:ext cx="7696200" cy="4267200"/>
          </a:xfrm>
        </p:spPr>
        <p:txBody>
          <a:bodyPr>
            <a:normAutofit fontScale="77500" lnSpcReduction="20000"/>
          </a:bodyPr>
          <a:lstStyle/>
          <a:p>
            <a:pPr eaLnBrk="1" hangingPunct="1"/>
            <a:r>
              <a:rPr lang="en-US" altLang="en-US" sz="2200" dirty="0"/>
              <a:t>Makeup of a Development Team (continued)</a:t>
            </a:r>
          </a:p>
          <a:p>
            <a:pPr lvl="3" eaLnBrk="1" hangingPunct="1"/>
            <a:r>
              <a:rPr lang="en-US" altLang="en-US" sz="2000" dirty="0"/>
              <a:t>3. Tech lead (lead developer)</a:t>
            </a:r>
          </a:p>
          <a:p>
            <a:pPr lvl="4" eaLnBrk="1" hangingPunct="1"/>
            <a:r>
              <a:rPr lang="en-US" altLang="en-US" sz="1800" dirty="0"/>
              <a:t>This person is very efficient in the technology used on the project</a:t>
            </a:r>
          </a:p>
          <a:p>
            <a:pPr lvl="4" eaLnBrk="1" hangingPunct="1"/>
            <a:r>
              <a:rPr lang="en-US" altLang="en-US" sz="1800" dirty="0"/>
              <a:t>Aware of the security needs of the application</a:t>
            </a:r>
          </a:p>
          <a:p>
            <a:pPr lvl="4" eaLnBrk="1" hangingPunct="1"/>
            <a:r>
              <a:rPr lang="en-US" altLang="en-US" sz="1800" dirty="0"/>
              <a:t>Required to know secure design principles and methodologies and how to apply threat modeling and threat analysis</a:t>
            </a:r>
          </a:p>
          <a:p>
            <a:pPr lvl="3" eaLnBrk="1" hangingPunct="1"/>
            <a:r>
              <a:rPr lang="en-US" altLang="en-US" sz="2000" dirty="0"/>
              <a:t>4. Developers </a:t>
            </a:r>
          </a:p>
          <a:p>
            <a:pPr lvl="4"/>
            <a:r>
              <a:rPr lang="en-US" sz="1800" dirty="0"/>
              <a:t>A developer is responsible for designing and building the software system</a:t>
            </a:r>
            <a:br>
              <a:rPr lang="en-US" sz="1800" dirty="0"/>
            </a:br>
            <a:endParaRPr lang="en-US" sz="1800" dirty="0"/>
          </a:p>
          <a:p>
            <a:pPr lvl="4"/>
            <a:r>
              <a:rPr lang="en-US" sz="1800" dirty="0"/>
              <a:t>Has a deep understanding of system requirements and architecture</a:t>
            </a:r>
            <a:br>
              <a:rPr lang="en-US" sz="1800" dirty="0"/>
            </a:br>
            <a:endParaRPr lang="en-US" sz="1800" dirty="0"/>
          </a:p>
          <a:p>
            <a:pPr lvl="4"/>
            <a:r>
              <a:rPr lang="en-US" sz="1800" dirty="0"/>
              <a:t>Implements functionality using appropriate programming languages and tools</a:t>
            </a:r>
            <a:br>
              <a:rPr lang="en-US" sz="1800" dirty="0"/>
            </a:br>
            <a:endParaRPr lang="en-US" sz="1800" dirty="0"/>
          </a:p>
          <a:p>
            <a:pPr lvl="4"/>
            <a:r>
              <a:rPr lang="en-US" sz="1800" dirty="0"/>
              <a:t>Writes clean, efficient, and maintainable code</a:t>
            </a:r>
            <a:br>
              <a:rPr lang="en-US" sz="1800" dirty="0"/>
            </a:br>
            <a:endParaRPr lang="en-US" sz="1800" dirty="0"/>
          </a:p>
          <a:p>
            <a:pPr lvl="4"/>
            <a:r>
              <a:rPr lang="en-US" sz="1800" dirty="0"/>
              <a:t>Collaborates with testers and other team members to ensure software quality</a:t>
            </a:r>
            <a:endParaRPr lang="en-US"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06ACD520-C33B-69E2-3050-F6CFB9978538}"/>
              </a:ext>
            </a:extLst>
          </p:cNvPr>
          <p:cNvSpPr>
            <a:spLocks noGrp="1"/>
          </p:cNvSpPr>
          <p:nvPr>
            <p:ph type="ftr" sz="quarter" idx="10"/>
          </p:nvPr>
        </p:nvSpPr>
        <p:spPr/>
        <p:txBody>
          <a:bodyPr/>
          <a:lstStyle/>
          <a:p>
            <a:pPr>
              <a:defRPr/>
            </a:pPr>
            <a:r>
              <a:rPr lang="en-US"/>
              <a:t>Secure Software Development: A Security Programmer’s Guide, First Edition</a:t>
            </a:r>
          </a:p>
        </p:txBody>
      </p:sp>
      <p:sp>
        <p:nvSpPr>
          <p:cNvPr id="68611" name="Slide Number Placeholder 5">
            <a:extLst>
              <a:ext uri="{FF2B5EF4-FFF2-40B4-BE49-F238E27FC236}">
                <a16:creationId xmlns:a16="http://schemas.microsoft.com/office/drawing/2014/main" id="{A03A9744-ADD7-C41E-599E-0DA7255887C8}"/>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50510ED-DAF2-4E62-99E5-01B948835C32}" type="slidenum">
              <a:rPr lang="en-US" altLang="en-US" sz="1400"/>
              <a:pPr>
                <a:spcBef>
                  <a:spcPct val="0"/>
                </a:spcBef>
                <a:buFontTx/>
                <a:buNone/>
              </a:pPr>
              <a:t>13</a:t>
            </a:fld>
            <a:endParaRPr lang="en-US" altLang="en-US" sz="1400"/>
          </a:p>
        </p:txBody>
      </p:sp>
      <p:sp>
        <p:nvSpPr>
          <p:cNvPr id="68612" name="Rectangle 2">
            <a:extLst>
              <a:ext uri="{FF2B5EF4-FFF2-40B4-BE49-F238E27FC236}">
                <a16:creationId xmlns:a16="http://schemas.microsoft.com/office/drawing/2014/main" id="{F0D1E261-E17E-CCBB-2B23-B89F4028C899}"/>
              </a:ext>
            </a:extLst>
          </p:cNvPr>
          <p:cNvSpPr>
            <a:spLocks noGrp="1" noChangeArrowheads="1"/>
          </p:cNvSpPr>
          <p:nvPr>
            <p:ph type="title"/>
          </p:nvPr>
        </p:nvSpPr>
        <p:spPr/>
        <p:txBody>
          <a:bodyPr>
            <a:normAutofit/>
          </a:bodyPr>
          <a:lstStyle/>
          <a:p>
            <a:pPr eaLnBrk="1" hangingPunct="1"/>
            <a:r>
              <a:rPr lang="en-US" altLang="en-US" dirty="0"/>
              <a:t>The Development Team (continued)</a:t>
            </a:r>
          </a:p>
        </p:txBody>
      </p:sp>
      <p:sp>
        <p:nvSpPr>
          <p:cNvPr id="68613" name="Rectangle 3">
            <a:extLst>
              <a:ext uri="{FF2B5EF4-FFF2-40B4-BE49-F238E27FC236}">
                <a16:creationId xmlns:a16="http://schemas.microsoft.com/office/drawing/2014/main" id="{0DB998DB-229B-0040-5B10-37FBD1B57719}"/>
              </a:ext>
            </a:extLst>
          </p:cNvPr>
          <p:cNvSpPr>
            <a:spLocks noGrp="1" noChangeArrowheads="1"/>
          </p:cNvSpPr>
          <p:nvPr>
            <p:ph type="body" sz="half" idx="1"/>
          </p:nvPr>
        </p:nvSpPr>
        <p:spPr>
          <a:xfrm>
            <a:off x="2286000" y="1676400"/>
            <a:ext cx="7696200" cy="4267200"/>
          </a:xfrm>
        </p:spPr>
        <p:txBody>
          <a:bodyPr/>
          <a:lstStyle/>
          <a:p>
            <a:pPr eaLnBrk="1" hangingPunct="1"/>
            <a:r>
              <a:rPr lang="en-US" altLang="en-US" sz="2200" dirty="0"/>
              <a:t>Makeup of a Development Team (continued)</a:t>
            </a:r>
          </a:p>
          <a:p>
            <a:pPr lvl="3"/>
            <a:r>
              <a:rPr lang="en-US" altLang="en-US" sz="2000" dirty="0"/>
              <a:t>4. Testers</a:t>
            </a:r>
          </a:p>
          <a:p>
            <a:pPr lvl="4"/>
            <a:r>
              <a:rPr lang="en-US" altLang="en-US" sz="1800" dirty="0"/>
              <a:t>A tester is someone with a thorough understanding of the system’s requirements</a:t>
            </a:r>
          </a:p>
          <a:p>
            <a:pPr lvl="4"/>
            <a:r>
              <a:rPr lang="en-US" altLang="en-US" sz="1800" dirty="0"/>
              <a:t>Knows how the system was designed and developed</a:t>
            </a:r>
          </a:p>
          <a:p>
            <a:pPr lvl="4"/>
            <a:r>
              <a:rPr lang="en-US" altLang="en-US" sz="1800" dirty="0"/>
              <a:t>Knows how to break software</a:t>
            </a:r>
          </a:p>
          <a:p>
            <a:pPr lvl="3" eaLnBrk="1" hangingPunct="1"/>
            <a:r>
              <a:rPr lang="en-US" altLang="en-US" sz="2000" dirty="0"/>
              <a:t>5. Customer/user</a:t>
            </a:r>
          </a:p>
          <a:p>
            <a:pPr lvl="4" eaLnBrk="1" hangingPunct="1"/>
            <a:r>
              <a:rPr lang="en-US" altLang="en-US" sz="1800" dirty="0"/>
              <a:t>An end user is someone with a thorough understanding of the system’s requirements</a:t>
            </a:r>
          </a:p>
          <a:p>
            <a:pPr lvl="4" eaLnBrk="1" hangingPunct="1"/>
            <a:r>
              <a:rPr lang="en-US" altLang="en-US" sz="1800" dirty="0"/>
              <a:t>Knows how the software will be used by the masses</a:t>
            </a:r>
          </a:p>
          <a:p>
            <a:pPr lvl="2" eaLnBrk="1" hangingPunct="1">
              <a:buFontTx/>
              <a:buNone/>
            </a:pPr>
            <a:endParaRPr lang="en-US"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64E0ABB-B5E6-C8A7-7DE5-C54744E46157}"/>
              </a:ext>
            </a:extLst>
          </p:cNvPr>
          <p:cNvSpPr>
            <a:spLocks noGrp="1"/>
          </p:cNvSpPr>
          <p:nvPr>
            <p:ph type="title"/>
          </p:nvPr>
        </p:nvSpPr>
        <p:spPr/>
        <p:txBody>
          <a:bodyPr/>
          <a:lstStyle/>
          <a:p>
            <a:r>
              <a:rPr lang="en-US" dirty="0"/>
              <a:t>Principles of Security</a:t>
            </a:r>
          </a:p>
        </p:txBody>
      </p:sp>
      <p:sp>
        <p:nvSpPr>
          <p:cNvPr id="6" name="Text Placeholder 5">
            <a:extLst>
              <a:ext uri="{FF2B5EF4-FFF2-40B4-BE49-F238E27FC236}">
                <a16:creationId xmlns:a16="http://schemas.microsoft.com/office/drawing/2014/main" id="{225C56F7-F82D-9259-E181-BCCFD0D215A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4247694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6">
            <a:extLst>
              <a:ext uri="{FF2B5EF4-FFF2-40B4-BE49-F238E27FC236}">
                <a16:creationId xmlns:a16="http://schemas.microsoft.com/office/drawing/2014/main" id="{E4B7ED81-2987-3E07-729A-E6F5C75C735A}"/>
              </a:ext>
            </a:extLst>
          </p:cNvPr>
          <p:cNvSpPr>
            <a:spLocks noGrp="1" noChangeArrowheads="1"/>
          </p:cNvSpPr>
          <p:nvPr>
            <p:ph type="title"/>
          </p:nvPr>
        </p:nvSpPr>
        <p:spPr/>
        <p:txBody>
          <a:bodyPr>
            <a:normAutofit/>
          </a:bodyPr>
          <a:lstStyle/>
          <a:p>
            <a:pPr eaLnBrk="1" hangingPunct="1"/>
            <a:r>
              <a:rPr lang="en-US" altLang="en-US" dirty="0"/>
              <a:t>Principles of Security in the Industry</a:t>
            </a:r>
            <a:endParaRPr lang="en-US" altLang="en-US" sz="3200" dirty="0"/>
          </a:p>
        </p:txBody>
      </p:sp>
      <p:sp>
        <p:nvSpPr>
          <p:cNvPr id="11269" name="Rectangle 7">
            <a:extLst>
              <a:ext uri="{FF2B5EF4-FFF2-40B4-BE49-F238E27FC236}">
                <a16:creationId xmlns:a16="http://schemas.microsoft.com/office/drawing/2014/main" id="{73A54E2D-CE53-A1BB-FCC8-C419BDBB7C4A}"/>
              </a:ext>
            </a:extLst>
          </p:cNvPr>
          <p:cNvSpPr>
            <a:spLocks noGrp="1" noChangeArrowheads="1"/>
          </p:cNvSpPr>
          <p:nvPr>
            <p:ph idx="1"/>
          </p:nvPr>
        </p:nvSpPr>
        <p:spPr/>
        <p:txBody>
          <a:bodyPr>
            <a:normAutofit/>
          </a:bodyPr>
          <a:lstStyle/>
          <a:p>
            <a:pPr eaLnBrk="1" hangingPunct="1"/>
            <a:r>
              <a:rPr lang="en-US" altLang="en-US" dirty="0"/>
              <a:t>Principles are the foundation of software applications and the development processes that produce them</a:t>
            </a:r>
          </a:p>
          <a:p>
            <a:pPr eaLnBrk="1" hangingPunct="1"/>
            <a:r>
              <a:rPr lang="en-US" altLang="en-US" dirty="0"/>
              <a:t>These principles are </a:t>
            </a:r>
            <a:r>
              <a:rPr lang="en-US" altLang="en-US" b="1" dirty="0"/>
              <a:t>industry best practices</a:t>
            </a:r>
          </a:p>
          <a:p>
            <a:pPr eaLnBrk="1" hangingPunct="1"/>
            <a:r>
              <a:rPr lang="en-US" altLang="en-US" dirty="0"/>
              <a:t>Developers must learn how to incorporate these principles into the development process </a:t>
            </a:r>
          </a:p>
          <a:p>
            <a:pPr lvl="1" eaLnBrk="1" hangingPunct="1"/>
            <a:r>
              <a:rPr lang="en-US" altLang="en-US" dirty="0"/>
              <a:t>Know the goals of secure code</a:t>
            </a:r>
          </a:p>
          <a:p>
            <a:pPr lvl="1" eaLnBrk="1" hangingPunct="1"/>
            <a:r>
              <a:rPr lang="en-US" altLang="en-US" dirty="0"/>
              <a:t>Know the goals of quality code</a:t>
            </a:r>
          </a:p>
          <a:p>
            <a:pPr lvl="1" eaLnBrk="1" hangingPunct="1"/>
            <a:endParaRPr lang="en-US" altLang="en-US" dirty="0"/>
          </a:p>
          <a:p>
            <a:pPr eaLnBrk="1" hangingPunct="1"/>
            <a:endParaRPr lang="en-US" altLang="en-US" dirty="0"/>
          </a:p>
        </p:txBody>
      </p:sp>
      <p:sp>
        <p:nvSpPr>
          <p:cNvPr id="4" name="Footer Placeholder 3">
            <a:extLst>
              <a:ext uri="{FF2B5EF4-FFF2-40B4-BE49-F238E27FC236}">
                <a16:creationId xmlns:a16="http://schemas.microsoft.com/office/drawing/2014/main" id="{9DC98C8C-C4CA-AA6B-CF0E-542AD58C4175}"/>
              </a:ext>
            </a:extLst>
          </p:cNvPr>
          <p:cNvSpPr>
            <a:spLocks noGrp="1"/>
          </p:cNvSpPr>
          <p:nvPr>
            <p:ph type="ftr" sz="quarter" idx="11"/>
          </p:nvPr>
        </p:nvSpPr>
        <p:spPr/>
        <p:txBody>
          <a:bodyPr/>
          <a:lstStyle/>
          <a:p>
            <a:pPr>
              <a:defRPr/>
            </a:pPr>
            <a:r>
              <a:rPr lang="en-US"/>
              <a:t>Secure Software Development: A Security Programmer’s Guide, First Edition</a:t>
            </a:r>
          </a:p>
        </p:txBody>
      </p:sp>
      <p:sp>
        <p:nvSpPr>
          <p:cNvPr id="11267" name="Slide Number Placeholder 4">
            <a:extLst>
              <a:ext uri="{FF2B5EF4-FFF2-40B4-BE49-F238E27FC236}">
                <a16:creationId xmlns:a16="http://schemas.microsoft.com/office/drawing/2014/main" id="{BC05B3CF-AFF2-A9E6-28F2-538852E74659}"/>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E52C466-DB9B-4CD1-938E-8AAB1ABC386F}" type="slidenum">
              <a:rPr lang="en-US" altLang="en-US" sz="1400"/>
              <a:pPr>
                <a:spcBef>
                  <a:spcPct val="0"/>
                </a:spcBef>
                <a:buFontTx/>
                <a:buNone/>
              </a:pPr>
              <a:t>15</a:t>
            </a:fld>
            <a:endParaRPr lang="en-US" altLang="en-US" sz="1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
            <a:extLst>
              <a:ext uri="{FF2B5EF4-FFF2-40B4-BE49-F238E27FC236}">
                <a16:creationId xmlns:a16="http://schemas.microsoft.com/office/drawing/2014/main" id="{FFACEF49-D4A6-1585-146C-A3D1D6B88801}"/>
              </a:ext>
            </a:extLst>
          </p:cNvPr>
          <p:cNvSpPr>
            <a:spLocks noGrp="1" noChangeArrowheads="1"/>
          </p:cNvSpPr>
          <p:nvPr>
            <p:ph type="title"/>
          </p:nvPr>
        </p:nvSpPr>
        <p:spPr/>
        <p:txBody>
          <a:bodyPr>
            <a:normAutofit fontScale="90000"/>
          </a:bodyPr>
          <a:lstStyle/>
          <a:p>
            <a:pPr eaLnBrk="1" hangingPunct="1"/>
            <a:r>
              <a:rPr lang="en-US" altLang="en-US"/>
              <a:t>Principles of Security and Quality in the Industry (continued)</a:t>
            </a:r>
            <a:endParaRPr lang="en-US" altLang="en-US" sz="3200" b="1"/>
          </a:p>
        </p:txBody>
      </p:sp>
      <p:sp>
        <p:nvSpPr>
          <p:cNvPr id="13317" name="Rectangle 3">
            <a:extLst>
              <a:ext uri="{FF2B5EF4-FFF2-40B4-BE49-F238E27FC236}">
                <a16:creationId xmlns:a16="http://schemas.microsoft.com/office/drawing/2014/main" id="{AF90D719-0271-99E2-3B1F-ED0503AAB537}"/>
              </a:ext>
            </a:extLst>
          </p:cNvPr>
          <p:cNvSpPr>
            <a:spLocks noGrp="1" noChangeArrowheads="1"/>
          </p:cNvSpPr>
          <p:nvPr>
            <p:ph idx="1"/>
          </p:nvPr>
        </p:nvSpPr>
        <p:spPr/>
        <p:txBody>
          <a:bodyPr>
            <a:normAutofit/>
          </a:bodyPr>
          <a:lstStyle/>
          <a:p>
            <a:pPr eaLnBrk="1" hangingPunct="1"/>
            <a:r>
              <a:rPr lang="en-US" altLang="en-US"/>
              <a:t>Goals of Secure Code </a:t>
            </a:r>
          </a:p>
          <a:p>
            <a:pPr marL="400050" lvl="1" indent="0">
              <a:buNone/>
            </a:pPr>
            <a:r>
              <a:rPr lang="en-US" altLang="en-US"/>
              <a:t>- Secure software means keeping C.I.A.</a:t>
            </a:r>
          </a:p>
          <a:p>
            <a:pPr lvl="2" eaLnBrk="1" hangingPunct="1"/>
            <a:r>
              <a:rPr lang="en-US" altLang="en-US"/>
              <a:t>Confidentiality: Attained by keeping unauthorized users (humans or software) from accessing confidential information</a:t>
            </a:r>
          </a:p>
          <a:p>
            <a:pPr lvl="2" eaLnBrk="1" hangingPunct="1"/>
            <a:r>
              <a:rPr lang="en-US" altLang="en-US"/>
              <a:t>Integrity: The way in which the application accepts, transmits, and stores data from the point of entry all the way to the database and back</a:t>
            </a:r>
          </a:p>
          <a:p>
            <a:pPr lvl="2" eaLnBrk="1" hangingPunct="1"/>
            <a:r>
              <a:rPr lang="en-US" altLang="en-US"/>
              <a:t>Availability: System is available during its normally scheduled hours of operation</a:t>
            </a:r>
          </a:p>
          <a:p>
            <a:pPr eaLnBrk="1" hangingPunct="1"/>
            <a:endParaRPr lang="en-US" altLang="en-US"/>
          </a:p>
        </p:txBody>
      </p:sp>
      <p:sp>
        <p:nvSpPr>
          <p:cNvPr id="4" name="Footer Placeholder 3">
            <a:extLst>
              <a:ext uri="{FF2B5EF4-FFF2-40B4-BE49-F238E27FC236}">
                <a16:creationId xmlns:a16="http://schemas.microsoft.com/office/drawing/2014/main" id="{6414D8D0-2C47-9D70-9204-A0A2DB3BC0DF}"/>
              </a:ext>
            </a:extLst>
          </p:cNvPr>
          <p:cNvSpPr>
            <a:spLocks noGrp="1"/>
          </p:cNvSpPr>
          <p:nvPr>
            <p:ph type="ftr" sz="quarter" idx="11"/>
          </p:nvPr>
        </p:nvSpPr>
        <p:spPr/>
        <p:txBody>
          <a:bodyPr/>
          <a:lstStyle/>
          <a:p>
            <a:pPr>
              <a:defRPr/>
            </a:pPr>
            <a:r>
              <a:rPr lang="en-US"/>
              <a:t>Secure Software Development: A Security Programmer’s Guide, First Edition</a:t>
            </a:r>
          </a:p>
        </p:txBody>
      </p:sp>
      <p:sp>
        <p:nvSpPr>
          <p:cNvPr id="13315" name="Slide Number Placeholder 4">
            <a:extLst>
              <a:ext uri="{FF2B5EF4-FFF2-40B4-BE49-F238E27FC236}">
                <a16:creationId xmlns:a16="http://schemas.microsoft.com/office/drawing/2014/main" id="{CA2AF16A-7119-0957-49E9-AE81297E7E9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72450D9-2EC6-4612-91DB-978B8152DD6E}" type="slidenum">
              <a:rPr lang="en-US" altLang="en-US" sz="1400"/>
              <a:pPr>
                <a:spcBef>
                  <a:spcPct val="0"/>
                </a:spcBef>
                <a:buFontTx/>
                <a:buNone/>
              </a:pPr>
              <a:t>16</a:t>
            </a:fld>
            <a:endParaRPr lang="en-US" altLang="en-US" sz="1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a:extLst>
              <a:ext uri="{FF2B5EF4-FFF2-40B4-BE49-F238E27FC236}">
                <a16:creationId xmlns:a16="http://schemas.microsoft.com/office/drawing/2014/main" id="{1DC1A76D-BB43-0B96-A1CC-E5F29E5DA531}"/>
              </a:ext>
            </a:extLst>
          </p:cNvPr>
          <p:cNvSpPr>
            <a:spLocks noGrp="1" noChangeArrowheads="1"/>
          </p:cNvSpPr>
          <p:nvPr>
            <p:ph type="title"/>
          </p:nvPr>
        </p:nvSpPr>
        <p:spPr/>
        <p:txBody>
          <a:bodyPr>
            <a:normAutofit fontScale="90000"/>
          </a:bodyPr>
          <a:lstStyle/>
          <a:p>
            <a:pPr eaLnBrk="1" hangingPunct="1"/>
            <a:r>
              <a:rPr lang="en-US" altLang="en-US" dirty="0"/>
              <a:t>Principles of Security in the Industry (continued)</a:t>
            </a:r>
            <a:endParaRPr lang="en-US" altLang="en-US" sz="3200" b="1" dirty="0"/>
          </a:p>
        </p:txBody>
      </p:sp>
      <p:sp>
        <p:nvSpPr>
          <p:cNvPr id="15365" name="Rectangle 3">
            <a:extLst>
              <a:ext uri="{FF2B5EF4-FFF2-40B4-BE49-F238E27FC236}">
                <a16:creationId xmlns:a16="http://schemas.microsoft.com/office/drawing/2014/main" id="{6ECCEB61-D283-D3EE-C9C8-CBC466605B82}"/>
              </a:ext>
            </a:extLst>
          </p:cNvPr>
          <p:cNvSpPr>
            <a:spLocks noGrp="1" noChangeArrowheads="1"/>
          </p:cNvSpPr>
          <p:nvPr>
            <p:ph idx="1"/>
          </p:nvPr>
        </p:nvSpPr>
        <p:spPr/>
        <p:txBody>
          <a:bodyPr/>
          <a:lstStyle/>
          <a:p>
            <a:pPr eaLnBrk="1" hangingPunct="1"/>
            <a:r>
              <a:rPr lang="en-US" altLang="en-US"/>
              <a:t>Goals of Secure Code (continued)</a:t>
            </a:r>
          </a:p>
          <a:p>
            <a:pPr lvl="1" eaLnBrk="1" hangingPunct="1"/>
            <a:r>
              <a:rPr lang="en-US" altLang="en-US"/>
              <a:t>Authorization and authentication are the two properties that support secure code</a:t>
            </a:r>
          </a:p>
          <a:p>
            <a:pPr lvl="2" eaLnBrk="1" hangingPunct="1"/>
            <a:r>
              <a:rPr lang="en-US" altLang="en-US"/>
              <a:t>Authorization: Ensuring that the user has the appropriate role and privilege to view data</a:t>
            </a:r>
          </a:p>
          <a:p>
            <a:pPr lvl="2" eaLnBrk="1" hangingPunct="1"/>
            <a:r>
              <a:rPr lang="en-US" altLang="en-US"/>
              <a:t>Authentication: Ensuring that the user is who he or she claims to be and that the data comes from the appropriate place</a:t>
            </a:r>
          </a:p>
          <a:p>
            <a:pPr eaLnBrk="1" hangingPunct="1"/>
            <a:endParaRPr lang="en-US" altLang="en-US"/>
          </a:p>
        </p:txBody>
      </p:sp>
      <p:sp>
        <p:nvSpPr>
          <p:cNvPr id="4" name="Footer Placeholder 3">
            <a:extLst>
              <a:ext uri="{FF2B5EF4-FFF2-40B4-BE49-F238E27FC236}">
                <a16:creationId xmlns:a16="http://schemas.microsoft.com/office/drawing/2014/main" id="{51C98600-C812-DCBC-236C-428B333BB62E}"/>
              </a:ext>
            </a:extLst>
          </p:cNvPr>
          <p:cNvSpPr>
            <a:spLocks noGrp="1"/>
          </p:cNvSpPr>
          <p:nvPr>
            <p:ph type="ftr" sz="quarter" idx="11"/>
          </p:nvPr>
        </p:nvSpPr>
        <p:spPr/>
        <p:txBody>
          <a:bodyPr/>
          <a:lstStyle/>
          <a:p>
            <a:pPr>
              <a:defRPr/>
            </a:pPr>
            <a:r>
              <a:rPr lang="en-US"/>
              <a:t>Secure Software Development: A Security Programmer’s Guide, First Edition</a:t>
            </a:r>
          </a:p>
        </p:txBody>
      </p:sp>
      <p:sp>
        <p:nvSpPr>
          <p:cNvPr id="15363" name="Slide Number Placeholder 4">
            <a:extLst>
              <a:ext uri="{FF2B5EF4-FFF2-40B4-BE49-F238E27FC236}">
                <a16:creationId xmlns:a16="http://schemas.microsoft.com/office/drawing/2014/main" id="{0C336670-3A5C-A5E2-84C2-E87ED659BF2A}"/>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FEC10F3-7D7A-4689-9D60-AE91074151DD}" type="slidenum">
              <a:rPr lang="en-US" altLang="en-US" sz="1400"/>
              <a:pPr>
                <a:spcBef>
                  <a:spcPct val="0"/>
                </a:spcBef>
                <a:buFontTx/>
                <a:buNone/>
              </a:pPr>
              <a:t>17</a:t>
            </a:fld>
            <a:endParaRPr lang="en-US" altLang="en-US" sz="1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2">
            <a:extLst>
              <a:ext uri="{FF2B5EF4-FFF2-40B4-BE49-F238E27FC236}">
                <a16:creationId xmlns:a16="http://schemas.microsoft.com/office/drawing/2014/main" id="{FFC3E956-BE9F-AE22-AA6A-EDD6051513C5}"/>
              </a:ext>
            </a:extLst>
          </p:cNvPr>
          <p:cNvSpPr>
            <a:spLocks noGrp="1" noChangeArrowheads="1"/>
          </p:cNvSpPr>
          <p:nvPr>
            <p:ph type="title"/>
          </p:nvPr>
        </p:nvSpPr>
        <p:spPr/>
        <p:txBody>
          <a:bodyPr>
            <a:normAutofit/>
          </a:bodyPr>
          <a:lstStyle/>
          <a:p>
            <a:pPr eaLnBrk="1" hangingPunct="1"/>
            <a:r>
              <a:rPr lang="en-US" altLang="en-US" dirty="0"/>
              <a:t>Principles of Security in the organization</a:t>
            </a:r>
            <a:endParaRPr lang="en-US" altLang="en-US" b="1" dirty="0"/>
          </a:p>
        </p:txBody>
      </p:sp>
      <p:sp>
        <p:nvSpPr>
          <p:cNvPr id="29701" name="Rectangle 3">
            <a:extLst>
              <a:ext uri="{FF2B5EF4-FFF2-40B4-BE49-F238E27FC236}">
                <a16:creationId xmlns:a16="http://schemas.microsoft.com/office/drawing/2014/main" id="{41C0D8B2-118B-A59D-BA88-5C9A9395DCD5}"/>
              </a:ext>
            </a:extLst>
          </p:cNvPr>
          <p:cNvSpPr>
            <a:spLocks noGrp="1" noChangeArrowheads="1"/>
          </p:cNvSpPr>
          <p:nvPr>
            <p:ph idx="1"/>
          </p:nvPr>
        </p:nvSpPr>
        <p:spPr>
          <a:xfrm>
            <a:off x="2362200" y="1751663"/>
            <a:ext cx="8077200" cy="4191000"/>
          </a:xfrm>
        </p:spPr>
        <p:txBody>
          <a:bodyPr/>
          <a:lstStyle/>
          <a:p>
            <a:pPr eaLnBrk="1" hangingPunct="1"/>
            <a:endParaRPr lang="en-US" altLang="en-US" dirty="0"/>
          </a:p>
          <a:p>
            <a:pPr eaLnBrk="1" hangingPunct="1"/>
            <a:endParaRPr lang="en-US" altLang="en-US" dirty="0"/>
          </a:p>
          <a:p>
            <a:pPr eaLnBrk="1" hangingPunct="1"/>
            <a:r>
              <a:rPr lang="en-US" altLang="en-US" sz="2000" dirty="0"/>
              <a:t>Each company has its own view(s) of what the goals of C.I.A. </a:t>
            </a:r>
          </a:p>
          <a:p>
            <a:pPr eaLnBrk="1" hangingPunct="1"/>
            <a:r>
              <a:rPr lang="en-US" altLang="en-US" sz="2000" dirty="0"/>
              <a:t>How organizations achieve C.I.A. depends on the resources, time, and assets that are available to the company</a:t>
            </a:r>
          </a:p>
          <a:p>
            <a:pPr eaLnBrk="1" hangingPunct="1"/>
            <a:r>
              <a:rPr lang="en-US" altLang="en-US" sz="2000" dirty="0"/>
              <a:t>Companies can achieve C.I.A. by implementing security and quality principles</a:t>
            </a:r>
          </a:p>
        </p:txBody>
      </p:sp>
      <p:sp>
        <p:nvSpPr>
          <p:cNvPr id="4" name="Footer Placeholder 3">
            <a:extLst>
              <a:ext uri="{FF2B5EF4-FFF2-40B4-BE49-F238E27FC236}">
                <a16:creationId xmlns:a16="http://schemas.microsoft.com/office/drawing/2014/main" id="{D0878D8A-6097-9566-5296-6CB1B86B5E87}"/>
              </a:ext>
            </a:extLst>
          </p:cNvPr>
          <p:cNvSpPr>
            <a:spLocks noGrp="1"/>
          </p:cNvSpPr>
          <p:nvPr>
            <p:ph type="ftr" sz="quarter" idx="11"/>
          </p:nvPr>
        </p:nvSpPr>
        <p:spPr/>
        <p:txBody>
          <a:bodyPr/>
          <a:lstStyle/>
          <a:p>
            <a:pPr>
              <a:defRPr/>
            </a:pPr>
            <a:r>
              <a:rPr lang="en-US"/>
              <a:t>Secure Software Development: A Security Programmer’s Guide, First Edition</a:t>
            </a:r>
          </a:p>
        </p:txBody>
      </p:sp>
      <p:sp>
        <p:nvSpPr>
          <p:cNvPr id="29699" name="Slide Number Placeholder 4">
            <a:extLst>
              <a:ext uri="{FF2B5EF4-FFF2-40B4-BE49-F238E27FC236}">
                <a16:creationId xmlns:a16="http://schemas.microsoft.com/office/drawing/2014/main" id="{4A02BFD7-AD3A-AA5B-F675-2B21EE956BA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F2A962B-E8E5-4592-B72A-A102793144EB}" type="slidenum">
              <a:rPr lang="en-US" altLang="en-US" sz="1400"/>
              <a:pPr>
                <a:spcBef>
                  <a:spcPct val="0"/>
                </a:spcBef>
                <a:buFontTx/>
                <a:buNone/>
              </a:pPr>
              <a:t>18</a:t>
            </a:fld>
            <a:endParaRPr lang="en-US" altLang="en-US" sz="1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a:extLst>
              <a:ext uri="{FF2B5EF4-FFF2-40B4-BE49-F238E27FC236}">
                <a16:creationId xmlns:a16="http://schemas.microsoft.com/office/drawing/2014/main" id="{EB9067EE-EAE5-D507-C59A-81D7F7E95478}"/>
              </a:ext>
            </a:extLst>
          </p:cNvPr>
          <p:cNvSpPr>
            <a:spLocks noGrp="1" noChangeArrowheads="1"/>
          </p:cNvSpPr>
          <p:nvPr>
            <p:ph type="title"/>
          </p:nvPr>
        </p:nvSpPr>
        <p:spPr/>
        <p:txBody>
          <a:bodyPr>
            <a:normAutofit fontScale="90000"/>
          </a:bodyPr>
          <a:lstStyle/>
          <a:p>
            <a:pPr eaLnBrk="1" hangingPunct="1"/>
            <a:r>
              <a:rPr lang="en-US" altLang="en-US" dirty="0"/>
              <a:t>Principles of Security in the organization (continued)</a:t>
            </a:r>
            <a:endParaRPr lang="en-US" altLang="en-US" b="1" dirty="0"/>
          </a:p>
        </p:txBody>
      </p:sp>
      <p:sp>
        <p:nvSpPr>
          <p:cNvPr id="31749" name="Rectangle 3">
            <a:extLst>
              <a:ext uri="{FF2B5EF4-FFF2-40B4-BE49-F238E27FC236}">
                <a16:creationId xmlns:a16="http://schemas.microsoft.com/office/drawing/2014/main" id="{16E785E1-E693-6E6E-341C-3440E3D5EE9B}"/>
              </a:ext>
            </a:extLst>
          </p:cNvPr>
          <p:cNvSpPr>
            <a:spLocks noGrp="1" noChangeArrowheads="1"/>
          </p:cNvSpPr>
          <p:nvPr>
            <p:ph idx="1"/>
          </p:nvPr>
        </p:nvSpPr>
        <p:spPr>
          <a:xfrm>
            <a:off x="2057400" y="1676400"/>
            <a:ext cx="8077200" cy="4191000"/>
          </a:xfrm>
        </p:spPr>
        <p:txBody>
          <a:bodyPr/>
          <a:lstStyle/>
          <a:p>
            <a:pPr eaLnBrk="1" hangingPunct="1"/>
            <a:endParaRPr lang="en-US" altLang="en-US" dirty="0"/>
          </a:p>
          <a:p>
            <a:pPr eaLnBrk="1" hangingPunct="1"/>
            <a:endParaRPr lang="en-US" altLang="en-US" dirty="0"/>
          </a:p>
          <a:p>
            <a:pPr eaLnBrk="1" hangingPunct="1"/>
            <a:r>
              <a:rPr lang="en-US" altLang="en-US" dirty="0"/>
              <a:t>The Principles and Concepts of Secure Software</a:t>
            </a:r>
          </a:p>
          <a:p>
            <a:pPr lvl="1" eaLnBrk="1" hangingPunct="1"/>
            <a:r>
              <a:rPr lang="en-US" altLang="en-US" dirty="0"/>
              <a:t>Attack Surface Reduction</a:t>
            </a:r>
          </a:p>
          <a:p>
            <a:pPr lvl="2" eaLnBrk="1" hangingPunct="1"/>
            <a:r>
              <a:rPr lang="en-US" altLang="en-US" b="1" dirty="0"/>
              <a:t>Attack Surface</a:t>
            </a:r>
            <a:r>
              <a:rPr lang="en-US" altLang="en-US" dirty="0"/>
              <a:t>: Any part of an application that is accessible by a human or another program</a:t>
            </a:r>
          </a:p>
          <a:p>
            <a:pPr lvl="2" eaLnBrk="1" hangingPunct="1"/>
            <a:r>
              <a:rPr lang="en-US" altLang="en-US" b="1" dirty="0"/>
              <a:t>Attack Surface Reduction</a:t>
            </a:r>
            <a:r>
              <a:rPr lang="en-US" altLang="en-US" dirty="0"/>
              <a:t>: Minimize the number of exposed attack surface points a malicious user can discover and attempt to exploit</a:t>
            </a:r>
          </a:p>
        </p:txBody>
      </p:sp>
      <p:sp>
        <p:nvSpPr>
          <p:cNvPr id="4" name="Footer Placeholder 3">
            <a:extLst>
              <a:ext uri="{FF2B5EF4-FFF2-40B4-BE49-F238E27FC236}">
                <a16:creationId xmlns:a16="http://schemas.microsoft.com/office/drawing/2014/main" id="{9ECA0960-55DF-222F-F408-27FE339E6F95}"/>
              </a:ext>
            </a:extLst>
          </p:cNvPr>
          <p:cNvSpPr>
            <a:spLocks noGrp="1"/>
          </p:cNvSpPr>
          <p:nvPr>
            <p:ph type="ftr" sz="quarter" idx="11"/>
          </p:nvPr>
        </p:nvSpPr>
        <p:spPr/>
        <p:txBody>
          <a:bodyPr/>
          <a:lstStyle/>
          <a:p>
            <a:pPr>
              <a:defRPr/>
            </a:pPr>
            <a:r>
              <a:rPr lang="en-US"/>
              <a:t>Secure Software Development: A Security Programmer’s Guide, First Edition</a:t>
            </a:r>
          </a:p>
        </p:txBody>
      </p:sp>
      <p:sp>
        <p:nvSpPr>
          <p:cNvPr id="31747" name="Slide Number Placeholder 4">
            <a:extLst>
              <a:ext uri="{FF2B5EF4-FFF2-40B4-BE49-F238E27FC236}">
                <a16:creationId xmlns:a16="http://schemas.microsoft.com/office/drawing/2014/main" id="{50DEB9E5-485E-8F8B-3164-3AD7B89A4BD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0949169-D961-495A-BAF6-F82C4EB068CB}" type="slidenum">
              <a:rPr lang="en-US" altLang="en-US" sz="1400"/>
              <a:pPr>
                <a:spcBef>
                  <a:spcPct val="0"/>
                </a:spcBef>
                <a:buFontTx/>
                <a:buNone/>
              </a:pPr>
              <a:t>19</a:t>
            </a:fld>
            <a:endParaRPr lang="en-US" altLang="en-US" sz="1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useBgFill="1">
        <p:nvSpPr>
          <p:cNvPr id="31754" name="Rectangle 31753">
            <a:extLst>
              <a:ext uri="{FF2B5EF4-FFF2-40B4-BE49-F238E27FC236}">
                <a16:creationId xmlns:a16="http://schemas.microsoft.com/office/drawing/2014/main" id="{7E61F402-3445-458A-9A2B-D28FD28839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756" name="Group 31755">
            <a:extLst>
              <a:ext uri="{FF2B5EF4-FFF2-40B4-BE49-F238E27FC236}">
                <a16:creationId xmlns:a16="http://schemas.microsoft.com/office/drawing/2014/main" id="{A673C096-95AE-4644-B76C-1DF1B667DC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31757" name="Picture 31756">
              <a:extLst>
                <a:ext uri="{FF2B5EF4-FFF2-40B4-BE49-F238E27FC236}">
                  <a16:creationId xmlns:a16="http://schemas.microsoft.com/office/drawing/2014/main" id="{77A91835-418B-4867-87D7-1376A57F3F7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1758" name="Rectangle 31757">
              <a:extLst>
                <a:ext uri="{FF2B5EF4-FFF2-40B4-BE49-F238E27FC236}">
                  <a16:creationId xmlns:a16="http://schemas.microsoft.com/office/drawing/2014/main" id="{65B511A1-E0EC-49FE-8068-9DA29CD00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1759" name="Picture 31758">
              <a:extLst>
                <a:ext uri="{FF2B5EF4-FFF2-40B4-BE49-F238E27FC236}">
                  <a16:creationId xmlns:a16="http://schemas.microsoft.com/office/drawing/2014/main" id="{4A61BC5F-ADA4-4DBA-9C6B-E17E0B82EC54}"/>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31760" name="Picture 31759">
              <a:extLst>
                <a:ext uri="{FF2B5EF4-FFF2-40B4-BE49-F238E27FC236}">
                  <a16:creationId xmlns:a16="http://schemas.microsoft.com/office/drawing/2014/main" id="{1CE6F7D2-ACED-47D2-BEFD-FB26F75374A1}"/>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31748" name="Rectangle 2">
            <a:extLst>
              <a:ext uri="{FF2B5EF4-FFF2-40B4-BE49-F238E27FC236}">
                <a16:creationId xmlns:a16="http://schemas.microsoft.com/office/drawing/2014/main" id="{EB9067EE-EAE5-D507-C59A-81D7F7E95478}"/>
              </a:ext>
            </a:extLst>
          </p:cNvPr>
          <p:cNvSpPr>
            <a:spLocks noGrp="1" noChangeArrowheads="1"/>
          </p:cNvSpPr>
          <p:nvPr>
            <p:ph type="title"/>
          </p:nvPr>
        </p:nvSpPr>
        <p:spPr>
          <a:xfrm>
            <a:off x="1295402" y="982132"/>
            <a:ext cx="3660056" cy="1325373"/>
          </a:xfrm>
        </p:spPr>
        <p:txBody>
          <a:bodyPr anchor="b">
            <a:normAutofit/>
          </a:bodyPr>
          <a:lstStyle/>
          <a:p>
            <a:pPr eaLnBrk="1" hangingPunct="1">
              <a:lnSpc>
                <a:spcPct val="90000"/>
              </a:lnSpc>
            </a:pPr>
            <a:r>
              <a:rPr lang="en-US" altLang="en-US" sz="2800">
                <a:solidFill>
                  <a:srgbClr val="262626"/>
                </a:solidFill>
              </a:rPr>
              <a:t>Principles of Security in the organization (continued)</a:t>
            </a:r>
            <a:endParaRPr lang="en-US" altLang="en-US" sz="2800" b="1">
              <a:solidFill>
                <a:srgbClr val="262626"/>
              </a:solidFill>
            </a:endParaRPr>
          </a:p>
        </p:txBody>
      </p:sp>
      <p:cxnSp>
        <p:nvCxnSpPr>
          <p:cNvPr id="31762" name="Straight Connector 31761">
            <a:extLst>
              <a:ext uri="{FF2B5EF4-FFF2-40B4-BE49-F238E27FC236}">
                <a16:creationId xmlns:a16="http://schemas.microsoft.com/office/drawing/2014/main" id="{2BE880E9-2B86-4CDB-B5B7-308745CDD1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95401" y="2400639"/>
            <a:ext cx="3660057" cy="0"/>
          </a:xfrm>
          <a:prstGeom prst="line">
            <a:avLst/>
          </a:prstGeom>
        </p:spPr>
        <p:style>
          <a:lnRef idx="2">
            <a:schemeClr val="accent1"/>
          </a:lnRef>
          <a:fillRef idx="0">
            <a:schemeClr val="accent1"/>
          </a:fillRef>
          <a:effectRef idx="1">
            <a:schemeClr val="accent1"/>
          </a:effectRef>
          <a:fontRef idx="minor">
            <a:schemeClr val="tx1"/>
          </a:fontRef>
        </p:style>
      </p:cxnSp>
      <p:sp>
        <p:nvSpPr>
          <p:cNvPr id="31749" name="Rectangle 3">
            <a:extLst>
              <a:ext uri="{FF2B5EF4-FFF2-40B4-BE49-F238E27FC236}">
                <a16:creationId xmlns:a16="http://schemas.microsoft.com/office/drawing/2014/main" id="{16E785E1-E693-6E6E-341C-3440E3D5EE9B}"/>
              </a:ext>
            </a:extLst>
          </p:cNvPr>
          <p:cNvSpPr>
            <a:spLocks noGrp="1" noChangeArrowheads="1"/>
          </p:cNvSpPr>
          <p:nvPr>
            <p:ph idx="1"/>
          </p:nvPr>
        </p:nvSpPr>
        <p:spPr>
          <a:xfrm>
            <a:off x="1295401" y="2493774"/>
            <a:ext cx="3660057" cy="3382094"/>
          </a:xfrm>
        </p:spPr>
        <p:txBody>
          <a:bodyPr>
            <a:normAutofit/>
          </a:bodyPr>
          <a:lstStyle/>
          <a:p>
            <a:pPr algn="ctr" eaLnBrk="1" hangingPunct="1"/>
            <a:endParaRPr lang="en-US" altLang="en-US" sz="1600">
              <a:solidFill>
                <a:srgbClr val="262626"/>
              </a:solidFill>
            </a:endParaRPr>
          </a:p>
          <a:p>
            <a:pPr algn="ctr" eaLnBrk="1" hangingPunct="1"/>
            <a:endParaRPr lang="en-US" altLang="en-US" sz="1600">
              <a:solidFill>
                <a:srgbClr val="262626"/>
              </a:solidFill>
            </a:endParaRPr>
          </a:p>
          <a:p>
            <a:pPr lvl="1" algn="ctr" eaLnBrk="1" hangingPunct="1"/>
            <a:r>
              <a:rPr lang="en-US" altLang="en-US" sz="1600">
                <a:solidFill>
                  <a:srgbClr val="262626"/>
                </a:solidFill>
              </a:rPr>
              <a:t>Attack Surface Reduction</a:t>
            </a:r>
          </a:p>
        </p:txBody>
      </p:sp>
      <p:pic>
        <p:nvPicPr>
          <p:cNvPr id="3" name="Picture 2" descr="A house with a red roof&#10;&#10;Description automatically generated">
            <a:extLst>
              <a:ext uri="{FF2B5EF4-FFF2-40B4-BE49-F238E27FC236}">
                <a16:creationId xmlns:a16="http://schemas.microsoft.com/office/drawing/2014/main" id="{794FC713-BC9B-0980-68CE-0428F770BE9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18668" y="1418970"/>
            <a:ext cx="5469466" cy="4020056"/>
          </a:xfrm>
          <a:prstGeom prst="rect">
            <a:avLst/>
          </a:prstGeom>
          <a:ln w="57150" cmpd="thickThin">
            <a:solidFill>
              <a:srgbClr val="7F7F7F"/>
            </a:solidFill>
            <a:miter lim="800000"/>
          </a:ln>
        </p:spPr>
      </p:pic>
      <p:sp>
        <p:nvSpPr>
          <p:cNvPr id="4" name="Footer Placeholder 3">
            <a:extLst>
              <a:ext uri="{FF2B5EF4-FFF2-40B4-BE49-F238E27FC236}">
                <a16:creationId xmlns:a16="http://schemas.microsoft.com/office/drawing/2014/main" id="{9ECA0960-55DF-222F-F408-27FE339E6F95}"/>
              </a:ext>
            </a:extLst>
          </p:cNvPr>
          <p:cNvSpPr>
            <a:spLocks noGrp="1"/>
          </p:cNvSpPr>
          <p:nvPr>
            <p:ph type="ftr" sz="quarter" idx="11"/>
          </p:nvPr>
        </p:nvSpPr>
        <p:spPr>
          <a:xfrm>
            <a:off x="1295401" y="5969000"/>
            <a:ext cx="7305900" cy="279400"/>
          </a:xfrm>
        </p:spPr>
        <p:txBody>
          <a:bodyPr>
            <a:normAutofit/>
          </a:bodyPr>
          <a:lstStyle/>
          <a:p>
            <a:pPr>
              <a:spcAft>
                <a:spcPts val="600"/>
              </a:spcAft>
              <a:defRPr/>
            </a:pPr>
            <a:r>
              <a:rPr lang="en-US">
                <a:solidFill>
                  <a:srgbClr val="000000"/>
                </a:solidFill>
              </a:rPr>
              <a:t>Secure Software Development: A Security Programmer’s Guide, First Edition</a:t>
            </a:r>
          </a:p>
        </p:txBody>
      </p:sp>
      <p:sp>
        <p:nvSpPr>
          <p:cNvPr id="31747" name="Slide Number Placeholder 4">
            <a:extLst>
              <a:ext uri="{FF2B5EF4-FFF2-40B4-BE49-F238E27FC236}">
                <a16:creationId xmlns:a16="http://schemas.microsoft.com/office/drawing/2014/main" id="{50DEB9E5-485E-8F8B-3164-3AD7B89A4BD8}"/>
              </a:ext>
            </a:extLst>
          </p:cNvPr>
          <p:cNvSpPr>
            <a:spLocks noGrp="1" noChangeArrowheads="1"/>
          </p:cNvSpPr>
          <p:nvPr>
            <p:ph type="sldNum" sz="quarter" idx="12"/>
          </p:nvPr>
        </p:nvSpPr>
        <p:spPr>
          <a:xfrm>
            <a:off x="10353901" y="5969000"/>
            <a:ext cx="542697" cy="2794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spcBef>
                <a:spcPct val="0"/>
              </a:spcBef>
              <a:spcAft>
                <a:spcPts val="600"/>
              </a:spcAft>
              <a:buFontTx/>
              <a:buNone/>
            </a:pPr>
            <a:fld id="{C0949169-D961-495A-BAF6-F82C4EB068CB}" type="slidenum">
              <a:rPr lang="en-US" altLang="en-US" sz="1200">
                <a:solidFill>
                  <a:srgbClr val="000000"/>
                </a:solidFill>
              </a:rPr>
              <a:pPr>
                <a:lnSpc>
                  <a:spcPct val="90000"/>
                </a:lnSpc>
                <a:spcBef>
                  <a:spcPct val="0"/>
                </a:spcBef>
                <a:spcAft>
                  <a:spcPts val="600"/>
                </a:spcAft>
                <a:buFontTx/>
                <a:buNone/>
              </a:pPr>
              <a:t>20</a:t>
            </a:fld>
            <a:endParaRPr lang="en-US" altLang="en-US" sz="1200">
              <a:solidFill>
                <a:srgbClr val="000000"/>
              </a:solidFill>
            </a:endParaRPr>
          </a:p>
        </p:txBody>
      </p:sp>
    </p:spTree>
    <p:extLst>
      <p:ext uri="{BB962C8B-B14F-4D97-AF65-F5344CB8AC3E}">
        <p14:creationId xmlns:p14="http://schemas.microsoft.com/office/powerpoint/2010/main" val="7526107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useBgFill="1">
        <p:nvSpPr>
          <p:cNvPr id="31754" name="Rectangle 31753">
            <a:extLst>
              <a:ext uri="{FF2B5EF4-FFF2-40B4-BE49-F238E27FC236}">
                <a16:creationId xmlns:a16="http://schemas.microsoft.com/office/drawing/2014/main" id="{A440FBE6-72B7-43D4-A8EB-FDBC35FE56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756" name="Group 31755">
            <a:extLst>
              <a:ext uri="{FF2B5EF4-FFF2-40B4-BE49-F238E27FC236}">
                <a16:creationId xmlns:a16="http://schemas.microsoft.com/office/drawing/2014/main" id="{647B8492-BC4D-4046-B35A-C38E034940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31757" name="Picture 31756">
              <a:extLst>
                <a:ext uri="{FF2B5EF4-FFF2-40B4-BE49-F238E27FC236}">
                  <a16:creationId xmlns:a16="http://schemas.microsoft.com/office/drawing/2014/main" id="{47264A7B-BD07-443B-B4AE-B7D112274D0D}"/>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1758" name="Rectangle 31757">
              <a:extLst>
                <a:ext uri="{FF2B5EF4-FFF2-40B4-BE49-F238E27FC236}">
                  <a16:creationId xmlns:a16="http://schemas.microsoft.com/office/drawing/2014/main" id="{8D9B85B4-ACC6-412B-BC6B-2163BCCDFB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1759" name="Picture 31758">
              <a:extLst>
                <a:ext uri="{FF2B5EF4-FFF2-40B4-BE49-F238E27FC236}">
                  <a16:creationId xmlns:a16="http://schemas.microsoft.com/office/drawing/2014/main" id="{17D5E57D-F913-44D3-9AF3-FCDFAE64F7E9}"/>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31760" name="Picture 31759">
              <a:extLst>
                <a:ext uri="{FF2B5EF4-FFF2-40B4-BE49-F238E27FC236}">
                  <a16:creationId xmlns:a16="http://schemas.microsoft.com/office/drawing/2014/main" id="{BCF01E4E-4102-455A-BC41-D5F848B94177}"/>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31748" name="Rectangle 2">
            <a:extLst>
              <a:ext uri="{FF2B5EF4-FFF2-40B4-BE49-F238E27FC236}">
                <a16:creationId xmlns:a16="http://schemas.microsoft.com/office/drawing/2014/main" id="{EB9067EE-EAE5-D507-C59A-81D7F7E95478}"/>
              </a:ext>
            </a:extLst>
          </p:cNvPr>
          <p:cNvSpPr>
            <a:spLocks noGrp="1" noChangeArrowheads="1"/>
          </p:cNvSpPr>
          <p:nvPr>
            <p:ph type="title"/>
          </p:nvPr>
        </p:nvSpPr>
        <p:spPr>
          <a:xfrm>
            <a:off x="1295402" y="982132"/>
            <a:ext cx="3660056" cy="1325373"/>
          </a:xfrm>
        </p:spPr>
        <p:txBody>
          <a:bodyPr anchor="b">
            <a:normAutofit/>
          </a:bodyPr>
          <a:lstStyle/>
          <a:p>
            <a:pPr eaLnBrk="1" hangingPunct="1"/>
            <a:r>
              <a:rPr lang="en-US" altLang="en-US" sz="2400"/>
              <a:t>Principles of Security in the organization (continued)</a:t>
            </a:r>
            <a:endParaRPr lang="en-US" altLang="en-US" sz="2400" b="1"/>
          </a:p>
        </p:txBody>
      </p:sp>
      <p:cxnSp>
        <p:nvCxnSpPr>
          <p:cNvPr id="31762" name="Straight Connector 31761">
            <a:extLst>
              <a:ext uri="{FF2B5EF4-FFF2-40B4-BE49-F238E27FC236}">
                <a16:creationId xmlns:a16="http://schemas.microsoft.com/office/drawing/2014/main" id="{16652DC1-CA18-4263-AC06-BAB0B05EC78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95401" y="2400639"/>
            <a:ext cx="3660057" cy="0"/>
          </a:xfrm>
          <a:prstGeom prst="line">
            <a:avLst/>
          </a:prstGeom>
        </p:spPr>
        <p:style>
          <a:lnRef idx="2">
            <a:schemeClr val="accent1"/>
          </a:lnRef>
          <a:fillRef idx="0">
            <a:schemeClr val="accent1"/>
          </a:fillRef>
          <a:effectRef idx="1">
            <a:schemeClr val="accent1"/>
          </a:effectRef>
          <a:fontRef idx="minor">
            <a:schemeClr val="tx1"/>
          </a:fontRef>
        </p:style>
      </p:cxnSp>
      <p:sp>
        <p:nvSpPr>
          <p:cNvPr id="31749" name="Rectangle 3">
            <a:extLst>
              <a:ext uri="{FF2B5EF4-FFF2-40B4-BE49-F238E27FC236}">
                <a16:creationId xmlns:a16="http://schemas.microsoft.com/office/drawing/2014/main" id="{16E785E1-E693-6E6E-341C-3440E3D5EE9B}"/>
              </a:ext>
            </a:extLst>
          </p:cNvPr>
          <p:cNvSpPr>
            <a:spLocks noGrp="1" noChangeArrowheads="1"/>
          </p:cNvSpPr>
          <p:nvPr>
            <p:ph idx="1"/>
          </p:nvPr>
        </p:nvSpPr>
        <p:spPr>
          <a:xfrm>
            <a:off x="1295401" y="2493774"/>
            <a:ext cx="3660057" cy="3382094"/>
          </a:xfrm>
        </p:spPr>
        <p:txBody>
          <a:bodyPr>
            <a:normAutofit/>
          </a:bodyPr>
          <a:lstStyle/>
          <a:p>
            <a:pPr algn="ctr" eaLnBrk="1" hangingPunct="1"/>
            <a:endParaRPr lang="en-US" altLang="en-US" sz="1600"/>
          </a:p>
          <a:p>
            <a:pPr algn="ctr" eaLnBrk="1" hangingPunct="1"/>
            <a:endParaRPr lang="en-US" altLang="en-US" sz="1600"/>
          </a:p>
          <a:p>
            <a:pPr lvl="1" algn="ctr" eaLnBrk="1" hangingPunct="1"/>
            <a:r>
              <a:rPr lang="en-US" altLang="en-US" sz="1600"/>
              <a:t>Attack Surface Reduction</a:t>
            </a:r>
          </a:p>
        </p:txBody>
      </p:sp>
      <p:pic>
        <p:nvPicPr>
          <p:cNvPr id="3" name="Picture 2" descr="A diagram of a house&#10;&#10;Description automatically generated">
            <a:extLst>
              <a:ext uri="{FF2B5EF4-FFF2-40B4-BE49-F238E27FC236}">
                <a16:creationId xmlns:a16="http://schemas.microsoft.com/office/drawing/2014/main" id="{C90274F0-A483-5630-307C-E4C459FC0DBB}"/>
              </a:ext>
            </a:extLst>
          </p:cNvPr>
          <p:cNvPicPr>
            <a:picLocks noChangeAspect="1"/>
          </p:cNvPicPr>
          <p:nvPr/>
        </p:nvPicPr>
        <p:blipFill rotWithShape="1">
          <a:blip r:embed="rId6">
            <a:extLst>
              <a:ext uri="{28A0092B-C50C-407E-A947-70E740481C1C}">
                <a14:useLocalDpi xmlns:a14="http://schemas.microsoft.com/office/drawing/2010/main" val="0"/>
              </a:ext>
            </a:extLst>
          </a:blip>
          <a:srcRect l="8667" r="2761" b="2"/>
          <a:stretch/>
        </p:blipFill>
        <p:spPr>
          <a:xfrm>
            <a:off x="5418668" y="982131"/>
            <a:ext cx="5469466" cy="4893735"/>
          </a:xfrm>
          <a:prstGeom prst="rect">
            <a:avLst/>
          </a:prstGeom>
          <a:ln w="57150" cmpd="thickThin">
            <a:solidFill>
              <a:schemeClr val="tx1">
                <a:lumMod val="50000"/>
                <a:lumOff val="50000"/>
              </a:schemeClr>
            </a:solidFill>
            <a:miter lim="800000"/>
          </a:ln>
        </p:spPr>
      </p:pic>
      <p:sp>
        <p:nvSpPr>
          <p:cNvPr id="4" name="Footer Placeholder 3">
            <a:extLst>
              <a:ext uri="{FF2B5EF4-FFF2-40B4-BE49-F238E27FC236}">
                <a16:creationId xmlns:a16="http://schemas.microsoft.com/office/drawing/2014/main" id="{9ECA0960-55DF-222F-F408-27FE339E6F95}"/>
              </a:ext>
            </a:extLst>
          </p:cNvPr>
          <p:cNvSpPr>
            <a:spLocks noGrp="1"/>
          </p:cNvSpPr>
          <p:nvPr>
            <p:ph type="ftr" sz="quarter" idx="11"/>
          </p:nvPr>
        </p:nvSpPr>
        <p:spPr>
          <a:xfrm>
            <a:off x="1295401" y="5969000"/>
            <a:ext cx="7305900" cy="279400"/>
          </a:xfrm>
        </p:spPr>
        <p:txBody>
          <a:bodyPr>
            <a:normAutofit/>
          </a:bodyPr>
          <a:lstStyle/>
          <a:p>
            <a:pPr>
              <a:spcAft>
                <a:spcPts val="600"/>
              </a:spcAft>
              <a:defRPr/>
            </a:pPr>
            <a:r>
              <a:rPr lang="en-US"/>
              <a:t>Secure Software Development: A Security Programmer’s Guide, First Edition</a:t>
            </a:r>
          </a:p>
        </p:txBody>
      </p:sp>
      <p:sp>
        <p:nvSpPr>
          <p:cNvPr id="31747" name="Slide Number Placeholder 4">
            <a:extLst>
              <a:ext uri="{FF2B5EF4-FFF2-40B4-BE49-F238E27FC236}">
                <a16:creationId xmlns:a16="http://schemas.microsoft.com/office/drawing/2014/main" id="{50DEB9E5-485E-8F8B-3164-3AD7B89A4BD8}"/>
              </a:ext>
            </a:extLst>
          </p:cNvPr>
          <p:cNvSpPr>
            <a:spLocks noGrp="1" noChangeArrowheads="1"/>
          </p:cNvSpPr>
          <p:nvPr>
            <p:ph type="sldNum" sz="quarter" idx="12"/>
          </p:nvPr>
        </p:nvSpPr>
        <p:spPr>
          <a:xfrm>
            <a:off x="10353901" y="5969000"/>
            <a:ext cx="542697" cy="2794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spcBef>
                <a:spcPct val="0"/>
              </a:spcBef>
              <a:spcAft>
                <a:spcPts val="600"/>
              </a:spcAft>
              <a:buFontTx/>
              <a:buNone/>
            </a:pPr>
            <a:fld id="{C0949169-D961-495A-BAF6-F82C4EB068CB}" type="slidenum">
              <a:rPr lang="en-US" altLang="en-US" sz="1200"/>
              <a:pPr>
                <a:lnSpc>
                  <a:spcPct val="90000"/>
                </a:lnSpc>
                <a:spcBef>
                  <a:spcPct val="0"/>
                </a:spcBef>
                <a:spcAft>
                  <a:spcPts val="600"/>
                </a:spcAft>
                <a:buFontTx/>
                <a:buNone/>
              </a:pPr>
              <a:t>21</a:t>
            </a:fld>
            <a:endParaRPr lang="en-US" altLang="en-US" sz="1200"/>
          </a:p>
        </p:txBody>
      </p:sp>
    </p:spTree>
    <p:extLst>
      <p:ext uri="{BB962C8B-B14F-4D97-AF65-F5344CB8AC3E}">
        <p14:creationId xmlns:p14="http://schemas.microsoft.com/office/powerpoint/2010/main" val="36327266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useBgFill="1">
        <p:nvSpPr>
          <p:cNvPr id="31754" name="Rectangle 31753">
            <a:extLst>
              <a:ext uri="{FF2B5EF4-FFF2-40B4-BE49-F238E27FC236}">
                <a16:creationId xmlns:a16="http://schemas.microsoft.com/office/drawing/2014/main" id="{7E61F402-3445-458A-9A2B-D28FD28839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756" name="Group 31755">
            <a:extLst>
              <a:ext uri="{FF2B5EF4-FFF2-40B4-BE49-F238E27FC236}">
                <a16:creationId xmlns:a16="http://schemas.microsoft.com/office/drawing/2014/main" id="{A673C096-95AE-4644-B76C-1DF1B667DC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31757" name="Picture 31756">
              <a:extLst>
                <a:ext uri="{FF2B5EF4-FFF2-40B4-BE49-F238E27FC236}">
                  <a16:creationId xmlns:a16="http://schemas.microsoft.com/office/drawing/2014/main" id="{77A91835-418B-4867-87D7-1376A57F3F7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1758" name="Rectangle 31757">
              <a:extLst>
                <a:ext uri="{FF2B5EF4-FFF2-40B4-BE49-F238E27FC236}">
                  <a16:creationId xmlns:a16="http://schemas.microsoft.com/office/drawing/2014/main" id="{65B511A1-E0EC-49FE-8068-9DA29CD00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1759" name="Picture 31758">
              <a:extLst>
                <a:ext uri="{FF2B5EF4-FFF2-40B4-BE49-F238E27FC236}">
                  <a16:creationId xmlns:a16="http://schemas.microsoft.com/office/drawing/2014/main" id="{4A61BC5F-ADA4-4DBA-9C6B-E17E0B82EC54}"/>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31760" name="Picture 31759">
              <a:extLst>
                <a:ext uri="{FF2B5EF4-FFF2-40B4-BE49-F238E27FC236}">
                  <a16:creationId xmlns:a16="http://schemas.microsoft.com/office/drawing/2014/main" id="{1CE6F7D2-ACED-47D2-BEFD-FB26F75374A1}"/>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31748" name="Rectangle 2">
            <a:extLst>
              <a:ext uri="{FF2B5EF4-FFF2-40B4-BE49-F238E27FC236}">
                <a16:creationId xmlns:a16="http://schemas.microsoft.com/office/drawing/2014/main" id="{EB9067EE-EAE5-D507-C59A-81D7F7E95478}"/>
              </a:ext>
            </a:extLst>
          </p:cNvPr>
          <p:cNvSpPr>
            <a:spLocks noGrp="1" noChangeArrowheads="1"/>
          </p:cNvSpPr>
          <p:nvPr>
            <p:ph type="title"/>
          </p:nvPr>
        </p:nvSpPr>
        <p:spPr>
          <a:xfrm>
            <a:off x="1295402" y="982132"/>
            <a:ext cx="3660056" cy="1325373"/>
          </a:xfrm>
        </p:spPr>
        <p:txBody>
          <a:bodyPr anchor="b">
            <a:normAutofit/>
          </a:bodyPr>
          <a:lstStyle/>
          <a:p>
            <a:pPr eaLnBrk="1" hangingPunct="1">
              <a:lnSpc>
                <a:spcPct val="90000"/>
              </a:lnSpc>
            </a:pPr>
            <a:r>
              <a:rPr lang="en-US" altLang="en-US" sz="2800">
                <a:solidFill>
                  <a:srgbClr val="262626"/>
                </a:solidFill>
              </a:rPr>
              <a:t>Principles of Security in the organization (continued)</a:t>
            </a:r>
            <a:endParaRPr lang="en-US" altLang="en-US" sz="2800" b="1">
              <a:solidFill>
                <a:srgbClr val="262626"/>
              </a:solidFill>
            </a:endParaRPr>
          </a:p>
        </p:txBody>
      </p:sp>
      <p:cxnSp>
        <p:nvCxnSpPr>
          <p:cNvPr id="31762" name="Straight Connector 31761">
            <a:extLst>
              <a:ext uri="{FF2B5EF4-FFF2-40B4-BE49-F238E27FC236}">
                <a16:creationId xmlns:a16="http://schemas.microsoft.com/office/drawing/2014/main" id="{2BE880E9-2B86-4CDB-B5B7-308745CDD1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95401" y="2400639"/>
            <a:ext cx="3660057" cy="0"/>
          </a:xfrm>
          <a:prstGeom prst="line">
            <a:avLst/>
          </a:prstGeom>
        </p:spPr>
        <p:style>
          <a:lnRef idx="2">
            <a:schemeClr val="accent1"/>
          </a:lnRef>
          <a:fillRef idx="0">
            <a:schemeClr val="accent1"/>
          </a:fillRef>
          <a:effectRef idx="1">
            <a:schemeClr val="accent1"/>
          </a:effectRef>
          <a:fontRef idx="minor">
            <a:schemeClr val="tx1"/>
          </a:fontRef>
        </p:style>
      </p:cxnSp>
      <p:sp>
        <p:nvSpPr>
          <p:cNvPr id="31749" name="Rectangle 3">
            <a:extLst>
              <a:ext uri="{FF2B5EF4-FFF2-40B4-BE49-F238E27FC236}">
                <a16:creationId xmlns:a16="http://schemas.microsoft.com/office/drawing/2014/main" id="{16E785E1-E693-6E6E-341C-3440E3D5EE9B}"/>
              </a:ext>
            </a:extLst>
          </p:cNvPr>
          <p:cNvSpPr>
            <a:spLocks noGrp="1" noChangeArrowheads="1"/>
          </p:cNvSpPr>
          <p:nvPr>
            <p:ph idx="1"/>
          </p:nvPr>
        </p:nvSpPr>
        <p:spPr>
          <a:xfrm>
            <a:off x="1295401" y="2493774"/>
            <a:ext cx="3660057" cy="3382094"/>
          </a:xfrm>
        </p:spPr>
        <p:txBody>
          <a:bodyPr>
            <a:normAutofit/>
          </a:bodyPr>
          <a:lstStyle/>
          <a:p>
            <a:pPr algn="ctr" eaLnBrk="1" hangingPunct="1"/>
            <a:endParaRPr lang="en-US" altLang="en-US" sz="1600">
              <a:solidFill>
                <a:srgbClr val="262626"/>
              </a:solidFill>
            </a:endParaRPr>
          </a:p>
          <a:p>
            <a:pPr algn="ctr" eaLnBrk="1" hangingPunct="1"/>
            <a:endParaRPr lang="en-US" altLang="en-US" sz="1600">
              <a:solidFill>
                <a:srgbClr val="262626"/>
              </a:solidFill>
            </a:endParaRPr>
          </a:p>
          <a:p>
            <a:pPr lvl="1" algn="ctr" eaLnBrk="1" hangingPunct="1"/>
            <a:r>
              <a:rPr lang="en-US" altLang="en-US" sz="1600">
                <a:solidFill>
                  <a:srgbClr val="262626"/>
                </a:solidFill>
              </a:rPr>
              <a:t>Attack Surface Reduction</a:t>
            </a:r>
          </a:p>
        </p:txBody>
      </p:sp>
      <p:pic>
        <p:nvPicPr>
          <p:cNvPr id="5" name="Picture 4" descr="A house with a red roof&#10;&#10;Description automatically generated">
            <a:extLst>
              <a:ext uri="{FF2B5EF4-FFF2-40B4-BE49-F238E27FC236}">
                <a16:creationId xmlns:a16="http://schemas.microsoft.com/office/drawing/2014/main" id="{7FD1933E-EDFF-1D47-94F1-5ACABE5261D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64122" y="982131"/>
            <a:ext cx="5178557" cy="4893735"/>
          </a:xfrm>
          <a:prstGeom prst="rect">
            <a:avLst/>
          </a:prstGeom>
          <a:ln w="57150" cmpd="thickThin">
            <a:solidFill>
              <a:srgbClr val="7F7F7F"/>
            </a:solidFill>
            <a:miter lim="800000"/>
          </a:ln>
        </p:spPr>
      </p:pic>
      <p:sp>
        <p:nvSpPr>
          <p:cNvPr id="4" name="Footer Placeholder 3">
            <a:extLst>
              <a:ext uri="{FF2B5EF4-FFF2-40B4-BE49-F238E27FC236}">
                <a16:creationId xmlns:a16="http://schemas.microsoft.com/office/drawing/2014/main" id="{9ECA0960-55DF-222F-F408-27FE339E6F95}"/>
              </a:ext>
            </a:extLst>
          </p:cNvPr>
          <p:cNvSpPr>
            <a:spLocks noGrp="1"/>
          </p:cNvSpPr>
          <p:nvPr>
            <p:ph type="ftr" sz="quarter" idx="11"/>
          </p:nvPr>
        </p:nvSpPr>
        <p:spPr>
          <a:xfrm>
            <a:off x="1295401" y="5969000"/>
            <a:ext cx="7305900" cy="279400"/>
          </a:xfrm>
        </p:spPr>
        <p:txBody>
          <a:bodyPr>
            <a:normAutofit/>
          </a:bodyPr>
          <a:lstStyle/>
          <a:p>
            <a:pPr>
              <a:spcAft>
                <a:spcPts val="600"/>
              </a:spcAft>
              <a:defRPr/>
            </a:pPr>
            <a:r>
              <a:rPr lang="en-US">
                <a:solidFill>
                  <a:srgbClr val="000000"/>
                </a:solidFill>
              </a:rPr>
              <a:t>Secure Software Development: A Security Programmer’s Guide, First Edition</a:t>
            </a:r>
          </a:p>
        </p:txBody>
      </p:sp>
      <p:sp>
        <p:nvSpPr>
          <p:cNvPr id="31747" name="Slide Number Placeholder 4">
            <a:extLst>
              <a:ext uri="{FF2B5EF4-FFF2-40B4-BE49-F238E27FC236}">
                <a16:creationId xmlns:a16="http://schemas.microsoft.com/office/drawing/2014/main" id="{50DEB9E5-485E-8F8B-3164-3AD7B89A4BD8}"/>
              </a:ext>
            </a:extLst>
          </p:cNvPr>
          <p:cNvSpPr>
            <a:spLocks noGrp="1" noChangeArrowheads="1"/>
          </p:cNvSpPr>
          <p:nvPr>
            <p:ph type="sldNum" sz="quarter" idx="12"/>
          </p:nvPr>
        </p:nvSpPr>
        <p:spPr>
          <a:xfrm>
            <a:off x="10353901" y="5969000"/>
            <a:ext cx="542697" cy="2794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spcBef>
                <a:spcPct val="0"/>
              </a:spcBef>
              <a:spcAft>
                <a:spcPts val="600"/>
              </a:spcAft>
              <a:buFontTx/>
              <a:buNone/>
            </a:pPr>
            <a:fld id="{C0949169-D961-495A-BAF6-F82C4EB068CB}" type="slidenum">
              <a:rPr lang="en-US" altLang="en-US" sz="1200">
                <a:solidFill>
                  <a:srgbClr val="000000"/>
                </a:solidFill>
              </a:rPr>
              <a:pPr>
                <a:lnSpc>
                  <a:spcPct val="90000"/>
                </a:lnSpc>
                <a:spcBef>
                  <a:spcPct val="0"/>
                </a:spcBef>
                <a:spcAft>
                  <a:spcPts val="600"/>
                </a:spcAft>
                <a:buFontTx/>
                <a:buNone/>
              </a:pPr>
              <a:t>22</a:t>
            </a:fld>
            <a:endParaRPr lang="en-US" altLang="en-US" sz="1200">
              <a:solidFill>
                <a:srgbClr val="000000"/>
              </a:solidFill>
            </a:endParaRPr>
          </a:p>
        </p:txBody>
      </p:sp>
    </p:spTree>
    <p:extLst>
      <p:ext uri="{BB962C8B-B14F-4D97-AF65-F5344CB8AC3E}">
        <p14:creationId xmlns:p14="http://schemas.microsoft.com/office/powerpoint/2010/main" val="34335335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useBgFill="1">
        <p:nvSpPr>
          <p:cNvPr id="31754" name="Rectangle 31753">
            <a:extLst>
              <a:ext uri="{FF2B5EF4-FFF2-40B4-BE49-F238E27FC236}">
                <a16:creationId xmlns:a16="http://schemas.microsoft.com/office/drawing/2014/main" id="{A440FBE6-72B7-43D4-A8EB-FDBC35FE56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756" name="Group 31755">
            <a:extLst>
              <a:ext uri="{FF2B5EF4-FFF2-40B4-BE49-F238E27FC236}">
                <a16:creationId xmlns:a16="http://schemas.microsoft.com/office/drawing/2014/main" id="{647B8492-BC4D-4046-B35A-C38E034940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31757" name="Picture 31756">
              <a:extLst>
                <a:ext uri="{FF2B5EF4-FFF2-40B4-BE49-F238E27FC236}">
                  <a16:creationId xmlns:a16="http://schemas.microsoft.com/office/drawing/2014/main" id="{47264A7B-BD07-443B-B4AE-B7D112274D0D}"/>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1758" name="Rectangle 31757">
              <a:extLst>
                <a:ext uri="{FF2B5EF4-FFF2-40B4-BE49-F238E27FC236}">
                  <a16:creationId xmlns:a16="http://schemas.microsoft.com/office/drawing/2014/main" id="{8D9B85B4-ACC6-412B-BC6B-2163BCCDFB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1759" name="Picture 31758">
              <a:extLst>
                <a:ext uri="{FF2B5EF4-FFF2-40B4-BE49-F238E27FC236}">
                  <a16:creationId xmlns:a16="http://schemas.microsoft.com/office/drawing/2014/main" id="{17D5E57D-F913-44D3-9AF3-FCDFAE64F7E9}"/>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31760" name="Picture 31759">
              <a:extLst>
                <a:ext uri="{FF2B5EF4-FFF2-40B4-BE49-F238E27FC236}">
                  <a16:creationId xmlns:a16="http://schemas.microsoft.com/office/drawing/2014/main" id="{BCF01E4E-4102-455A-BC41-D5F848B94177}"/>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31748" name="Rectangle 2">
            <a:extLst>
              <a:ext uri="{FF2B5EF4-FFF2-40B4-BE49-F238E27FC236}">
                <a16:creationId xmlns:a16="http://schemas.microsoft.com/office/drawing/2014/main" id="{EB9067EE-EAE5-D507-C59A-81D7F7E95478}"/>
              </a:ext>
            </a:extLst>
          </p:cNvPr>
          <p:cNvSpPr>
            <a:spLocks noGrp="1" noChangeArrowheads="1"/>
          </p:cNvSpPr>
          <p:nvPr>
            <p:ph type="title"/>
          </p:nvPr>
        </p:nvSpPr>
        <p:spPr>
          <a:xfrm>
            <a:off x="1295402" y="982132"/>
            <a:ext cx="3660056" cy="1325373"/>
          </a:xfrm>
        </p:spPr>
        <p:txBody>
          <a:bodyPr anchor="b">
            <a:normAutofit/>
          </a:bodyPr>
          <a:lstStyle/>
          <a:p>
            <a:pPr eaLnBrk="1" hangingPunct="1"/>
            <a:r>
              <a:rPr lang="en-US" altLang="en-US" sz="2400"/>
              <a:t>Principles of Security in the organization (continued)</a:t>
            </a:r>
            <a:endParaRPr lang="en-US" altLang="en-US" sz="2400" b="1"/>
          </a:p>
        </p:txBody>
      </p:sp>
      <p:cxnSp>
        <p:nvCxnSpPr>
          <p:cNvPr id="31762" name="Straight Connector 31761">
            <a:extLst>
              <a:ext uri="{FF2B5EF4-FFF2-40B4-BE49-F238E27FC236}">
                <a16:creationId xmlns:a16="http://schemas.microsoft.com/office/drawing/2014/main" id="{16652DC1-CA18-4263-AC06-BAB0B05EC78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95401" y="2400639"/>
            <a:ext cx="3660057" cy="0"/>
          </a:xfrm>
          <a:prstGeom prst="line">
            <a:avLst/>
          </a:prstGeom>
        </p:spPr>
        <p:style>
          <a:lnRef idx="2">
            <a:schemeClr val="accent1"/>
          </a:lnRef>
          <a:fillRef idx="0">
            <a:schemeClr val="accent1"/>
          </a:fillRef>
          <a:effectRef idx="1">
            <a:schemeClr val="accent1"/>
          </a:effectRef>
          <a:fontRef idx="minor">
            <a:schemeClr val="tx1"/>
          </a:fontRef>
        </p:style>
      </p:cxnSp>
      <p:sp>
        <p:nvSpPr>
          <p:cNvPr id="31749" name="Rectangle 3">
            <a:extLst>
              <a:ext uri="{FF2B5EF4-FFF2-40B4-BE49-F238E27FC236}">
                <a16:creationId xmlns:a16="http://schemas.microsoft.com/office/drawing/2014/main" id="{16E785E1-E693-6E6E-341C-3440E3D5EE9B}"/>
              </a:ext>
            </a:extLst>
          </p:cNvPr>
          <p:cNvSpPr>
            <a:spLocks noGrp="1" noChangeArrowheads="1"/>
          </p:cNvSpPr>
          <p:nvPr>
            <p:ph idx="1"/>
          </p:nvPr>
        </p:nvSpPr>
        <p:spPr>
          <a:xfrm>
            <a:off x="1295401" y="2493774"/>
            <a:ext cx="3660057" cy="3382094"/>
          </a:xfrm>
        </p:spPr>
        <p:txBody>
          <a:bodyPr>
            <a:normAutofit/>
          </a:bodyPr>
          <a:lstStyle/>
          <a:p>
            <a:pPr algn="ctr" eaLnBrk="1" hangingPunct="1"/>
            <a:endParaRPr lang="en-US" altLang="en-US" sz="1600"/>
          </a:p>
          <a:p>
            <a:pPr algn="ctr" eaLnBrk="1" hangingPunct="1"/>
            <a:endParaRPr lang="en-US" altLang="en-US" sz="1600"/>
          </a:p>
          <a:p>
            <a:pPr lvl="1" algn="ctr" eaLnBrk="1" hangingPunct="1"/>
            <a:r>
              <a:rPr lang="en-US" altLang="en-US" sz="1600"/>
              <a:t>Attack Surface Reduction</a:t>
            </a:r>
          </a:p>
        </p:txBody>
      </p:sp>
      <p:pic>
        <p:nvPicPr>
          <p:cNvPr id="3" name="Picture 2" descr="A house with a red roof&#10;&#10;Description automatically generated">
            <a:extLst>
              <a:ext uri="{FF2B5EF4-FFF2-40B4-BE49-F238E27FC236}">
                <a16:creationId xmlns:a16="http://schemas.microsoft.com/office/drawing/2014/main" id="{E3B62A02-C396-BDFC-1923-1B2CFA7EB93F}"/>
              </a:ext>
            </a:extLst>
          </p:cNvPr>
          <p:cNvPicPr>
            <a:picLocks noChangeAspect="1"/>
          </p:cNvPicPr>
          <p:nvPr/>
        </p:nvPicPr>
        <p:blipFill rotWithShape="1">
          <a:blip r:embed="rId6">
            <a:extLst>
              <a:ext uri="{28A0092B-C50C-407E-A947-70E740481C1C}">
                <a14:useLocalDpi xmlns:a14="http://schemas.microsoft.com/office/drawing/2010/main" val="0"/>
              </a:ext>
            </a:extLst>
          </a:blip>
          <a:srcRect l="5904" r="1893" b="3"/>
          <a:stretch/>
        </p:blipFill>
        <p:spPr>
          <a:xfrm>
            <a:off x="5418668" y="982131"/>
            <a:ext cx="5469466" cy="4893735"/>
          </a:xfrm>
          <a:prstGeom prst="rect">
            <a:avLst/>
          </a:prstGeom>
          <a:ln w="57150" cmpd="thickThin">
            <a:solidFill>
              <a:schemeClr val="tx1">
                <a:lumMod val="50000"/>
                <a:lumOff val="50000"/>
              </a:schemeClr>
            </a:solidFill>
            <a:miter lim="800000"/>
          </a:ln>
        </p:spPr>
      </p:pic>
      <p:sp>
        <p:nvSpPr>
          <p:cNvPr id="4" name="Footer Placeholder 3">
            <a:extLst>
              <a:ext uri="{FF2B5EF4-FFF2-40B4-BE49-F238E27FC236}">
                <a16:creationId xmlns:a16="http://schemas.microsoft.com/office/drawing/2014/main" id="{9ECA0960-55DF-222F-F408-27FE339E6F95}"/>
              </a:ext>
            </a:extLst>
          </p:cNvPr>
          <p:cNvSpPr>
            <a:spLocks noGrp="1"/>
          </p:cNvSpPr>
          <p:nvPr>
            <p:ph type="ftr" sz="quarter" idx="11"/>
          </p:nvPr>
        </p:nvSpPr>
        <p:spPr>
          <a:xfrm>
            <a:off x="1295401" y="5969000"/>
            <a:ext cx="7305900" cy="279400"/>
          </a:xfrm>
        </p:spPr>
        <p:txBody>
          <a:bodyPr>
            <a:normAutofit/>
          </a:bodyPr>
          <a:lstStyle/>
          <a:p>
            <a:pPr>
              <a:spcAft>
                <a:spcPts val="600"/>
              </a:spcAft>
              <a:defRPr/>
            </a:pPr>
            <a:r>
              <a:rPr lang="en-US"/>
              <a:t>Secure Software Development: A Security Programmer’s Guide, First Edition</a:t>
            </a:r>
          </a:p>
        </p:txBody>
      </p:sp>
      <p:sp>
        <p:nvSpPr>
          <p:cNvPr id="31747" name="Slide Number Placeholder 4">
            <a:extLst>
              <a:ext uri="{FF2B5EF4-FFF2-40B4-BE49-F238E27FC236}">
                <a16:creationId xmlns:a16="http://schemas.microsoft.com/office/drawing/2014/main" id="{50DEB9E5-485E-8F8B-3164-3AD7B89A4BD8}"/>
              </a:ext>
            </a:extLst>
          </p:cNvPr>
          <p:cNvSpPr>
            <a:spLocks noGrp="1" noChangeArrowheads="1"/>
          </p:cNvSpPr>
          <p:nvPr>
            <p:ph type="sldNum" sz="quarter" idx="12"/>
          </p:nvPr>
        </p:nvSpPr>
        <p:spPr>
          <a:xfrm>
            <a:off x="10353901" y="5969000"/>
            <a:ext cx="542697" cy="2794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spcBef>
                <a:spcPct val="0"/>
              </a:spcBef>
              <a:spcAft>
                <a:spcPts val="600"/>
              </a:spcAft>
              <a:buFontTx/>
              <a:buNone/>
            </a:pPr>
            <a:fld id="{C0949169-D961-495A-BAF6-F82C4EB068CB}" type="slidenum">
              <a:rPr lang="en-US" altLang="en-US" sz="1200"/>
              <a:pPr>
                <a:lnSpc>
                  <a:spcPct val="90000"/>
                </a:lnSpc>
                <a:spcBef>
                  <a:spcPct val="0"/>
                </a:spcBef>
                <a:spcAft>
                  <a:spcPts val="600"/>
                </a:spcAft>
                <a:buFontTx/>
                <a:buNone/>
              </a:pPr>
              <a:t>23</a:t>
            </a:fld>
            <a:endParaRPr lang="en-US" altLang="en-US" sz="1200"/>
          </a:p>
        </p:txBody>
      </p:sp>
    </p:spTree>
    <p:extLst>
      <p:ext uri="{BB962C8B-B14F-4D97-AF65-F5344CB8AC3E}">
        <p14:creationId xmlns:p14="http://schemas.microsoft.com/office/powerpoint/2010/main" val="34499168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a:extLst>
              <a:ext uri="{FF2B5EF4-FFF2-40B4-BE49-F238E27FC236}">
                <a16:creationId xmlns:a16="http://schemas.microsoft.com/office/drawing/2014/main" id="{EB9067EE-EAE5-D507-C59A-81D7F7E95478}"/>
              </a:ext>
            </a:extLst>
          </p:cNvPr>
          <p:cNvSpPr>
            <a:spLocks noGrp="1" noChangeArrowheads="1"/>
          </p:cNvSpPr>
          <p:nvPr>
            <p:ph type="title"/>
          </p:nvPr>
        </p:nvSpPr>
        <p:spPr/>
        <p:txBody>
          <a:bodyPr>
            <a:normAutofit fontScale="90000"/>
          </a:bodyPr>
          <a:lstStyle/>
          <a:p>
            <a:pPr eaLnBrk="1" hangingPunct="1"/>
            <a:r>
              <a:rPr lang="en-US" altLang="en-US" dirty="0"/>
              <a:t>Principles of Security in the organization (continued)</a:t>
            </a:r>
            <a:endParaRPr lang="en-US" altLang="en-US" b="1" dirty="0"/>
          </a:p>
        </p:txBody>
      </p:sp>
      <p:sp>
        <p:nvSpPr>
          <p:cNvPr id="31749" name="Rectangle 3">
            <a:extLst>
              <a:ext uri="{FF2B5EF4-FFF2-40B4-BE49-F238E27FC236}">
                <a16:creationId xmlns:a16="http://schemas.microsoft.com/office/drawing/2014/main" id="{16E785E1-E693-6E6E-341C-3440E3D5EE9B}"/>
              </a:ext>
            </a:extLst>
          </p:cNvPr>
          <p:cNvSpPr>
            <a:spLocks noGrp="1" noChangeArrowheads="1"/>
          </p:cNvSpPr>
          <p:nvPr>
            <p:ph idx="1"/>
          </p:nvPr>
        </p:nvSpPr>
        <p:spPr>
          <a:xfrm>
            <a:off x="2057400" y="1676400"/>
            <a:ext cx="8077200" cy="4191000"/>
          </a:xfrm>
        </p:spPr>
        <p:txBody>
          <a:bodyPr/>
          <a:lstStyle/>
          <a:p>
            <a:pPr eaLnBrk="1" hangingPunct="1"/>
            <a:endParaRPr lang="en-US" altLang="en-US" dirty="0"/>
          </a:p>
          <a:p>
            <a:pPr eaLnBrk="1" hangingPunct="1"/>
            <a:endParaRPr lang="en-US" altLang="en-US" dirty="0"/>
          </a:p>
          <a:p>
            <a:pPr eaLnBrk="1" hangingPunct="1"/>
            <a:r>
              <a:rPr lang="en-US" altLang="en-US" dirty="0"/>
              <a:t>The Principles and Concepts of Secure Software</a:t>
            </a:r>
          </a:p>
          <a:p>
            <a:pPr lvl="1" eaLnBrk="1" hangingPunct="1"/>
            <a:r>
              <a:rPr lang="en-US" altLang="en-US" dirty="0"/>
              <a:t>Secure the Weakest Link</a:t>
            </a:r>
          </a:p>
          <a:p>
            <a:pPr lvl="2" eaLnBrk="1" hangingPunct="1"/>
            <a:r>
              <a:rPr lang="en-US" altLang="en-US" dirty="0"/>
              <a:t>The weakest part of the system will most likely be attacked first</a:t>
            </a:r>
          </a:p>
          <a:p>
            <a:pPr lvl="2" eaLnBrk="1" hangingPunct="1"/>
            <a:r>
              <a:rPr lang="en-US" altLang="en-US" dirty="0"/>
              <a:t>Analyzing and evaluating the weakest application layers and defensive layers is a principle that needs to be practiced at the beginning stages of software development (requirements) all the way through the maintenance stage</a:t>
            </a:r>
          </a:p>
        </p:txBody>
      </p:sp>
      <p:sp>
        <p:nvSpPr>
          <p:cNvPr id="4" name="Footer Placeholder 3">
            <a:extLst>
              <a:ext uri="{FF2B5EF4-FFF2-40B4-BE49-F238E27FC236}">
                <a16:creationId xmlns:a16="http://schemas.microsoft.com/office/drawing/2014/main" id="{9ECA0960-55DF-222F-F408-27FE339E6F95}"/>
              </a:ext>
            </a:extLst>
          </p:cNvPr>
          <p:cNvSpPr>
            <a:spLocks noGrp="1"/>
          </p:cNvSpPr>
          <p:nvPr>
            <p:ph type="ftr" sz="quarter" idx="11"/>
          </p:nvPr>
        </p:nvSpPr>
        <p:spPr/>
        <p:txBody>
          <a:bodyPr/>
          <a:lstStyle/>
          <a:p>
            <a:pPr>
              <a:defRPr/>
            </a:pPr>
            <a:r>
              <a:rPr lang="en-US"/>
              <a:t>Secure Software Development: A Security Programmer’s Guide, First Edition</a:t>
            </a:r>
          </a:p>
        </p:txBody>
      </p:sp>
      <p:sp>
        <p:nvSpPr>
          <p:cNvPr id="31747" name="Slide Number Placeholder 4">
            <a:extLst>
              <a:ext uri="{FF2B5EF4-FFF2-40B4-BE49-F238E27FC236}">
                <a16:creationId xmlns:a16="http://schemas.microsoft.com/office/drawing/2014/main" id="{50DEB9E5-485E-8F8B-3164-3AD7B89A4BD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0949169-D961-495A-BAF6-F82C4EB068CB}" type="slidenum">
              <a:rPr lang="en-US" altLang="en-US" sz="1400"/>
              <a:pPr>
                <a:spcBef>
                  <a:spcPct val="0"/>
                </a:spcBef>
                <a:buFontTx/>
                <a:buNone/>
              </a:pPr>
              <a:t>24</a:t>
            </a:fld>
            <a:endParaRPr lang="en-US" altLang="en-US" sz="1400"/>
          </a:p>
        </p:txBody>
      </p:sp>
    </p:spTree>
    <p:extLst>
      <p:ext uri="{BB962C8B-B14F-4D97-AF65-F5344CB8AC3E}">
        <p14:creationId xmlns:p14="http://schemas.microsoft.com/office/powerpoint/2010/main" val="17820274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2">
            <a:extLst>
              <a:ext uri="{FF2B5EF4-FFF2-40B4-BE49-F238E27FC236}">
                <a16:creationId xmlns:a16="http://schemas.microsoft.com/office/drawing/2014/main" id="{6FC50395-33B5-E775-6637-D437FE1927A3}"/>
              </a:ext>
            </a:extLst>
          </p:cNvPr>
          <p:cNvSpPr>
            <a:spLocks noGrp="1" noChangeArrowheads="1"/>
          </p:cNvSpPr>
          <p:nvPr>
            <p:ph type="title"/>
          </p:nvPr>
        </p:nvSpPr>
        <p:spPr/>
        <p:txBody>
          <a:bodyPr>
            <a:normAutofit fontScale="90000"/>
          </a:bodyPr>
          <a:lstStyle/>
          <a:p>
            <a:pPr eaLnBrk="1" hangingPunct="1"/>
            <a:r>
              <a:rPr lang="en-US" altLang="en-US" dirty="0"/>
              <a:t>Principles of Security in the organization (continued)</a:t>
            </a:r>
            <a:endParaRPr lang="en-US" altLang="en-US" b="1" dirty="0"/>
          </a:p>
        </p:txBody>
      </p:sp>
      <p:sp>
        <p:nvSpPr>
          <p:cNvPr id="33797" name="Rectangle 3">
            <a:extLst>
              <a:ext uri="{FF2B5EF4-FFF2-40B4-BE49-F238E27FC236}">
                <a16:creationId xmlns:a16="http://schemas.microsoft.com/office/drawing/2014/main" id="{1D1E5661-8C8B-C646-BA49-457BB75B3566}"/>
              </a:ext>
            </a:extLst>
          </p:cNvPr>
          <p:cNvSpPr>
            <a:spLocks noGrp="1" noChangeArrowheads="1"/>
          </p:cNvSpPr>
          <p:nvPr>
            <p:ph idx="1"/>
          </p:nvPr>
        </p:nvSpPr>
        <p:spPr>
          <a:xfrm>
            <a:off x="2057400" y="1371600"/>
            <a:ext cx="8077200" cy="4191000"/>
          </a:xfrm>
        </p:spPr>
        <p:txBody>
          <a:bodyPr/>
          <a:lstStyle/>
          <a:p>
            <a:pPr eaLnBrk="1" hangingPunct="1"/>
            <a:endParaRPr lang="en-US" altLang="en-US" dirty="0"/>
          </a:p>
          <a:p>
            <a:pPr eaLnBrk="1" hangingPunct="1"/>
            <a:endParaRPr lang="en-US" altLang="en-US" dirty="0"/>
          </a:p>
          <a:p>
            <a:pPr eaLnBrk="1" hangingPunct="1"/>
            <a:r>
              <a:rPr lang="en-US" altLang="en-US" sz="2000" dirty="0"/>
              <a:t>The Principles and Concepts of Secure Software</a:t>
            </a:r>
          </a:p>
          <a:p>
            <a:pPr lvl="1" eaLnBrk="1" hangingPunct="1"/>
            <a:r>
              <a:rPr lang="en-US" altLang="en-US" sz="1800" dirty="0"/>
              <a:t>Defense in Depth</a:t>
            </a:r>
          </a:p>
          <a:p>
            <a:pPr lvl="2" eaLnBrk="1" hangingPunct="1"/>
            <a:r>
              <a:rPr lang="en-US" altLang="en-US" sz="1600" dirty="0"/>
              <a:t>Defense in depth is designed on the principle that multiple layers of different types of protection provide substantially better protection</a:t>
            </a:r>
          </a:p>
          <a:p>
            <a:pPr lvl="2" eaLnBrk="1" hangingPunct="1"/>
            <a:r>
              <a:rPr lang="en-US" altLang="en-US" sz="1600" dirty="0"/>
              <a:t>The goal is to limit access to certain features of the application</a:t>
            </a:r>
          </a:p>
        </p:txBody>
      </p:sp>
      <p:sp>
        <p:nvSpPr>
          <p:cNvPr id="10" name="Footer Placeholder 3">
            <a:extLst>
              <a:ext uri="{FF2B5EF4-FFF2-40B4-BE49-F238E27FC236}">
                <a16:creationId xmlns:a16="http://schemas.microsoft.com/office/drawing/2014/main" id="{585667DA-EB7C-58D9-3EC0-724203E3AC1F}"/>
              </a:ext>
            </a:extLst>
          </p:cNvPr>
          <p:cNvSpPr>
            <a:spLocks noGrp="1"/>
          </p:cNvSpPr>
          <p:nvPr>
            <p:ph type="ftr" sz="quarter" idx="11"/>
          </p:nvPr>
        </p:nvSpPr>
        <p:spPr>
          <a:xfrm>
            <a:off x="2057401" y="6553200"/>
            <a:ext cx="5104667" cy="279400"/>
          </a:xfrm>
        </p:spPr>
        <p:txBody>
          <a:bodyPr/>
          <a:lstStyle/>
          <a:p>
            <a:pPr>
              <a:defRPr/>
            </a:pPr>
            <a:r>
              <a:rPr lang="en-US" dirty="0"/>
              <a:t>Secure Software Development: A Security Programmer’s Guide, First Edition</a:t>
            </a:r>
          </a:p>
        </p:txBody>
      </p:sp>
      <p:sp>
        <p:nvSpPr>
          <p:cNvPr id="33795" name="Slide Number Placeholder 4">
            <a:extLst>
              <a:ext uri="{FF2B5EF4-FFF2-40B4-BE49-F238E27FC236}">
                <a16:creationId xmlns:a16="http://schemas.microsoft.com/office/drawing/2014/main" id="{5A669277-C77A-4168-776B-6714D9E5A9B6}"/>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6CB80B9-2061-4790-B8D0-72E5A53BA70A}" type="slidenum">
              <a:rPr lang="en-US" altLang="en-US" sz="1400"/>
              <a:pPr>
                <a:spcBef>
                  <a:spcPct val="0"/>
                </a:spcBef>
                <a:buFontTx/>
                <a:buNone/>
              </a:pPr>
              <a:t>25</a:t>
            </a:fld>
            <a:endParaRPr lang="en-US" altLang="en-US" sz="1400"/>
          </a:p>
        </p:txBody>
      </p:sp>
      <p:sp>
        <p:nvSpPr>
          <p:cNvPr id="33798" name="Oval 4">
            <a:extLst>
              <a:ext uri="{FF2B5EF4-FFF2-40B4-BE49-F238E27FC236}">
                <a16:creationId xmlns:a16="http://schemas.microsoft.com/office/drawing/2014/main" id="{8755263E-C880-328D-10EC-A8B41D2AE2F2}"/>
              </a:ext>
            </a:extLst>
          </p:cNvPr>
          <p:cNvSpPr>
            <a:spLocks noChangeArrowheads="1"/>
          </p:cNvSpPr>
          <p:nvPr/>
        </p:nvSpPr>
        <p:spPr bwMode="auto">
          <a:xfrm>
            <a:off x="3733800" y="4191000"/>
            <a:ext cx="3657600" cy="20574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000">
              <a:solidFill>
                <a:srgbClr val="FFFFFF"/>
              </a:solidFill>
              <a:latin typeface="Times New Roman" panose="02020603050405020304" pitchFamily="18" charset="0"/>
            </a:endParaRPr>
          </a:p>
        </p:txBody>
      </p:sp>
      <p:sp>
        <p:nvSpPr>
          <p:cNvPr id="33799" name="Oval 5">
            <a:extLst>
              <a:ext uri="{FF2B5EF4-FFF2-40B4-BE49-F238E27FC236}">
                <a16:creationId xmlns:a16="http://schemas.microsoft.com/office/drawing/2014/main" id="{CCE8FC64-A93A-ACA6-C7E9-483F45719CEE}"/>
              </a:ext>
            </a:extLst>
          </p:cNvPr>
          <p:cNvSpPr>
            <a:spLocks noChangeArrowheads="1"/>
          </p:cNvSpPr>
          <p:nvPr/>
        </p:nvSpPr>
        <p:spPr bwMode="auto">
          <a:xfrm>
            <a:off x="4114800" y="4572000"/>
            <a:ext cx="2743200" cy="12192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000">
              <a:solidFill>
                <a:srgbClr val="FFFFFF"/>
              </a:solidFill>
              <a:latin typeface="Times New Roman" panose="02020603050405020304" pitchFamily="18" charset="0"/>
            </a:endParaRPr>
          </a:p>
        </p:txBody>
      </p:sp>
      <p:sp>
        <p:nvSpPr>
          <p:cNvPr id="33800" name="Oval 6">
            <a:extLst>
              <a:ext uri="{FF2B5EF4-FFF2-40B4-BE49-F238E27FC236}">
                <a16:creationId xmlns:a16="http://schemas.microsoft.com/office/drawing/2014/main" id="{F6A35B67-EC9D-E3AC-00F8-0432AE46E7EC}"/>
              </a:ext>
            </a:extLst>
          </p:cNvPr>
          <p:cNvSpPr>
            <a:spLocks noChangeArrowheads="1"/>
          </p:cNvSpPr>
          <p:nvPr/>
        </p:nvSpPr>
        <p:spPr bwMode="auto">
          <a:xfrm>
            <a:off x="4724400" y="4800600"/>
            <a:ext cx="1524000" cy="6858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000">
              <a:solidFill>
                <a:srgbClr val="FFFFFF"/>
              </a:solidFill>
              <a:latin typeface="Times New Roman" panose="02020603050405020304" pitchFamily="18" charset="0"/>
            </a:endParaRPr>
          </a:p>
        </p:txBody>
      </p:sp>
      <p:sp>
        <p:nvSpPr>
          <p:cNvPr id="33801" name="Oval 7">
            <a:extLst>
              <a:ext uri="{FF2B5EF4-FFF2-40B4-BE49-F238E27FC236}">
                <a16:creationId xmlns:a16="http://schemas.microsoft.com/office/drawing/2014/main" id="{81D56372-ED79-FE5F-F03A-1665050E6F9C}"/>
              </a:ext>
            </a:extLst>
          </p:cNvPr>
          <p:cNvSpPr>
            <a:spLocks noChangeArrowheads="1"/>
          </p:cNvSpPr>
          <p:nvPr/>
        </p:nvSpPr>
        <p:spPr bwMode="auto">
          <a:xfrm>
            <a:off x="5029200" y="4953000"/>
            <a:ext cx="914400" cy="3810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000">
              <a:solidFill>
                <a:srgbClr val="FFFFFF"/>
              </a:solidFill>
              <a:latin typeface="Times New Roman" panose="02020603050405020304" pitchFamily="18" charset="0"/>
            </a:endParaRPr>
          </a:p>
        </p:txBody>
      </p:sp>
      <p:sp>
        <p:nvSpPr>
          <p:cNvPr id="33802" name="Text Box 8">
            <a:extLst>
              <a:ext uri="{FF2B5EF4-FFF2-40B4-BE49-F238E27FC236}">
                <a16:creationId xmlns:a16="http://schemas.microsoft.com/office/drawing/2014/main" id="{536A78FB-CE0C-4913-AD02-FCDF14996B84}"/>
              </a:ext>
            </a:extLst>
          </p:cNvPr>
          <p:cNvSpPr txBox="1">
            <a:spLocks noChangeArrowheads="1"/>
          </p:cNvSpPr>
          <p:nvPr/>
        </p:nvSpPr>
        <p:spPr bwMode="auto">
          <a:xfrm>
            <a:off x="7620000" y="5029201"/>
            <a:ext cx="2895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000">
                <a:solidFill>
                  <a:schemeClr val="tx1"/>
                </a:solidFill>
                <a:latin typeface="Times New Roman" panose="02020603050405020304" pitchFamily="18" charset="0"/>
              </a:rPr>
              <a:t>Multiple layers of Defense</a:t>
            </a:r>
          </a:p>
        </p:txBody>
      </p:sp>
      <p:sp>
        <p:nvSpPr>
          <p:cNvPr id="33803" name="Line 9">
            <a:extLst>
              <a:ext uri="{FF2B5EF4-FFF2-40B4-BE49-F238E27FC236}">
                <a16:creationId xmlns:a16="http://schemas.microsoft.com/office/drawing/2014/main" id="{7E4CCADE-93FF-6718-E8D8-14CE8EA53434}"/>
              </a:ext>
            </a:extLst>
          </p:cNvPr>
          <p:cNvSpPr>
            <a:spLocks noChangeShapeType="1"/>
          </p:cNvSpPr>
          <p:nvPr/>
        </p:nvSpPr>
        <p:spPr bwMode="auto">
          <a:xfrm flipH="1" flipV="1">
            <a:off x="5715000" y="5105400"/>
            <a:ext cx="1828800" cy="76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useBgFill="1">
        <p:nvSpPr>
          <p:cNvPr id="33802" name="Rectangle 33801">
            <a:extLst>
              <a:ext uri="{FF2B5EF4-FFF2-40B4-BE49-F238E27FC236}">
                <a16:creationId xmlns:a16="http://schemas.microsoft.com/office/drawing/2014/main" id="{7E61F402-3445-458A-9A2B-D28FD28839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804" name="Group 33803">
            <a:extLst>
              <a:ext uri="{FF2B5EF4-FFF2-40B4-BE49-F238E27FC236}">
                <a16:creationId xmlns:a16="http://schemas.microsoft.com/office/drawing/2014/main" id="{A673C096-95AE-4644-B76C-1DF1B667DC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33805" name="Picture 33804">
              <a:extLst>
                <a:ext uri="{FF2B5EF4-FFF2-40B4-BE49-F238E27FC236}">
                  <a16:creationId xmlns:a16="http://schemas.microsoft.com/office/drawing/2014/main" id="{77A91835-418B-4867-87D7-1376A57F3F7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3806" name="Rectangle 33805">
              <a:extLst>
                <a:ext uri="{FF2B5EF4-FFF2-40B4-BE49-F238E27FC236}">
                  <a16:creationId xmlns:a16="http://schemas.microsoft.com/office/drawing/2014/main" id="{65B511A1-E0EC-49FE-8068-9DA29CD00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3807" name="Picture 33806">
              <a:extLst>
                <a:ext uri="{FF2B5EF4-FFF2-40B4-BE49-F238E27FC236}">
                  <a16:creationId xmlns:a16="http://schemas.microsoft.com/office/drawing/2014/main" id="{4A61BC5F-ADA4-4DBA-9C6B-E17E0B82EC54}"/>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33808" name="Picture 33807">
              <a:extLst>
                <a:ext uri="{FF2B5EF4-FFF2-40B4-BE49-F238E27FC236}">
                  <a16:creationId xmlns:a16="http://schemas.microsoft.com/office/drawing/2014/main" id="{1CE6F7D2-ACED-47D2-BEFD-FB26F75374A1}"/>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33796" name="Rectangle 2">
            <a:extLst>
              <a:ext uri="{FF2B5EF4-FFF2-40B4-BE49-F238E27FC236}">
                <a16:creationId xmlns:a16="http://schemas.microsoft.com/office/drawing/2014/main" id="{6FC50395-33B5-E775-6637-D437FE1927A3}"/>
              </a:ext>
            </a:extLst>
          </p:cNvPr>
          <p:cNvSpPr>
            <a:spLocks noGrp="1" noChangeArrowheads="1"/>
          </p:cNvSpPr>
          <p:nvPr>
            <p:ph type="title"/>
          </p:nvPr>
        </p:nvSpPr>
        <p:spPr>
          <a:xfrm>
            <a:off x="1295402" y="982132"/>
            <a:ext cx="3660056" cy="1325373"/>
          </a:xfrm>
        </p:spPr>
        <p:txBody>
          <a:bodyPr anchor="b">
            <a:normAutofit/>
          </a:bodyPr>
          <a:lstStyle/>
          <a:p>
            <a:pPr eaLnBrk="1" hangingPunct="1">
              <a:lnSpc>
                <a:spcPct val="90000"/>
              </a:lnSpc>
            </a:pPr>
            <a:r>
              <a:rPr lang="en-US" altLang="en-US" sz="2800">
                <a:solidFill>
                  <a:srgbClr val="262626"/>
                </a:solidFill>
              </a:rPr>
              <a:t>Principles of Security in the organization (continued)</a:t>
            </a:r>
            <a:endParaRPr lang="en-US" altLang="en-US" sz="2800" b="1">
              <a:solidFill>
                <a:srgbClr val="262626"/>
              </a:solidFill>
            </a:endParaRPr>
          </a:p>
        </p:txBody>
      </p:sp>
      <p:cxnSp>
        <p:nvCxnSpPr>
          <p:cNvPr id="33810" name="Straight Connector 33809">
            <a:extLst>
              <a:ext uri="{FF2B5EF4-FFF2-40B4-BE49-F238E27FC236}">
                <a16:creationId xmlns:a16="http://schemas.microsoft.com/office/drawing/2014/main" id="{2BE880E9-2B86-4CDB-B5B7-308745CDD1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95401" y="2400639"/>
            <a:ext cx="3660057" cy="0"/>
          </a:xfrm>
          <a:prstGeom prst="line">
            <a:avLst/>
          </a:prstGeom>
        </p:spPr>
        <p:style>
          <a:lnRef idx="2">
            <a:schemeClr val="accent1"/>
          </a:lnRef>
          <a:fillRef idx="0">
            <a:schemeClr val="accent1"/>
          </a:fillRef>
          <a:effectRef idx="1">
            <a:schemeClr val="accent1"/>
          </a:effectRef>
          <a:fontRef idx="minor">
            <a:schemeClr val="tx1"/>
          </a:fontRef>
        </p:style>
      </p:cxnSp>
      <p:sp>
        <p:nvSpPr>
          <p:cNvPr id="33797" name="Rectangle 3">
            <a:extLst>
              <a:ext uri="{FF2B5EF4-FFF2-40B4-BE49-F238E27FC236}">
                <a16:creationId xmlns:a16="http://schemas.microsoft.com/office/drawing/2014/main" id="{1D1E5661-8C8B-C646-BA49-457BB75B3566}"/>
              </a:ext>
            </a:extLst>
          </p:cNvPr>
          <p:cNvSpPr>
            <a:spLocks noGrp="1" noChangeArrowheads="1"/>
          </p:cNvSpPr>
          <p:nvPr>
            <p:ph idx="1"/>
          </p:nvPr>
        </p:nvSpPr>
        <p:spPr>
          <a:xfrm>
            <a:off x="1295401" y="2493774"/>
            <a:ext cx="3660057" cy="3382094"/>
          </a:xfrm>
        </p:spPr>
        <p:txBody>
          <a:bodyPr>
            <a:normAutofit/>
          </a:bodyPr>
          <a:lstStyle/>
          <a:p>
            <a:pPr algn="ctr" eaLnBrk="1" hangingPunct="1"/>
            <a:endParaRPr lang="en-US" altLang="en-US" sz="1600">
              <a:solidFill>
                <a:srgbClr val="262626"/>
              </a:solidFill>
            </a:endParaRPr>
          </a:p>
          <a:p>
            <a:pPr algn="ctr" eaLnBrk="1" hangingPunct="1"/>
            <a:endParaRPr lang="en-US" altLang="en-US" sz="1600">
              <a:solidFill>
                <a:srgbClr val="262626"/>
              </a:solidFill>
            </a:endParaRPr>
          </a:p>
          <a:p>
            <a:pPr lvl="1" algn="ctr" eaLnBrk="1" hangingPunct="1"/>
            <a:r>
              <a:rPr lang="en-US" altLang="en-US" sz="1600">
                <a:solidFill>
                  <a:srgbClr val="262626"/>
                </a:solidFill>
              </a:rPr>
              <a:t>Defense in Depth (continued)</a:t>
            </a:r>
          </a:p>
        </p:txBody>
      </p:sp>
      <p:pic>
        <p:nvPicPr>
          <p:cNvPr id="3" name="Picture 2" descr="A white background with a black and white background&#10;&#10;Description automatically generated with medium confidence">
            <a:extLst>
              <a:ext uri="{FF2B5EF4-FFF2-40B4-BE49-F238E27FC236}">
                <a16:creationId xmlns:a16="http://schemas.microsoft.com/office/drawing/2014/main" id="{AC25B281-A558-D3C1-475A-5EBA5BFC08E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18668" y="2423984"/>
            <a:ext cx="5469466" cy="2010028"/>
          </a:xfrm>
          <a:prstGeom prst="rect">
            <a:avLst/>
          </a:prstGeom>
          <a:ln w="57150" cmpd="thickThin">
            <a:solidFill>
              <a:srgbClr val="7F7F7F"/>
            </a:solidFill>
            <a:miter lim="800000"/>
          </a:ln>
        </p:spPr>
      </p:pic>
      <p:sp>
        <p:nvSpPr>
          <p:cNvPr id="10" name="Footer Placeholder 3">
            <a:extLst>
              <a:ext uri="{FF2B5EF4-FFF2-40B4-BE49-F238E27FC236}">
                <a16:creationId xmlns:a16="http://schemas.microsoft.com/office/drawing/2014/main" id="{585667DA-EB7C-58D9-3EC0-724203E3AC1F}"/>
              </a:ext>
            </a:extLst>
          </p:cNvPr>
          <p:cNvSpPr>
            <a:spLocks noGrp="1"/>
          </p:cNvSpPr>
          <p:nvPr>
            <p:ph type="ftr" sz="quarter" idx="11"/>
          </p:nvPr>
        </p:nvSpPr>
        <p:spPr>
          <a:xfrm>
            <a:off x="1295401" y="5969000"/>
            <a:ext cx="7305900" cy="279400"/>
          </a:xfrm>
        </p:spPr>
        <p:txBody>
          <a:bodyPr>
            <a:normAutofit/>
          </a:bodyPr>
          <a:lstStyle/>
          <a:p>
            <a:pPr>
              <a:spcAft>
                <a:spcPts val="600"/>
              </a:spcAft>
              <a:defRPr/>
            </a:pPr>
            <a:r>
              <a:rPr lang="en-US">
                <a:solidFill>
                  <a:srgbClr val="000000"/>
                </a:solidFill>
              </a:rPr>
              <a:t>Secure Software Development: A Security Programmer’s Guide, First Edition</a:t>
            </a:r>
          </a:p>
        </p:txBody>
      </p:sp>
      <p:sp>
        <p:nvSpPr>
          <p:cNvPr id="33795" name="Slide Number Placeholder 4">
            <a:extLst>
              <a:ext uri="{FF2B5EF4-FFF2-40B4-BE49-F238E27FC236}">
                <a16:creationId xmlns:a16="http://schemas.microsoft.com/office/drawing/2014/main" id="{5A669277-C77A-4168-776B-6714D9E5A9B6}"/>
              </a:ext>
            </a:extLst>
          </p:cNvPr>
          <p:cNvSpPr>
            <a:spLocks noGrp="1" noChangeArrowheads="1"/>
          </p:cNvSpPr>
          <p:nvPr>
            <p:ph type="sldNum" sz="quarter" idx="12"/>
          </p:nvPr>
        </p:nvSpPr>
        <p:spPr>
          <a:xfrm>
            <a:off x="10353901" y="5969000"/>
            <a:ext cx="542697" cy="2794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spcBef>
                <a:spcPct val="0"/>
              </a:spcBef>
              <a:spcAft>
                <a:spcPts val="600"/>
              </a:spcAft>
              <a:buFontTx/>
              <a:buNone/>
            </a:pPr>
            <a:fld id="{76CB80B9-2061-4790-B8D0-72E5A53BA70A}" type="slidenum">
              <a:rPr lang="en-US" altLang="en-US" sz="1200">
                <a:solidFill>
                  <a:srgbClr val="000000"/>
                </a:solidFill>
              </a:rPr>
              <a:pPr>
                <a:lnSpc>
                  <a:spcPct val="90000"/>
                </a:lnSpc>
                <a:spcBef>
                  <a:spcPct val="0"/>
                </a:spcBef>
                <a:spcAft>
                  <a:spcPts val="600"/>
                </a:spcAft>
                <a:buFontTx/>
                <a:buNone/>
              </a:pPr>
              <a:t>26</a:t>
            </a:fld>
            <a:endParaRPr lang="en-US" altLang="en-US" sz="1200">
              <a:solidFill>
                <a:srgbClr val="000000"/>
              </a:solidFill>
            </a:endParaRPr>
          </a:p>
        </p:txBody>
      </p:sp>
    </p:spTree>
    <p:extLst>
      <p:ext uri="{BB962C8B-B14F-4D97-AF65-F5344CB8AC3E}">
        <p14:creationId xmlns:p14="http://schemas.microsoft.com/office/powerpoint/2010/main" val="2277520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useBgFill="1">
        <p:nvSpPr>
          <p:cNvPr id="33802" name="Rectangle 33801">
            <a:extLst>
              <a:ext uri="{FF2B5EF4-FFF2-40B4-BE49-F238E27FC236}">
                <a16:creationId xmlns:a16="http://schemas.microsoft.com/office/drawing/2014/main" id="{7E61F402-3445-458A-9A2B-D28FD28839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804" name="Group 33803">
            <a:extLst>
              <a:ext uri="{FF2B5EF4-FFF2-40B4-BE49-F238E27FC236}">
                <a16:creationId xmlns:a16="http://schemas.microsoft.com/office/drawing/2014/main" id="{A673C096-95AE-4644-B76C-1DF1B667DC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33805" name="Picture 33804">
              <a:extLst>
                <a:ext uri="{FF2B5EF4-FFF2-40B4-BE49-F238E27FC236}">
                  <a16:creationId xmlns:a16="http://schemas.microsoft.com/office/drawing/2014/main" id="{77A91835-418B-4867-87D7-1376A57F3F7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3806" name="Rectangle 33805">
              <a:extLst>
                <a:ext uri="{FF2B5EF4-FFF2-40B4-BE49-F238E27FC236}">
                  <a16:creationId xmlns:a16="http://schemas.microsoft.com/office/drawing/2014/main" id="{65B511A1-E0EC-49FE-8068-9DA29CD00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3807" name="Picture 33806">
              <a:extLst>
                <a:ext uri="{FF2B5EF4-FFF2-40B4-BE49-F238E27FC236}">
                  <a16:creationId xmlns:a16="http://schemas.microsoft.com/office/drawing/2014/main" id="{4A61BC5F-ADA4-4DBA-9C6B-E17E0B82EC54}"/>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33808" name="Picture 33807">
              <a:extLst>
                <a:ext uri="{FF2B5EF4-FFF2-40B4-BE49-F238E27FC236}">
                  <a16:creationId xmlns:a16="http://schemas.microsoft.com/office/drawing/2014/main" id="{1CE6F7D2-ACED-47D2-BEFD-FB26F75374A1}"/>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33796" name="Rectangle 2">
            <a:extLst>
              <a:ext uri="{FF2B5EF4-FFF2-40B4-BE49-F238E27FC236}">
                <a16:creationId xmlns:a16="http://schemas.microsoft.com/office/drawing/2014/main" id="{6FC50395-33B5-E775-6637-D437FE1927A3}"/>
              </a:ext>
            </a:extLst>
          </p:cNvPr>
          <p:cNvSpPr>
            <a:spLocks noGrp="1" noChangeArrowheads="1"/>
          </p:cNvSpPr>
          <p:nvPr>
            <p:ph type="title"/>
          </p:nvPr>
        </p:nvSpPr>
        <p:spPr>
          <a:xfrm>
            <a:off x="1295402" y="982132"/>
            <a:ext cx="3660056" cy="1325373"/>
          </a:xfrm>
        </p:spPr>
        <p:txBody>
          <a:bodyPr anchor="b">
            <a:normAutofit/>
          </a:bodyPr>
          <a:lstStyle/>
          <a:p>
            <a:pPr eaLnBrk="1" hangingPunct="1">
              <a:lnSpc>
                <a:spcPct val="90000"/>
              </a:lnSpc>
            </a:pPr>
            <a:r>
              <a:rPr lang="en-US" altLang="en-US" sz="2800">
                <a:solidFill>
                  <a:srgbClr val="262626"/>
                </a:solidFill>
              </a:rPr>
              <a:t>Principles of Security in the organization (continued)</a:t>
            </a:r>
            <a:endParaRPr lang="en-US" altLang="en-US" sz="2800" b="1">
              <a:solidFill>
                <a:srgbClr val="262626"/>
              </a:solidFill>
            </a:endParaRPr>
          </a:p>
        </p:txBody>
      </p:sp>
      <p:cxnSp>
        <p:nvCxnSpPr>
          <p:cNvPr id="33810" name="Straight Connector 33809">
            <a:extLst>
              <a:ext uri="{FF2B5EF4-FFF2-40B4-BE49-F238E27FC236}">
                <a16:creationId xmlns:a16="http://schemas.microsoft.com/office/drawing/2014/main" id="{2BE880E9-2B86-4CDB-B5B7-308745CDD1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95401" y="2400639"/>
            <a:ext cx="3660057" cy="0"/>
          </a:xfrm>
          <a:prstGeom prst="line">
            <a:avLst/>
          </a:prstGeom>
        </p:spPr>
        <p:style>
          <a:lnRef idx="2">
            <a:schemeClr val="accent1"/>
          </a:lnRef>
          <a:fillRef idx="0">
            <a:schemeClr val="accent1"/>
          </a:fillRef>
          <a:effectRef idx="1">
            <a:schemeClr val="accent1"/>
          </a:effectRef>
          <a:fontRef idx="minor">
            <a:schemeClr val="tx1"/>
          </a:fontRef>
        </p:style>
      </p:cxnSp>
      <p:sp>
        <p:nvSpPr>
          <p:cNvPr id="33797" name="Rectangle 3">
            <a:extLst>
              <a:ext uri="{FF2B5EF4-FFF2-40B4-BE49-F238E27FC236}">
                <a16:creationId xmlns:a16="http://schemas.microsoft.com/office/drawing/2014/main" id="{1D1E5661-8C8B-C646-BA49-457BB75B3566}"/>
              </a:ext>
            </a:extLst>
          </p:cNvPr>
          <p:cNvSpPr>
            <a:spLocks noGrp="1" noChangeArrowheads="1"/>
          </p:cNvSpPr>
          <p:nvPr>
            <p:ph idx="1"/>
          </p:nvPr>
        </p:nvSpPr>
        <p:spPr>
          <a:xfrm>
            <a:off x="1295401" y="2493774"/>
            <a:ext cx="3660057" cy="3382094"/>
          </a:xfrm>
        </p:spPr>
        <p:txBody>
          <a:bodyPr>
            <a:normAutofit/>
          </a:bodyPr>
          <a:lstStyle/>
          <a:p>
            <a:pPr algn="ctr" eaLnBrk="1" hangingPunct="1"/>
            <a:endParaRPr lang="en-US" altLang="en-US" sz="1600">
              <a:solidFill>
                <a:srgbClr val="262626"/>
              </a:solidFill>
            </a:endParaRPr>
          </a:p>
          <a:p>
            <a:pPr algn="ctr" eaLnBrk="1" hangingPunct="1"/>
            <a:endParaRPr lang="en-US" altLang="en-US" sz="1600">
              <a:solidFill>
                <a:srgbClr val="262626"/>
              </a:solidFill>
            </a:endParaRPr>
          </a:p>
          <a:p>
            <a:pPr lvl="1" algn="ctr" eaLnBrk="1" hangingPunct="1"/>
            <a:r>
              <a:rPr lang="en-US" altLang="en-US" sz="1600">
                <a:solidFill>
                  <a:srgbClr val="262626"/>
                </a:solidFill>
              </a:rPr>
              <a:t>Defense in Depth (continued)</a:t>
            </a:r>
          </a:p>
        </p:txBody>
      </p:sp>
      <p:pic>
        <p:nvPicPr>
          <p:cNvPr id="4" name="Picture 3" descr="A brick wall with fire flames&#10;&#10;Description automatically generated">
            <a:extLst>
              <a:ext uri="{FF2B5EF4-FFF2-40B4-BE49-F238E27FC236}">
                <a16:creationId xmlns:a16="http://schemas.microsoft.com/office/drawing/2014/main" id="{EFA42BF6-9786-7A19-602F-92257615666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18668" y="2540211"/>
            <a:ext cx="5469466" cy="1777575"/>
          </a:xfrm>
          <a:prstGeom prst="rect">
            <a:avLst/>
          </a:prstGeom>
          <a:ln w="57150" cmpd="thickThin">
            <a:solidFill>
              <a:srgbClr val="7F7F7F"/>
            </a:solidFill>
            <a:miter lim="800000"/>
          </a:ln>
        </p:spPr>
      </p:pic>
      <p:sp>
        <p:nvSpPr>
          <p:cNvPr id="10" name="Footer Placeholder 3">
            <a:extLst>
              <a:ext uri="{FF2B5EF4-FFF2-40B4-BE49-F238E27FC236}">
                <a16:creationId xmlns:a16="http://schemas.microsoft.com/office/drawing/2014/main" id="{585667DA-EB7C-58D9-3EC0-724203E3AC1F}"/>
              </a:ext>
            </a:extLst>
          </p:cNvPr>
          <p:cNvSpPr>
            <a:spLocks noGrp="1"/>
          </p:cNvSpPr>
          <p:nvPr>
            <p:ph type="ftr" sz="quarter" idx="11"/>
          </p:nvPr>
        </p:nvSpPr>
        <p:spPr>
          <a:xfrm>
            <a:off x="1295401" y="5969000"/>
            <a:ext cx="7305900" cy="279400"/>
          </a:xfrm>
        </p:spPr>
        <p:txBody>
          <a:bodyPr>
            <a:normAutofit/>
          </a:bodyPr>
          <a:lstStyle/>
          <a:p>
            <a:pPr>
              <a:spcAft>
                <a:spcPts val="600"/>
              </a:spcAft>
              <a:defRPr/>
            </a:pPr>
            <a:r>
              <a:rPr lang="en-US">
                <a:solidFill>
                  <a:srgbClr val="000000"/>
                </a:solidFill>
              </a:rPr>
              <a:t>Secure Software Development: A Security Programmer’s Guide, First Edition</a:t>
            </a:r>
          </a:p>
        </p:txBody>
      </p:sp>
      <p:sp>
        <p:nvSpPr>
          <p:cNvPr id="33795" name="Slide Number Placeholder 4">
            <a:extLst>
              <a:ext uri="{FF2B5EF4-FFF2-40B4-BE49-F238E27FC236}">
                <a16:creationId xmlns:a16="http://schemas.microsoft.com/office/drawing/2014/main" id="{5A669277-C77A-4168-776B-6714D9E5A9B6}"/>
              </a:ext>
            </a:extLst>
          </p:cNvPr>
          <p:cNvSpPr>
            <a:spLocks noGrp="1" noChangeArrowheads="1"/>
          </p:cNvSpPr>
          <p:nvPr>
            <p:ph type="sldNum" sz="quarter" idx="12"/>
          </p:nvPr>
        </p:nvSpPr>
        <p:spPr>
          <a:xfrm>
            <a:off x="10353901" y="5969000"/>
            <a:ext cx="542697" cy="2794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spcBef>
                <a:spcPct val="0"/>
              </a:spcBef>
              <a:spcAft>
                <a:spcPts val="600"/>
              </a:spcAft>
              <a:buFontTx/>
              <a:buNone/>
            </a:pPr>
            <a:fld id="{76CB80B9-2061-4790-B8D0-72E5A53BA70A}" type="slidenum">
              <a:rPr lang="en-US" altLang="en-US" sz="1200">
                <a:solidFill>
                  <a:srgbClr val="000000"/>
                </a:solidFill>
              </a:rPr>
              <a:pPr>
                <a:lnSpc>
                  <a:spcPct val="90000"/>
                </a:lnSpc>
                <a:spcBef>
                  <a:spcPct val="0"/>
                </a:spcBef>
                <a:spcAft>
                  <a:spcPts val="600"/>
                </a:spcAft>
                <a:buFontTx/>
                <a:buNone/>
              </a:pPr>
              <a:t>27</a:t>
            </a:fld>
            <a:endParaRPr lang="en-US" altLang="en-US" sz="1200">
              <a:solidFill>
                <a:srgbClr val="000000"/>
              </a:solidFill>
            </a:endParaRPr>
          </a:p>
        </p:txBody>
      </p:sp>
    </p:spTree>
    <p:extLst>
      <p:ext uri="{BB962C8B-B14F-4D97-AF65-F5344CB8AC3E}">
        <p14:creationId xmlns:p14="http://schemas.microsoft.com/office/powerpoint/2010/main" val="38180478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useBgFill="1">
        <p:nvSpPr>
          <p:cNvPr id="33802" name="Rectangle 33801">
            <a:extLst>
              <a:ext uri="{FF2B5EF4-FFF2-40B4-BE49-F238E27FC236}">
                <a16:creationId xmlns:a16="http://schemas.microsoft.com/office/drawing/2014/main" id="{7E61F402-3445-458A-9A2B-D28FD28839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804" name="Group 33803">
            <a:extLst>
              <a:ext uri="{FF2B5EF4-FFF2-40B4-BE49-F238E27FC236}">
                <a16:creationId xmlns:a16="http://schemas.microsoft.com/office/drawing/2014/main" id="{A673C096-95AE-4644-B76C-1DF1B667DC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33805" name="Picture 33804">
              <a:extLst>
                <a:ext uri="{FF2B5EF4-FFF2-40B4-BE49-F238E27FC236}">
                  <a16:creationId xmlns:a16="http://schemas.microsoft.com/office/drawing/2014/main" id="{77A91835-418B-4867-87D7-1376A57F3F7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3806" name="Rectangle 33805">
              <a:extLst>
                <a:ext uri="{FF2B5EF4-FFF2-40B4-BE49-F238E27FC236}">
                  <a16:creationId xmlns:a16="http://schemas.microsoft.com/office/drawing/2014/main" id="{65B511A1-E0EC-49FE-8068-9DA29CD00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3807" name="Picture 33806">
              <a:extLst>
                <a:ext uri="{FF2B5EF4-FFF2-40B4-BE49-F238E27FC236}">
                  <a16:creationId xmlns:a16="http://schemas.microsoft.com/office/drawing/2014/main" id="{4A61BC5F-ADA4-4DBA-9C6B-E17E0B82EC54}"/>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33808" name="Picture 33807">
              <a:extLst>
                <a:ext uri="{FF2B5EF4-FFF2-40B4-BE49-F238E27FC236}">
                  <a16:creationId xmlns:a16="http://schemas.microsoft.com/office/drawing/2014/main" id="{1CE6F7D2-ACED-47D2-BEFD-FB26F75374A1}"/>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33796" name="Rectangle 2">
            <a:extLst>
              <a:ext uri="{FF2B5EF4-FFF2-40B4-BE49-F238E27FC236}">
                <a16:creationId xmlns:a16="http://schemas.microsoft.com/office/drawing/2014/main" id="{6FC50395-33B5-E775-6637-D437FE1927A3}"/>
              </a:ext>
            </a:extLst>
          </p:cNvPr>
          <p:cNvSpPr>
            <a:spLocks noGrp="1" noChangeArrowheads="1"/>
          </p:cNvSpPr>
          <p:nvPr>
            <p:ph type="title"/>
          </p:nvPr>
        </p:nvSpPr>
        <p:spPr>
          <a:xfrm>
            <a:off x="1295402" y="982132"/>
            <a:ext cx="3660056" cy="1325373"/>
          </a:xfrm>
        </p:spPr>
        <p:txBody>
          <a:bodyPr anchor="b">
            <a:normAutofit/>
          </a:bodyPr>
          <a:lstStyle/>
          <a:p>
            <a:pPr eaLnBrk="1" hangingPunct="1">
              <a:lnSpc>
                <a:spcPct val="90000"/>
              </a:lnSpc>
            </a:pPr>
            <a:r>
              <a:rPr lang="en-US" altLang="en-US" sz="2800">
                <a:solidFill>
                  <a:srgbClr val="262626"/>
                </a:solidFill>
              </a:rPr>
              <a:t>Principles of Security in the organization (continued)</a:t>
            </a:r>
            <a:endParaRPr lang="en-US" altLang="en-US" sz="2800" b="1">
              <a:solidFill>
                <a:srgbClr val="262626"/>
              </a:solidFill>
            </a:endParaRPr>
          </a:p>
        </p:txBody>
      </p:sp>
      <p:cxnSp>
        <p:nvCxnSpPr>
          <p:cNvPr id="33810" name="Straight Connector 33809">
            <a:extLst>
              <a:ext uri="{FF2B5EF4-FFF2-40B4-BE49-F238E27FC236}">
                <a16:creationId xmlns:a16="http://schemas.microsoft.com/office/drawing/2014/main" id="{2BE880E9-2B86-4CDB-B5B7-308745CDD1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95401" y="2400639"/>
            <a:ext cx="3660057" cy="0"/>
          </a:xfrm>
          <a:prstGeom prst="line">
            <a:avLst/>
          </a:prstGeom>
        </p:spPr>
        <p:style>
          <a:lnRef idx="2">
            <a:schemeClr val="accent1"/>
          </a:lnRef>
          <a:fillRef idx="0">
            <a:schemeClr val="accent1"/>
          </a:fillRef>
          <a:effectRef idx="1">
            <a:schemeClr val="accent1"/>
          </a:effectRef>
          <a:fontRef idx="minor">
            <a:schemeClr val="tx1"/>
          </a:fontRef>
        </p:style>
      </p:cxnSp>
      <p:sp>
        <p:nvSpPr>
          <p:cNvPr id="33797" name="Rectangle 3">
            <a:extLst>
              <a:ext uri="{FF2B5EF4-FFF2-40B4-BE49-F238E27FC236}">
                <a16:creationId xmlns:a16="http://schemas.microsoft.com/office/drawing/2014/main" id="{1D1E5661-8C8B-C646-BA49-457BB75B3566}"/>
              </a:ext>
            </a:extLst>
          </p:cNvPr>
          <p:cNvSpPr>
            <a:spLocks noGrp="1" noChangeArrowheads="1"/>
          </p:cNvSpPr>
          <p:nvPr>
            <p:ph idx="1"/>
          </p:nvPr>
        </p:nvSpPr>
        <p:spPr>
          <a:xfrm>
            <a:off x="1295401" y="2493774"/>
            <a:ext cx="3660057" cy="3382094"/>
          </a:xfrm>
        </p:spPr>
        <p:txBody>
          <a:bodyPr>
            <a:normAutofit/>
          </a:bodyPr>
          <a:lstStyle/>
          <a:p>
            <a:pPr algn="ctr" eaLnBrk="1" hangingPunct="1"/>
            <a:endParaRPr lang="en-US" altLang="en-US" sz="1600">
              <a:solidFill>
                <a:srgbClr val="262626"/>
              </a:solidFill>
            </a:endParaRPr>
          </a:p>
          <a:p>
            <a:pPr algn="ctr" eaLnBrk="1" hangingPunct="1"/>
            <a:endParaRPr lang="en-US" altLang="en-US" sz="1600">
              <a:solidFill>
                <a:srgbClr val="262626"/>
              </a:solidFill>
            </a:endParaRPr>
          </a:p>
          <a:p>
            <a:pPr lvl="1" algn="ctr" eaLnBrk="1" hangingPunct="1"/>
            <a:r>
              <a:rPr lang="en-US" altLang="en-US" sz="1600">
                <a:solidFill>
                  <a:srgbClr val="262626"/>
                </a:solidFill>
              </a:rPr>
              <a:t>Defense in Depth (continued)</a:t>
            </a:r>
          </a:p>
        </p:txBody>
      </p:sp>
      <p:pic>
        <p:nvPicPr>
          <p:cNvPr id="3" name="Picture 2" descr="A brick wall with fire and green rectangles&#10;&#10;Description automatically generated">
            <a:extLst>
              <a:ext uri="{FF2B5EF4-FFF2-40B4-BE49-F238E27FC236}">
                <a16:creationId xmlns:a16="http://schemas.microsoft.com/office/drawing/2014/main" id="{787EB322-F6C5-BC9A-EDF0-D4128D1BBC1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18668" y="2601742"/>
            <a:ext cx="5469466" cy="1654512"/>
          </a:xfrm>
          <a:prstGeom prst="rect">
            <a:avLst/>
          </a:prstGeom>
          <a:ln w="57150" cmpd="thickThin">
            <a:solidFill>
              <a:srgbClr val="7F7F7F"/>
            </a:solidFill>
            <a:miter lim="800000"/>
          </a:ln>
        </p:spPr>
      </p:pic>
      <p:sp>
        <p:nvSpPr>
          <p:cNvPr id="10" name="Footer Placeholder 3">
            <a:extLst>
              <a:ext uri="{FF2B5EF4-FFF2-40B4-BE49-F238E27FC236}">
                <a16:creationId xmlns:a16="http://schemas.microsoft.com/office/drawing/2014/main" id="{585667DA-EB7C-58D9-3EC0-724203E3AC1F}"/>
              </a:ext>
            </a:extLst>
          </p:cNvPr>
          <p:cNvSpPr>
            <a:spLocks noGrp="1"/>
          </p:cNvSpPr>
          <p:nvPr>
            <p:ph type="ftr" sz="quarter" idx="11"/>
          </p:nvPr>
        </p:nvSpPr>
        <p:spPr>
          <a:xfrm>
            <a:off x="1295401" y="5969000"/>
            <a:ext cx="7305900" cy="279400"/>
          </a:xfrm>
        </p:spPr>
        <p:txBody>
          <a:bodyPr>
            <a:normAutofit/>
          </a:bodyPr>
          <a:lstStyle/>
          <a:p>
            <a:pPr>
              <a:spcAft>
                <a:spcPts val="600"/>
              </a:spcAft>
              <a:defRPr/>
            </a:pPr>
            <a:r>
              <a:rPr lang="en-US">
                <a:solidFill>
                  <a:srgbClr val="000000"/>
                </a:solidFill>
              </a:rPr>
              <a:t>Secure Software Development: A Security Programmer’s Guide, First Edition</a:t>
            </a:r>
          </a:p>
        </p:txBody>
      </p:sp>
      <p:sp>
        <p:nvSpPr>
          <p:cNvPr id="33795" name="Slide Number Placeholder 4">
            <a:extLst>
              <a:ext uri="{FF2B5EF4-FFF2-40B4-BE49-F238E27FC236}">
                <a16:creationId xmlns:a16="http://schemas.microsoft.com/office/drawing/2014/main" id="{5A669277-C77A-4168-776B-6714D9E5A9B6}"/>
              </a:ext>
            </a:extLst>
          </p:cNvPr>
          <p:cNvSpPr>
            <a:spLocks noGrp="1" noChangeArrowheads="1"/>
          </p:cNvSpPr>
          <p:nvPr>
            <p:ph type="sldNum" sz="quarter" idx="12"/>
          </p:nvPr>
        </p:nvSpPr>
        <p:spPr>
          <a:xfrm>
            <a:off x="10353901" y="5969000"/>
            <a:ext cx="542697" cy="2794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spcBef>
                <a:spcPct val="0"/>
              </a:spcBef>
              <a:spcAft>
                <a:spcPts val="600"/>
              </a:spcAft>
              <a:buFontTx/>
              <a:buNone/>
            </a:pPr>
            <a:fld id="{76CB80B9-2061-4790-B8D0-72E5A53BA70A}" type="slidenum">
              <a:rPr lang="en-US" altLang="en-US" sz="1200">
                <a:solidFill>
                  <a:srgbClr val="000000"/>
                </a:solidFill>
              </a:rPr>
              <a:pPr>
                <a:lnSpc>
                  <a:spcPct val="90000"/>
                </a:lnSpc>
                <a:spcBef>
                  <a:spcPct val="0"/>
                </a:spcBef>
                <a:spcAft>
                  <a:spcPts val="600"/>
                </a:spcAft>
                <a:buFontTx/>
                <a:buNone/>
              </a:pPr>
              <a:t>28</a:t>
            </a:fld>
            <a:endParaRPr lang="en-US" altLang="en-US" sz="1200">
              <a:solidFill>
                <a:srgbClr val="000000"/>
              </a:solidFill>
            </a:endParaRPr>
          </a:p>
        </p:txBody>
      </p:sp>
    </p:spTree>
    <p:extLst>
      <p:ext uri="{BB962C8B-B14F-4D97-AF65-F5344CB8AC3E}">
        <p14:creationId xmlns:p14="http://schemas.microsoft.com/office/powerpoint/2010/main" val="1909721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useBgFill="1">
        <p:nvSpPr>
          <p:cNvPr id="33802" name="Rectangle 33801">
            <a:extLst>
              <a:ext uri="{FF2B5EF4-FFF2-40B4-BE49-F238E27FC236}">
                <a16:creationId xmlns:a16="http://schemas.microsoft.com/office/drawing/2014/main" id="{7E61F402-3445-458A-9A2B-D28FD28839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804" name="Group 33803">
            <a:extLst>
              <a:ext uri="{FF2B5EF4-FFF2-40B4-BE49-F238E27FC236}">
                <a16:creationId xmlns:a16="http://schemas.microsoft.com/office/drawing/2014/main" id="{A673C096-95AE-4644-B76C-1DF1B667DC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33805" name="Picture 33804">
              <a:extLst>
                <a:ext uri="{FF2B5EF4-FFF2-40B4-BE49-F238E27FC236}">
                  <a16:creationId xmlns:a16="http://schemas.microsoft.com/office/drawing/2014/main" id="{77A91835-418B-4867-87D7-1376A57F3F7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3806" name="Rectangle 33805">
              <a:extLst>
                <a:ext uri="{FF2B5EF4-FFF2-40B4-BE49-F238E27FC236}">
                  <a16:creationId xmlns:a16="http://schemas.microsoft.com/office/drawing/2014/main" id="{65B511A1-E0EC-49FE-8068-9DA29CD00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3807" name="Picture 33806">
              <a:extLst>
                <a:ext uri="{FF2B5EF4-FFF2-40B4-BE49-F238E27FC236}">
                  <a16:creationId xmlns:a16="http://schemas.microsoft.com/office/drawing/2014/main" id="{4A61BC5F-ADA4-4DBA-9C6B-E17E0B82EC54}"/>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33808" name="Picture 33807">
              <a:extLst>
                <a:ext uri="{FF2B5EF4-FFF2-40B4-BE49-F238E27FC236}">
                  <a16:creationId xmlns:a16="http://schemas.microsoft.com/office/drawing/2014/main" id="{1CE6F7D2-ACED-47D2-BEFD-FB26F75374A1}"/>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33796" name="Rectangle 2">
            <a:extLst>
              <a:ext uri="{FF2B5EF4-FFF2-40B4-BE49-F238E27FC236}">
                <a16:creationId xmlns:a16="http://schemas.microsoft.com/office/drawing/2014/main" id="{6FC50395-33B5-E775-6637-D437FE1927A3}"/>
              </a:ext>
            </a:extLst>
          </p:cNvPr>
          <p:cNvSpPr>
            <a:spLocks noGrp="1" noChangeArrowheads="1"/>
          </p:cNvSpPr>
          <p:nvPr>
            <p:ph type="title"/>
          </p:nvPr>
        </p:nvSpPr>
        <p:spPr>
          <a:xfrm>
            <a:off x="1295402" y="982132"/>
            <a:ext cx="3660056" cy="1325373"/>
          </a:xfrm>
        </p:spPr>
        <p:txBody>
          <a:bodyPr anchor="b">
            <a:normAutofit/>
          </a:bodyPr>
          <a:lstStyle/>
          <a:p>
            <a:pPr eaLnBrk="1" hangingPunct="1">
              <a:lnSpc>
                <a:spcPct val="90000"/>
              </a:lnSpc>
            </a:pPr>
            <a:r>
              <a:rPr lang="en-US" altLang="en-US" sz="2800">
                <a:solidFill>
                  <a:srgbClr val="262626"/>
                </a:solidFill>
              </a:rPr>
              <a:t>Principles of Security in the organization (continued)</a:t>
            </a:r>
            <a:endParaRPr lang="en-US" altLang="en-US" sz="2800" b="1">
              <a:solidFill>
                <a:srgbClr val="262626"/>
              </a:solidFill>
            </a:endParaRPr>
          </a:p>
        </p:txBody>
      </p:sp>
      <p:cxnSp>
        <p:nvCxnSpPr>
          <p:cNvPr id="33810" name="Straight Connector 33809">
            <a:extLst>
              <a:ext uri="{FF2B5EF4-FFF2-40B4-BE49-F238E27FC236}">
                <a16:creationId xmlns:a16="http://schemas.microsoft.com/office/drawing/2014/main" id="{2BE880E9-2B86-4CDB-B5B7-308745CDD1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95401" y="2400639"/>
            <a:ext cx="3660057" cy="0"/>
          </a:xfrm>
          <a:prstGeom prst="line">
            <a:avLst/>
          </a:prstGeom>
        </p:spPr>
        <p:style>
          <a:lnRef idx="2">
            <a:schemeClr val="accent1"/>
          </a:lnRef>
          <a:fillRef idx="0">
            <a:schemeClr val="accent1"/>
          </a:fillRef>
          <a:effectRef idx="1">
            <a:schemeClr val="accent1"/>
          </a:effectRef>
          <a:fontRef idx="minor">
            <a:schemeClr val="tx1"/>
          </a:fontRef>
        </p:style>
      </p:cxnSp>
      <p:sp>
        <p:nvSpPr>
          <p:cNvPr id="33797" name="Rectangle 3">
            <a:extLst>
              <a:ext uri="{FF2B5EF4-FFF2-40B4-BE49-F238E27FC236}">
                <a16:creationId xmlns:a16="http://schemas.microsoft.com/office/drawing/2014/main" id="{1D1E5661-8C8B-C646-BA49-457BB75B3566}"/>
              </a:ext>
            </a:extLst>
          </p:cNvPr>
          <p:cNvSpPr>
            <a:spLocks noGrp="1" noChangeArrowheads="1"/>
          </p:cNvSpPr>
          <p:nvPr>
            <p:ph idx="1"/>
          </p:nvPr>
        </p:nvSpPr>
        <p:spPr>
          <a:xfrm>
            <a:off x="1295401" y="2493774"/>
            <a:ext cx="3660057" cy="3382094"/>
          </a:xfrm>
        </p:spPr>
        <p:txBody>
          <a:bodyPr>
            <a:normAutofit/>
          </a:bodyPr>
          <a:lstStyle/>
          <a:p>
            <a:pPr algn="ctr" eaLnBrk="1" hangingPunct="1"/>
            <a:endParaRPr lang="en-US" altLang="en-US" sz="1600">
              <a:solidFill>
                <a:srgbClr val="262626"/>
              </a:solidFill>
            </a:endParaRPr>
          </a:p>
          <a:p>
            <a:pPr algn="ctr" eaLnBrk="1" hangingPunct="1"/>
            <a:endParaRPr lang="en-US" altLang="en-US" sz="1600">
              <a:solidFill>
                <a:srgbClr val="262626"/>
              </a:solidFill>
            </a:endParaRPr>
          </a:p>
          <a:p>
            <a:pPr lvl="1" algn="ctr" eaLnBrk="1" hangingPunct="1"/>
            <a:r>
              <a:rPr lang="en-US" altLang="en-US" sz="1600">
                <a:solidFill>
                  <a:srgbClr val="262626"/>
                </a:solidFill>
              </a:rPr>
              <a:t>Defense in Depth (continued)</a:t>
            </a:r>
          </a:p>
        </p:txBody>
      </p:sp>
      <p:pic>
        <p:nvPicPr>
          <p:cNvPr id="4" name="Picture 3" descr="A firewall with arrows pointing to a brick wall&#10;&#10;Description automatically generated">
            <a:extLst>
              <a:ext uri="{FF2B5EF4-FFF2-40B4-BE49-F238E27FC236}">
                <a16:creationId xmlns:a16="http://schemas.microsoft.com/office/drawing/2014/main" id="{0FB594E8-8233-285E-4088-3924AE1B765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18668" y="2287247"/>
            <a:ext cx="5469466" cy="2283502"/>
          </a:xfrm>
          <a:prstGeom prst="rect">
            <a:avLst/>
          </a:prstGeom>
          <a:ln w="57150" cmpd="thickThin">
            <a:solidFill>
              <a:srgbClr val="7F7F7F"/>
            </a:solidFill>
            <a:miter lim="800000"/>
          </a:ln>
        </p:spPr>
      </p:pic>
      <p:sp>
        <p:nvSpPr>
          <p:cNvPr id="10" name="Footer Placeholder 3">
            <a:extLst>
              <a:ext uri="{FF2B5EF4-FFF2-40B4-BE49-F238E27FC236}">
                <a16:creationId xmlns:a16="http://schemas.microsoft.com/office/drawing/2014/main" id="{585667DA-EB7C-58D9-3EC0-724203E3AC1F}"/>
              </a:ext>
            </a:extLst>
          </p:cNvPr>
          <p:cNvSpPr>
            <a:spLocks noGrp="1"/>
          </p:cNvSpPr>
          <p:nvPr>
            <p:ph type="ftr" sz="quarter" idx="11"/>
          </p:nvPr>
        </p:nvSpPr>
        <p:spPr>
          <a:xfrm>
            <a:off x="1295401" y="5969000"/>
            <a:ext cx="7305900" cy="279400"/>
          </a:xfrm>
        </p:spPr>
        <p:txBody>
          <a:bodyPr>
            <a:normAutofit/>
          </a:bodyPr>
          <a:lstStyle/>
          <a:p>
            <a:pPr>
              <a:spcAft>
                <a:spcPts val="600"/>
              </a:spcAft>
              <a:defRPr/>
            </a:pPr>
            <a:r>
              <a:rPr lang="en-US">
                <a:solidFill>
                  <a:srgbClr val="000000"/>
                </a:solidFill>
              </a:rPr>
              <a:t>Secure Software Development: A Security Programmer’s Guide, First Edition</a:t>
            </a:r>
          </a:p>
        </p:txBody>
      </p:sp>
      <p:sp>
        <p:nvSpPr>
          <p:cNvPr id="33795" name="Slide Number Placeholder 4">
            <a:extLst>
              <a:ext uri="{FF2B5EF4-FFF2-40B4-BE49-F238E27FC236}">
                <a16:creationId xmlns:a16="http://schemas.microsoft.com/office/drawing/2014/main" id="{5A669277-C77A-4168-776B-6714D9E5A9B6}"/>
              </a:ext>
            </a:extLst>
          </p:cNvPr>
          <p:cNvSpPr>
            <a:spLocks noGrp="1" noChangeArrowheads="1"/>
          </p:cNvSpPr>
          <p:nvPr>
            <p:ph type="sldNum" sz="quarter" idx="12"/>
          </p:nvPr>
        </p:nvSpPr>
        <p:spPr>
          <a:xfrm>
            <a:off x="10353901" y="5969000"/>
            <a:ext cx="542697" cy="2794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spcBef>
                <a:spcPct val="0"/>
              </a:spcBef>
              <a:spcAft>
                <a:spcPts val="600"/>
              </a:spcAft>
              <a:buFontTx/>
              <a:buNone/>
            </a:pPr>
            <a:fld id="{76CB80B9-2061-4790-B8D0-72E5A53BA70A}" type="slidenum">
              <a:rPr lang="en-US" altLang="en-US" sz="1200">
                <a:solidFill>
                  <a:srgbClr val="000000"/>
                </a:solidFill>
              </a:rPr>
              <a:pPr>
                <a:lnSpc>
                  <a:spcPct val="90000"/>
                </a:lnSpc>
                <a:spcBef>
                  <a:spcPct val="0"/>
                </a:spcBef>
                <a:spcAft>
                  <a:spcPts val="600"/>
                </a:spcAft>
                <a:buFontTx/>
                <a:buNone/>
              </a:pPr>
              <a:t>29</a:t>
            </a:fld>
            <a:endParaRPr lang="en-US" altLang="en-US" sz="1200">
              <a:solidFill>
                <a:srgbClr val="000000"/>
              </a:solidFill>
            </a:endParaRPr>
          </a:p>
        </p:txBody>
      </p:sp>
    </p:spTree>
    <p:extLst>
      <p:ext uri="{BB962C8B-B14F-4D97-AF65-F5344CB8AC3E}">
        <p14:creationId xmlns:p14="http://schemas.microsoft.com/office/powerpoint/2010/main" val="36888096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2">
            <a:extLst>
              <a:ext uri="{FF2B5EF4-FFF2-40B4-BE49-F238E27FC236}">
                <a16:creationId xmlns:a16="http://schemas.microsoft.com/office/drawing/2014/main" id="{657EC6CB-197A-5A1D-B1F2-DBE1C31F9D88}"/>
              </a:ext>
            </a:extLst>
          </p:cNvPr>
          <p:cNvSpPr>
            <a:spLocks noGrp="1" noChangeArrowheads="1"/>
          </p:cNvSpPr>
          <p:nvPr>
            <p:ph type="title"/>
          </p:nvPr>
        </p:nvSpPr>
        <p:spPr/>
        <p:txBody>
          <a:bodyPr>
            <a:normAutofit fontScale="90000"/>
          </a:bodyPr>
          <a:lstStyle/>
          <a:p>
            <a:pPr eaLnBrk="1" hangingPunct="1"/>
            <a:r>
              <a:rPr lang="en-US" altLang="en-US" dirty="0"/>
              <a:t>Principles of Security in the organization (continued)</a:t>
            </a:r>
            <a:endParaRPr lang="en-US" altLang="en-US" b="1" dirty="0"/>
          </a:p>
        </p:txBody>
      </p:sp>
      <p:sp>
        <p:nvSpPr>
          <p:cNvPr id="35845" name="Rectangle 3">
            <a:extLst>
              <a:ext uri="{FF2B5EF4-FFF2-40B4-BE49-F238E27FC236}">
                <a16:creationId xmlns:a16="http://schemas.microsoft.com/office/drawing/2014/main" id="{323260C9-9A66-3D81-B84F-70603FC317BC}"/>
              </a:ext>
            </a:extLst>
          </p:cNvPr>
          <p:cNvSpPr>
            <a:spLocks noGrp="1" noChangeArrowheads="1"/>
          </p:cNvSpPr>
          <p:nvPr>
            <p:ph idx="1"/>
          </p:nvPr>
        </p:nvSpPr>
        <p:spPr>
          <a:xfrm>
            <a:off x="2057400" y="1676400"/>
            <a:ext cx="8077200" cy="4191000"/>
          </a:xfrm>
        </p:spPr>
        <p:txBody>
          <a:bodyPr/>
          <a:lstStyle/>
          <a:p>
            <a:pPr eaLnBrk="1" hangingPunct="1"/>
            <a:endParaRPr lang="en-US" altLang="en-US" dirty="0"/>
          </a:p>
          <a:p>
            <a:pPr eaLnBrk="1" hangingPunct="1"/>
            <a:endParaRPr lang="en-US" altLang="en-US" dirty="0"/>
          </a:p>
          <a:p>
            <a:pPr eaLnBrk="1" hangingPunct="1"/>
            <a:r>
              <a:rPr lang="en-US" altLang="en-US" dirty="0"/>
              <a:t>The Principles and Concepts of Secure Software (continued)</a:t>
            </a:r>
          </a:p>
          <a:p>
            <a:pPr lvl="1" eaLnBrk="1" hangingPunct="1"/>
            <a:r>
              <a:rPr lang="en-US" altLang="en-US" dirty="0"/>
              <a:t>Fail Securely</a:t>
            </a:r>
          </a:p>
          <a:p>
            <a:pPr lvl="2" eaLnBrk="1" hangingPunct="1"/>
            <a:r>
              <a:rPr lang="en-US" altLang="en-US" dirty="0"/>
              <a:t>Fail securely is simply what happens when the system goes down</a:t>
            </a:r>
          </a:p>
          <a:p>
            <a:pPr lvl="2" eaLnBrk="1" hangingPunct="1"/>
            <a:r>
              <a:rPr lang="en-US" altLang="en-US" dirty="0"/>
              <a:t>Power failure, server crashes, and other network problems are reasons beyond the control of the application programmers</a:t>
            </a:r>
          </a:p>
          <a:p>
            <a:pPr lvl="3" eaLnBrk="1" hangingPunct="1"/>
            <a:r>
              <a:rPr lang="en-US" altLang="en-US" dirty="0"/>
              <a:t>Address error-handling issues appropriately</a:t>
            </a:r>
          </a:p>
          <a:p>
            <a:pPr lvl="3" eaLnBrk="1" hangingPunct="1"/>
            <a:r>
              <a:rPr lang="en-US" altLang="en-US" dirty="0"/>
              <a:t>Degrade gracefully</a:t>
            </a:r>
          </a:p>
          <a:p>
            <a:pPr lvl="2" eaLnBrk="1" hangingPunct="1"/>
            <a:endParaRPr lang="en-US" altLang="en-US" dirty="0"/>
          </a:p>
        </p:txBody>
      </p:sp>
      <p:sp>
        <p:nvSpPr>
          <p:cNvPr id="4" name="Footer Placeholder 3">
            <a:extLst>
              <a:ext uri="{FF2B5EF4-FFF2-40B4-BE49-F238E27FC236}">
                <a16:creationId xmlns:a16="http://schemas.microsoft.com/office/drawing/2014/main" id="{2F19892C-AF91-1C0D-1A4F-9F34C0922AFE}"/>
              </a:ext>
            </a:extLst>
          </p:cNvPr>
          <p:cNvSpPr>
            <a:spLocks noGrp="1"/>
          </p:cNvSpPr>
          <p:nvPr>
            <p:ph type="ftr" sz="quarter" idx="11"/>
          </p:nvPr>
        </p:nvSpPr>
        <p:spPr/>
        <p:txBody>
          <a:bodyPr/>
          <a:lstStyle/>
          <a:p>
            <a:pPr>
              <a:defRPr/>
            </a:pPr>
            <a:r>
              <a:rPr lang="en-US"/>
              <a:t>Secure Software Development: A Security Programmer’s Guide, First Edition</a:t>
            </a:r>
          </a:p>
        </p:txBody>
      </p:sp>
      <p:sp>
        <p:nvSpPr>
          <p:cNvPr id="35843" name="Slide Number Placeholder 4">
            <a:extLst>
              <a:ext uri="{FF2B5EF4-FFF2-40B4-BE49-F238E27FC236}">
                <a16:creationId xmlns:a16="http://schemas.microsoft.com/office/drawing/2014/main" id="{2369B602-A258-FE03-6A76-740ADEFF061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4CCD7B6-4456-433E-919B-F1F3FD8E2880}" type="slidenum">
              <a:rPr lang="en-US" altLang="en-US" sz="1400"/>
              <a:pPr>
                <a:spcBef>
                  <a:spcPct val="0"/>
                </a:spcBef>
                <a:buFontTx/>
                <a:buNone/>
              </a:pPr>
              <a:t>30</a:t>
            </a:fld>
            <a:endParaRPr lang="en-US" altLang="en-US" sz="14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2">
            <a:extLst>
              <a:ext uri="{FF2B5EF4-FFF2-40B4-BE49-F238E27FC236}">
                <a16:creationId xmlns:a16="http://schemas.microsoft.com/office/drawing/2014/main" id="{DD077BA5-32D1-F7B4-7271-727497B70211}"/>
              </a:ext>
            </a:extLst>
          </p:cNvPr>
          <p:cNvSpPr>
            <a:spLocks noGrp="1" noChangeArrowheads="1"/>
          </p:cNvSpPr>
          <p:nvPr>
            <p:ph type="title"/>
          </p:nvPr>
        </p:nvSpPr>
        <p:spPr/>
        <p:txBody>
          <a:bodyPr>
            <a:normAutofit fontScale="90000"/>
          </a:bodyPr>
          <a:lstStyle/>
          <a:p>
            <a:pPr eaLnBrk="1" hangingPunct="1"/>
            <a:r>
              <a:rPr lang="en-US" altLang="en-US" dirty="0"/>
              <a:t>Principles of Security in the organization (continued)</a:t>
            </a:r>
            <a:endParaRPr lang="en-US" altLang="en-US" b="1" dirty="0"/>
          </a:p>
        </p:txBody>
      </p:sp>
      <p:sp>
        <p:nvSpPr>
          <p:cNvPr id="37893" name="Rectangle 3">
            <a:extLst>
              <a:ext uri="{FF2B5EF4-FFF2-40B4-BE49-F238E27FC236}">
                <a16:creationId xmlns:a16="http://schemas.microsoft.com/office/drawing/2014/main" id="{EF76F92D-B982-4243-F7C5-171F69405214}"/>
              </a:ext>
            </a:extLst>
          </p:cNvPr>
          <p:cNvSpPr>
            <a:spLocks noGrp="1" noChangeArrowheads="1"/>
          </p:cNvSpPr>
          <p:nvPr>
            <p:ph idx="1"/>
          </p:nvPr>
        </p:nvSpPr>
        <p:spPr>
          <a:xfrm>
            <a:off x="2057400" y="1676400"/>
            <a:ext cx="8077200" cy="4191000"/>
          </a:xfrm>
        </p:spPr>
        <p:txBody>
          <a:bodyPr/>
          <a:lstStyle/>
          <a:p>
            <a:pPr eaLnBrk="1" hangingPunct="1"/>
            <a:endParaRPr lang="en-US" altLang="en-US" dirty="0"/>
          </a:p>
          <a:p>
            <a:pPr eaLnBrk="1" hangingPunct="1"/>
            <a:endParaRPr lang="en-US" altLang="en-US" dirty="0"/>
          </a:p>
          <a:p>
            <a:pPr eaLnBrk="1" hangingPunct="1"/>
            <a:r>
              <a:rPr lang="en-US" altLang="en-US" dirty="0"/>
              <a:t>The Principles and Concepts of Secure Software</a:t>
            </a:r>
          </a:p>
          <a:p>
            <a:pPr lvl="1" eaLnBrk="1" hangingPunct="1"/>
            <a:r>
              <a:rPr lang="en-US" altLang="en-US" dirty="0"/>
              <a:t>Least Privilege</a:t>
            </a:r>
          </a:p>
          <a:p>
            <a:pPr lvl="2" eaLnBrk="1" hangingPunct="1"/>
            <a:r>
              <a:rPr lang="en-US" altLang="en-US" dirty="0"/>
              <a:t>Give users the least amount of privilege required to perform the use case functionality</a:t>
            </a:r>
          </a:p>
          <a:p>
            <a:pPr lvl="2" eaLnBrk="1" hangingPunct="1"/>
            <a:r>
              <a:rPr lang="en-US" altLang="en-US" dirty="0"/>
              <a:t>Applications that need access to other system resources; grant only what is needed</a:t>
            </a:r>
          </a:p>
        </p:txBody>
      </p:sp>
      <p:sp>
        <p:nvSpPr>
          <p:cNvPr id="4" name="Footer Placeholder 3">
            <a:extLst>
              <a:ext uri="{FF2B5EF4-FFF2-40B4-BE49-F238E27FC236}">
                <a16:creationId xmlns:a16="http://schemas.microsoft.com/office/drawing/2014/main" id="{2AD54C10-9D47-4B47-55B8-961B7286EC73}"/>
              </a:ext>
            </a:extLst>
          </p:cNvPr>
          <p:cNvSpPr>
            <a:spLocks noGrp="1"/>
          </p:cNvSpPr>
          <p:nvPr>
            <p:ph type="ftr" sz="quarter" idx="11"/>
          </p:nvPr>
        </p:nvSpPr>
        <p:spPr/>
        <p:txBody>
          <a:bodyPr/>
          <a:lstStyle/>
          <a:p>
            <a:pPr>
              <a:defRPr/>
            </a:pPr>
            <a:r>
              <a:rPr lang="en-US"/>
              <a:t>Secure Software Development: A Security Programmer’s Guide, First Edition</a:t>
            </a:r>
          </a:p>
        </p:txBody>
      </p:sp>
      <p:sp>
        <p:nvSpPr>
          <p:cNvPr id="37891" name="Slide Number Placeholder 4">
            <a:extLst>
              <a:ext uri="{FF2B5EF4-FFF2-40B4-BE49-F238E27FC236}">
                <a16:creationId xmlns:a16="http://schemas.microsoft.com/office/drawing/2014/main" id="{A4BDDD66-E92B-3767-7D00-6EEA5F41EB6B}"/>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CFD1905-C3C1-4341-A45B-E08585E08689}" type="slidenum">
              <a:rPr lang="en-US" altLang="en-US" sz="1400"/>
              <a:pPr>
                <a:spcBef>
                  <a:spcPct val="0"/>
                </a:spcBef>
                <a:buFontTx/>
                <a:buNone/>
              </a:pPr>
              <a:t>31</a:t>
            </a:fld>
            <a:endParaRPr lang="en-US" altLang="en-US" sz="14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useBgFill="1">
        <p:nvSpPr>
          <p:cNvPr id="37898" name="Rectangle 37897">
            <a:extLst>
              <a:ext uri="{FF2B5EF4-FFF2-40B4-BE49-F238E27FC236}">
                <a16:creationId xmlns:a16="http://schemas.microsoft.com/office/drawing/2014/main" id="{7E61F402-3445-458A-9A2B-D28FD28839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900" name="Group 37899">
            <a:extLst>
              <a:ext uri="{FF2B5EF4-FFF2-40B4-BE49-F238E27FC236}">
                <a16:creationId xmlns:a16="http://schemas.microsoft.com/office/drawing/2014/main" id="{A673C096-95AE-4644-B76C-1DF1B667DC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37901" name="Picture 37900">
              <a:extLst>
                <a:ext uri="{FF2B5EF4-FFF2-40B4-BE49-F238E27FC236}">
                  <a16:creationId xmlns:a16="http://schemas.microsoft.com/office/drawing/2014/main" id="{77A91835-418B-4867-87D7-1376A57F3F7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7902" name="Rectangle 37901">
              <a:extLst>
                <a:ext uri="{FF2B5EF4-FFF2-40B4-BE49-F238E27FC236}">
                  <a16:creationId xmlns:a16="http://schemas.microsoft.com/office/drawing/2014/main" id="{65B511A1-E0EC-49FE-8068-9DA29CD00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7903" name="Picture 37902">
              <a:extLst>
                <a:ext uri="{FF2B5EF4-FFF2-40B4-BE49-F238E27FC236}">
                  <a16:creationId xmlns:a16="http://schemas.microsoft.com/office/drawing/2014/main" id="{4A61BC5F-ADA4-4DBA-9C6B-E17E0B82EC54}"/>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37904" name="Picture 37903">
              <a:extLst>
                <a:ext uri="{FF2B5EF4-FFF2-40B4-BE49-F238E27FC236}">
                  <a16:creationId xmlns:a16="http://schemas.microsoft.com/office/drawing/2014/main" id="{1CE6F7D2-ACED-47D2-BEFD-FB26F75374A1}"/>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37892" name="Rectangle 2">
            <a:extLst>
              <a:ext uri="{FF2B5EF4-FFF2-40B4-BE49-F238E27FC236}">
                <a16:creationId xmlns:a16="http://schemas.microsoft.com/office/drawing/2014/main" id="{DD077BA5-32D1-F7B4-7271-727497B70211}"/>
              </a:ext>
            </a:extLst>
          </p:cNvPr>
          <p:cNvSpPr>
            <a:spLocks noGrp="1" noChangeArrowheads="1"/>
          </p:cNvSpPr>
          <p:nvPr>
            <p:ph type="title"/>
          </p:nvPr>
        </p:nvSpPr>
        <p:spPr>
          <a:xfrm>
            <a:off x="1295402" y="982132"/>
            <a:ext cx="3660056" cy="1325373"/>
          </a:xfrm>
        </p:spPr>
        <p:txBody>
          <a:bodyPr anchor="b">
            <a:normAutofit/>
          </a:bodyPr>
          <a:lstStyle/>
          <a:p>
            <a:pPr eaLnBrk="1" hangingPunct="1">
              <a:lnSpc>
                <a:spcPct val="90000"/>
              </a:lnSpc>
            </a:pPr>
            <a:r>
              <a:rPr lang="en-US" altLang="en-US" sz="2800">
                <a:solidFill>
                  <a:srgbClr val="262626"/>
                </a:solidFill>
              </a:rPr>
              <a:t>Principles of Security in the organization (continued)</a:t>
            </a:r>
            <a:endParaRPr lang="en-US" altLang="en-US" sz="2800" b="1">
              <a:solidFill>
                <a:srgbClr val="262626"/>
              </a:solidFill>
            </a:endParaRPr>
          </a:p>
        </p:txBody>
      </p:sp>
      <p:cxnSp>
        <p:nvCxnSpPr>
          <p:cNvPr id="37906" name="Straight Connector 37905">
            <a:extLst>
              <a:ext uri="{FF2B5EF4-FFF2-40B4-BE49-F238E27FC236}">
                <a16:creationId xmlns:a16="http://schemas.microsoft.com/office/drawing/2014/main" id="{2BE880E9-2B86-4CDB-B5B7-308745CDD1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95401" y="2400639"/>
            <a:ext cx="3660057" cy="0"/>
          </a:xfrm>
          <a:prstGeom prst="line">
            <a:avLst/>
          </a:prstGeom>
        </p:spPr>
        <p:style>
          <a:lnRef idx="2">
            <a:schemeClr val="accent1"/>
          </a:lnRef>
          <a:fillRef idx="0">
            <a:schemeClr val="accent1"/>
          </a:fillRef>
          <a:effectRef idx="1">
            <a:schemeClr val="accent1"/>
          </a:effectRef>
          <a:fontRef idx="minor">
            <a:schemeClr val="tx1"/>
          </a:fontRef>
        </p:style>
      </p:cxnSp>
      <p:sp>
        <p:nvSpPr>
          <p:cNvPr id="37893" name="Rectangle 3">
            <a:extLst>
              <a:ext uri="{FF2B5EF4-FFF2-40B4-BE49-F238E27FC236}">
                <a16:creationId xmlns:a16="http://schemas.microsoft.com/office/drawing/2014/main" id="{EF76F92D-B982-4243-F7C5-171F69405214}"/>
              </a:ext>
            </a:extLst>
          </p:cNvPr>
          <p:cNvSpPr>
            <a:spLocks noGrp="1" noChangeArrowheads="1"/>
          </p:cNvSpPr>
          <p:nvPr>
            <p:ph idx="1"/>
          </p:nvPr>
        </p:nvSpPr>
        <p:spPr>
          <a:xfrm>
            <a:off x="1295401" y="2493774"/>
            <a:ext cx="3660057" cy="3382094"/>
          </a:xfrm>
        </p:spPr>
        <p:txBody>
          <a:bodyPr>
            <a:normAutofit/>
          </a:bodyPr>
          <a:lstStyle/>
          <a:p>
            <a:pPr algn="ctr" eaLnBrk="1" hangingPunct="1"/>
            <a:endParaRPr lang="en-US" altLang="en-US" sz="1600">
              <a:solidFill>
                <a:srgbClr val="262626"/>
              </a:solidFill>
            </a:endParaRPr>
          </a:p>
          <a:p>
            <a:pPr algn="ctr" eaLnBrk="1" hangingPunct="1"/>
            <a:endParaRPr lang="en-US" altLang="en-US" sz="1600">
              <a:solidFill>
                <a:srgbClr val="262626"/>
              </a:solidFill>
            </a:endParaRPr>
          </a:p>
          <a:p>
            <a:pPr lvl="1" algn="ctr" eaLnBrk="1" hangingPunct="1"/>
            <a:r>
              <a:rPr lang="en-US" altLang="en-US" sz="1600">
                <a:solidFill>
                  <a:srgbClr val="262626"/>
                </a:solidFill>
              </a:rPr>
              <a:t>Least Privilege</a:t>
            </a:r>
          </a:p>
        </p:txBody>
      </p:sp>
      <p:pic>
        <p:nvPicPr>
          <p:cNvPr id="3" name="Picture 2" descr="A white background with black text&#10;&#10;Description automatically generated">
            <a:extLst>
              <a:ext uri="{FF2B5EF4-FFF2-40B4-BE49-F238E27FC236}">
                <a16:creationId xmlns:a16="http://schemas.microsoft.com/office/drawing/2014/main" id="{136BE2D0-C26F-0CAA-CDA1-9244EDA6CA5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18668" y="2478679"/>
            <a:ext cx="5469466" cy="1900638"/>
          </a:xfrm>
          <a:prstGeom prst="rect">
            <a:avLst/>
          </a:prstGeom>
          <a:ln w="57150" cmpd="thickThin">
            <a:solidFill>
              <a:srgbClr val="7F7F7F"/>
            </a:solidFill>
            <a:miter lim="800000"/>
          </a:ln>
        </p:spPr>
      </p:pic>
      <p:sp>
        <p:nvSpPr>
          <p:cNvPr id="4" name="Footer Placeholder 3">
            <a:extLst>
              <a:ext uri="{FF2B5EF4-FFF2-40B4-BE49-F238E27FC236}">
                <a16:creationId xmlns:a16="http://schemas.microsoft.com/office/drawing/2014/main" id="{2AD54C10-9D47-4B47-55B8-961B7286EC73}"/>
              </a:ext>
            </a:extLst>
          </p:cNvPr>
          <p:cNvSpPr>
            <a:spLocks noGrp="1"/>
          </p:cNvSpPr>
          <p:nvPr>
            <p:ph type="ftr" sz="quarter" idx="11"/>
          </p:nvPr>
        </p:nvSpPr>
        <p:spPr>
          <a:xfrm>
            <a:off x="1295401" y="5969000"/>
            <a:ext cx="7305900" cy="279400"/>
          </a:xfrm>
        </p:spPr>
        <p:txBody>
          <a:bodyPr>
            <a:normAutofit/>
          </a:bodyPr>
          <a:lstStyle/>
          <a:p>
            <a:pPr>
              <a:spcAft>
                <a:spcPts val="600"/>
              </a:spcAft>
              <a:defRPr/>
            </a:pPr>
            <a:r>
              <a:rPr lang="en-US">
                <a:solidFill>
                  <a:srgbClr val="000000"/>
                </a:solidFill>
              </a:rPr>
              <a:t>Secure Software Development: A Security Programmer’s Guide, First Edition</a:t>
            </a:r>
          </a:p>
        </p:txBody>
      </p:sp>
      <p:sp>
        <p:nvSpPr>
          <p:cNvPr id="37891" name="Slide Number Placeholder 4">
            <a:extLst>
              <a:ext uri="{FF2B5EF4-FFF2-40B4-BE49-F238E27FC236}">
                <a16:creationId xmlns:a16="http://schemas.microsoft.com/office/drawing/2014/main" id="{A4BDDD66-E92B-3767-7D00-6EEA5F41EB6B}"/>
              </a:ext>
            </a:extLst>
          </p:cNvPr>
          <p:cNvSpPr>
            <a:spLocks noGrp="1" noChangeArrowheads="1"/>
          </p:cNvSpPr>
          <p:nvPr>
            <p:ph type="sldNum" sz="quarter" idx="12"/>
          </p:nvPr>
        </p:nvSpPr>
        <p:spPr>
          <a:xfrm>
            <a:off x="10353901" y="5969000"/>
            <a:ext cx="542697" cy="2794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spcBef>
                <a:spcPct val="0"/>
              </a:spcBef>
              <a:spcAft>
                <a:spcPts val="600"/>
              </a:spcAft>
              <a:buFontTx/>
              <a:buNone/>
            </a:pPr>
            <a:fld id="{ECFD1905-C3C1-4341-A45B-E08585E08689}" type="slidenum">
              <a:rPr lang="en-US" altLang="en-US" sz="1200">
                <a:solidFill>
                  <a:srgbClr val="000000"/>
                </a:solidFill>
              </a:rPr>
              <a:pPr>
                <a:lnSpc>
                  <a:spcPct val="90000"/>
                </a:lnSpc>
                <a:spcBef>
                  <a:spcPct val="0"/>
                </a:spcBef>
                <a:spcAft>
                  <a:spcPts val="600"/>
                </a:spcAft>
                <a:buFontTx/>
                <a:buNone/>
              </a:pPr>
              <a:t>32</a:t>
            </a:fld>
            <a:endParaRPr lang="en-US" altLang="en-US" sz="1200">
              <a:solidFill>
                <a:srgbClr val="000000"/>
              </a:solidFill>
            </a:endParaRPr>
          </a:p>
        </p:txBody>
      </p:sp>
    </p:spTree>
    <p:extLst>
      <p:ext uri="{BB962C8B-B14F-4D97-AF65-F5344CB8AC3E}">
        <p14:creationId xmlns:p14="http://schemas.microsoft.com/office/powerpoint/2010/main" val="19617815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useBgFill="1">
        <p:nvSpPr>
          <p:cNvPr id="37898" name="Rectangle 37897">
            <a:extLst>
              <a:ext uri="{FF2B5EF4-FFF2-40B4-BE49-F238E27FC236}">
                <a16:creationId xmlns:a16="http://schemas.microsoft.com/office/drawing/2014/main" id="{7E61F402-3445-458A-9A2B-D28FD28839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900" name="Group 37899">
            <a:extLst>
              <a:ext uri="{FF2B5EF4-FFF2-40B4-BE49-F238E27FC236}">
                <a16:creationId xmlns:a16="http://schemas.microsoft.com/office/drawing/2014/main" id="{A673C096-95AE-4644-B76C-1DF1B667DC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37901" name="Picture 37900">
              <a:extLst>
                <a:ext uri="{FF2B5EF4-FFF2-40B4-BE49-F238E27FC236}">
                  <a16:creationId xmlns:a16="http://schemas.microsoft.com/office/drawing/2014/main" id="{77A91835-418B-4867-87D7-1376A57F3F7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7902" name="Rectangle 37901">
              <a:extLst>
                <a:ext uri="{FF2B5EF4-FFF2-40B4-BE49-F238E27FC236}">
                  <a16:creationId xmlns:a16="http://schemas.microsoft.com/office/drawing/2014/main" id="{65B511A1-E0EC-49FE-8068-9DA29CD00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7903" name="Picture 37902">
              <a:extLst>
                <a:ext uri="{FF2B5EF4-FFF2-40B4-BE49-F238E27FC236}">
                  <a16:creationId xmlns:a16="http://schemas.microsoft.com/office/drawing/2014/main" id="{4A61BC5F-ADA4-4DBA-9C6B-E17E0B82EC54}"/>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37904" name="Picture 37903">
              <a:extLst>
                <a:ext uri="{FF2B5EF4-FFF2-40B4-BE49-F238E27FC236}">
                  <a16:creationId xmlns:a16="http://schemas.microsoft.com/office/drawing/2014/main" id="{1CE6F7D2-ACED-47D2-BEFD-FB26F75374A1}"/>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37892" name="Rectangle 2">
            <a:extLst>
              <a:ext uri="{FF2B5EF4-FFF2-40B4-BE49-F238E27FC236}">
                <a16:creationId xmlns:a16="http://schemas.microsoft.com/office/drawing/2014/main" id="{DD077BA5-32D1-F7B4-7271-727497B70211}"/>
              </a:ext>
            </a:extLst>
          </p:cNvPr>
          <p:cNvSpPr>
            <a:spLocks noGrp="1" noChangeArrowheads="1"/>
          </p:cNvSpPr>
          <p:nvPr>
            <p:ph type="title"/>
          </p:nvPr>
        </p:nvSpPr>
        <p:spPr>
          <a:xfrm>
            <a:off x="1295402" y="982132"/>
            <a:ext cx="3660056" cy="1325373"/>
          </a:xfrm>
        </p:spPr>
        <p:txBody>
          <a:bodyPr anchor="b">
            <a:normAutofit/>
          </a:bodyPr>
          <a:lstStyle/>
          <a:p>
            <a:pPr eaLnBrk="1" hangingPunct="1">
              <a:lnSpc>
                <a:spcPct val="90000"/>
              </a:lnSpc>
            </a:pPr>
            <a:r>
              <a:rPr lang="en-US" altLang="en-US" sz="2800">
                <a:solidFill>
                  <a:srgbClr val="262626"/>
                </a:solidFill>
              </a:rPr>
              <a:t>Principles of Security in the organization (continued)</a:t>
            </a:r>
            <a:endParaRPr lang="en-US" altLang="en-US" sz="2800" b="1">
              <a:solidFill>
                <a:srgbClr val="262626"/>
              </a:solidFill>
            </a:endParaRPr>
          </a:p>
        </p:txBody>
      </p:sp>
      <p:cxnSp>
        <p:nvCxnSpPr>
          <p:cNvPr id="37906" name="Straight Connector 37905">
            <a:extLst>
              <a:ext uri="{FF2B5EF4-FFF2-40B4-BE49-F238E27FC236}">
                <a16:creationId xmlns:a16="http://schemas.microsoft.com/office/drawing/2014/main" id="{2BE880E9-2B86-4CDB-B5B7-308745CDD1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95401" y="2400639"/>
            <a:ext cx="3660057" cy="0"/>
          </a:xfrm>
          <a:prstGeom prst="line">
            <a:avLst/>
          </a:prstGeom>
        </p:spPr>
        <p:style>
          <a:lnRef idx="2">
            <a:schemeClr val="accent1"/>
          </a:lnRef>
          <a:fillRef idx="0">
            <a:schemeClr val="accent1"/>
          </a:fillRef>
          <a:effectRef idx="1">
            <a:schemeClr val="accent1"/>
          </a:effectRef>
          <a:fontRef idx="minor">
            <a:schemeClr val="tx1"/>
          </a:fontRef>
        </p:style>
      </p:cxnSp>
      <p:sp>
        <p:nvSpPr>
          <p:cNvPr id="37893" name="Rectangle 3">
            <a:extLst>
              <a:ext uri="{FF2B5EF4-FFF2-40B4-BE49-F238E27FC236}">
                <a16:creationId xmlns:a16="http://schemas.microsoft.com/office/drawing/2014/main" id="{EF76F92D-B982-4243-F7C5-171F69405214}"/>
              </a:ext>
            </a:extLst>
          </p:cNvPr>
          <p:cNvSpPr>
            <a:spLocks noGrp="1" noChangeArrowheads="1"/>
          </p:cNvSpPr>
          <p:nvPr>
            <p:ph idx="1"/>
          </p:nvPr>
        </p:nvSpPr>
        <p:spPr>
          <a:xfrm>
            <a:off x="1295401" y="2493774"/>
            <a:ext cx="3660057" cy="3382094"/>
          </a:xfrm>
        </p:spPr>
        <p:txBody>
          <a:bodyPr>
            <a:normAutofit/>
          </a:bodyPr>
          <a:lstStyle/>
          <a:p>
            <a:pPr algn="ctr" eaLnBrk="1" hangingPunct="1"/>
            <a:endParaRPr lang="en-US" altLang="en-US" sz="1600">
              <a:solidFill>
                <a:srgbClr val="262626"/>
              </a:solidFill>
            </a:endParaRPr>
          </a:p>
          <a:p>
            <a:pPr algn="ctr" eaLnBrk="1" hangingPunct="1"/>
            <a:endParaRPr lang="en-US" altLang="en-US" sz="1600">
              <a:solidFill>
                <a:srgbClr val="262626"/>
              </a:solidFill>
            </a:endParaRPr>
          </a:p>
          <a:p>
            <a:pPr lvl="1" algn="ctr" eaLnBrk="1" hangingPunct="1"/>
            <a:r>
              <a:rPr lang="en-US" altLang="en-US" sz="1600">
                <a:solidFill>
                  <a:srgbClr val="262626"/>
                </a:solidFill>
              </a:rPr>
              <a:t>Least Privilege</a:t>
            </a:r>
          </a:p>
        </p:txBody>
      </p:sp>
      <p:pic>
        <p:nvPicPr>
          <p:cNvPr id="5" name="Picture 4" descr="A red arrow pointing to a red arrow&#10;&#10;Description automatically generated">
            <a:extLst>
              <a:ext uri="{FF2B5EF4-FFF2-40B4-BE49-F238E27FC236}">
                <a16:creationId xmlns:a16="http://schemas.microsoft.com/office/drawing/2014/main" id="{0B143BF9-332C-6ADB-8200-857A35437DE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89355" y="1218061"/>
            <a:ext cx="5469466" cy="1914313"/>
          </a:xfrm>
          <a:prstGeom prst="rect">
            <a:avLst/>
          </a:prstGeom>
          <a:ln w="57150" cmpd="thickThin">
            <a:solidFill>
              <a:srgbClr val="7F7F7F"/>
            </a:solidFill>
            <a:miter lim="800000"/>
          </a:ln>
        </p:spPr>
      </p:pic>
      <p:sp>
        <p:nvSpPr>
          <p:cNvPr id="4" name="Footer Placeholder 3">
            <a:extLst>
              <a:ext uri="{FF2B5EF4-FFF2-40B4-BE49-F238E27FC236}">
                <a16:creationId xmlns:a16="http://schemas.microsoft.com/office/drawing/2014/main" id="{2AD54C10-9D47-4B47-55B8-961B7286EC73}"/>
              </a:ext>
            </a:extLst>
          </p:cNvPr>
          <p:cNvSpPr>
            <a:spLocks noGrp="1"/>
          </p:cNvSpPr>
          <p:nvPr>
            <p:ph type="ftr" sz="quarter" idx="11"/>
          </p:nvPr>
        </p:nvSpPr>
        <p:spPr>
          <a:xfrm>
            <a:off x="1295401" y="5969000"/>
            <a:ext cx="7305900" cy="279400"/>
          </a:xfrm>
        </p:spPr>
        <p:txBody>
          <a:bodyPr>
            <a:normAutofit/>
          </a:bodyPr>
          <a:lstStyle/>
          <a:p>
            <a:pPr>
              <a:spcAft>
                <a:spcPts val="600"/>
              </a:spcAft>
              <a:defRPr/>
            </a:pPr>
            <a:r>
              <a:rPr lang="en-US">
                <a:solidFill>
                  <a:srgbClr val="000000"/>
                </a:solidFill>
              </a:rPr>
              <a:t>Secure Software Development: A Security Programmer’s Guide, First Edition</a:t>
            </a:r>
          </a:p>
        </p:txBody>
      </p:sp>
      <p:sp>
        <p:nvSpPr>
          <p:cNvPr id="37891" name="Slide Number Placeholder 4">
            <a:extLst>
              <a:ext uri="{FF2B5EF4-FFF2-40B4-BE49-F238E27FC236}">
                <a16:creationId xmlns:a16="http://schemas.microsoft.com/office/drawing/2014/main" id="{A4BDDD66-E92B-3767-7D00-6EEA5F41EB6B}"/>
              </a:ext>
            </a:extLst>
          </p:cNvPr>
          <p:cNvSpPr>
            <a:spLocks noGrp="1" noChangeArrowheads="1"/>
          </p:cNvSpPr>
          <p:nvPr>
            <p:ph type="sldNum" sz="quarter" idx="12"/>
          </p:nvPr>
        </p:nvSpPr>
        <p:spPr>
          <a:xfrm>
            <a:off x="10353901" y="5969000"/>
            <a:ext cx="542697" cy="2794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spcBef>
                <a:spcPct val="0"/>
              </a:spcBef>
              <a:spcAft>
                <a:spcPts val="600"/>
              </a:spcAft>
              <a:buFontTx/>
              <a:buNone/>
            </a:pPr>
            <a:fld id="{ECFD1905-C3C1-4341-A45B-E08585E08689}" type="slidenum">
              <a:rPr lang="en-US" altLang="en-US" sz="1200">
                <a:solidFill>
                  <a:srgbClr val="000000"/>
                </a:solidFill>
              </a:rPr>
              <a:pPr>
                <a:lnSpc>
                  <a:spcPct val="90000"/>
                </a:lnSpc>
                <a:spcBef>
                  <a:spcPct val="0"/>
                </a:spcBef>
                <a:spcAft>
                  <a:spcPts val="600"/>
                </a:spcAft>
                <a:buFontTx/>
                <a:buNone/>
              </a:pPr>
              <a:t>33</a:t>
            </a:fld>
            <a:endParaRPr lang="en-US" altLang="en-US" sz="1200">
              <a:solidFill>
                <a:srgbClr val="000000"/>
              </a:solidFill>
            </a:endParaRPr>
          </a:p>
        </p:txBody>
      </p:sp>
      <p:sp>
        <p:nvSpPr>
          <p:cNvPr id="6" name="Rectangle: Rounded Corners 5">
            <a:extLst>
              <a:ext uri="{FF2B5EF4-FFF2-40B4-BE49-F238E27FC236}">
                <a16:creationId xmlns:a16="http://schemas.microsoft.com/office/drawing/2014/main" id="{91754171-2468-29EF-EA18-D73A2AF8F63D}"/>
              </a:ext>
            </a:extLst>
          </p:cNvPr>
          <p:cNvSpPr/>
          <p:nvPr/>
        </p:nvSpPr>
        <p:spPr>
          <a:xfrm>
            <a:off x="5563469" y="3544584"/>
            <a:ext cx="2758597" cy="2422630"/>
          </a:xfrm>
          <a:prstGeom prst="roundRect">
            <a:avLst/>
          </a:prstGeom>
          <a:solidFill>
            <a:srgbClr val="C0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Admin/ System Level</a:t>
            </a:r>
          </a:p>
          <a:p>
            <a:r>
              <a:rPr lang="en-US" dirty="0">
                <a:solidFill>
                  <a:schemeClr val="bg1"/>
                </a:solidFill>
              </a:rPr>
              <a:t>---------------------------- </a:t>
            </a:r>
          </a:p>
          <a:p>
            <a:pPr marL="285750" indent="-285750">
              <a:buFont typeface="Garamond" panose="02020404030301010803" pitchFamily="18" charset="0"/>
              <a:buChar char="­"/>
            </a:pPr>
            <a:r>
              <a:rPr lang="en-US" sz="1600" dirty="0">
                <a:solidFill>
                  <a:schemeClr val="bg1"/>
                </a:solidFill>
              </a:rPr>
              <a:t>read user files</a:t>
            </a:r>
          </a:p>
          <a:p>
            <a:pPr marL="285750" indent="-285750">
              <a:buFont typeface="Garamond" panose="02020404030301010803" pitchFamily="18" charset="0"/>
              <a:buChar char="­"/>
            </a:pPr>
            <a:r>
              <a:rPr lang="en-US" sz="1600" dirty="0">
                <a:solidFill>
                  <a:schemeClr val="bg1"/>
                </a:solidFill>
              </a:rPr>
              <a:t>Change system passwords</a:t>
            </a:r>
          </a:p>
          <a:p>
            <a:pPr marL="285750" indent="-285750">
              <a:buFont typeface="Garamond" panose="02020404030301010803" pitchFamily="18" charset="0"/>
              <a:buChar char="­"/>
            </a:pPr>
            <a:r>
              <a:rPr lang="en-US" sz="1600" dirty="0">
                <a:solidFill>
                  <a:schemeClr val="bg1"/>
                </a:solidFill>
              </a:rPr>
              <a:t>Download malicious files</a:t>
            </a:r>
          </a:p>
          <a:p>
            <a:pPr marL="285750" indent="-285750">
              <a:buFont typeface="Garamond" panose="02020404030301010803" pitchFamily="18" charset="0"/>
              <a:buChar char="­"/>
            </a:pPr>
            <a:r>
              <a:rPr lang="en-US" sz="1600" dirty="0">
                <a:solidFill>
                  <a:schemeClr val="bg1"/>
                </a:solidFill>
              </a:rPr>
              <a:t>Anything else</a:t>
            </a:r>
          </a:p>
        </p:txBody>
      </p:sp>
    </p:spTree>
    <p:extLst>
      <p:ext uri="{BB962C8B-B14F-4D97-AF65-F5344CB8AC3E}">
        <p14:creationId xmlns:p14="http://schemas.microsoft.com/office/powerpoint/2010/main" val="21018750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useBgFill="1">
        <p:nvSpPr>
          <p:cNvPr id="37898" name="Rectangle 37897">
            <a:extLst>
              <a:ext uri="{FF2B5EF4-FFF2-40B4-BE49-F238E27FC236}">
                <a16:creationId xmlns:a16="http://schemas.microsoft.com/office/drawing/2014/main" id="{7E61F402-3445-458A-9A2B-D28FD28839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900" name="Group 37899">
            <a:extLst>
              <a:ext uri="{FF2B5EF4-FFF2-40B4-BE49-F238E27FC236}">
                <a16:creationId xmlns:a16="http://schemas.microsoft.com/office/drawing/2014/main" id="{A673C096-95AE-4644-B76C-1DF1B667DC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37901" name="Picture 37900">
              <a:extLst>
                <a:ext uri="{FF2B5EF4-FFF2-40B4-BE49-F238E27FC236}">
                  <a16:creationId xmlns:a16="http://schemas.microsoft.com/office/drawing/2014/main" id="{77A91835-418B-4867-87D7-1376A57F3F7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7902" name="Rectangle 37901">
              <a:extLst>
                <a:ext uri="{FF2B5EF4-FFF2-40B4-BE49-F238E27FC236}">
                  <a16:creationId xmlns:a16="http://schemas.microsoft.com/office/drawing/2014/main" id="{65B511A1-E0EC-49FE-8068-9DA29CD00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7903" name="Picture 37902">
              <a:extLst>
                <a:ext uri="{FF2B5EF4-FFF2-40B4-BE49-F238E27FC236}">
                  <a16:creationId xmlns:a16="http://schemas.microsoft.com/office/drawing/2014/main" id="{4A61BC5F-ADA4-4DBA-9C6B-E17E0B82EC54}"/>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37904" name="Picture 37903">
              <a:extLst>
                <a:ext uri="{FF2B5EF4-FFF2-40B4-BE49-F238E27FC236}">
                  <a16:creationId xmlns:a16="http://schemas.microsoft.com/office/drawing/2014/main" id="{1CE6F7D2-ACED-47D2-BEFD-FB26F75374A1}"/>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37892" name="Rectangle 2">
            <a:extLst>
              <a:ext uri="{FF2B5EF4-FFF2-40B4-BE49-F238E27FC236}">
                <a16:creationId xmlns:a16="http://schemas.microsoft.com/office/drawing/2014/main" id="{DD077BA5-32D1-F7B4-7271-727497B70211}"/>
              </a:ext>
            </a:extLst>
          </p:cNvPr>
          <p:cNvSpPr>
            <a:spLocks noGrp="1" noChangeArrowheads="1"/>
          </p:cNvSpPr>
          <p:nvPr>
            <p:ph type="title"/>
          </p:nvPr>
        </p:nvSpPr>
        <p:spPr>
          <a:xfrm>
            <a:off x="1295402" y="982132"/>
            <a:ext cx="3660056" cy="1325373"/>
          </a:xfrm>
        </p:spPr>
        <p:txBody>
          <a:bodyPr anchor="b">
            <a:normAutofit/>
          </a:bodyPr>
          <a:lstStyle/>
          <a:p>
            <a:pPr eaLnBrk="1" hangingPunct="1">
              <a:lnSpc>
                <a:spcPct val="90000"/>
              </a:lnSpc>
            </a:pPr>
            <a:r>
              <a:rPr lang="en-US" altLang="en-US" sz="2800">
                <a:solidFill>
                  <a:srgbClr val="262626"/>
                </a:solidFill>
              </a:rPr>
              <a:t>Principles of Security in the organization (continued)</a:t>
            </a:r>
            <a:endParaRPr lang="en-US" altLang="en-US" sz="2800" b="1">
              <a:solidFill>
                <a:srgbClr val="262626"/>
              </a:solidFill>
            </a:endParaRPr>
          </a:p>
        </p:txBody>
      </p:sp>
      <p:cxnSp>
        <p:nvCxnSpPr>
          <p:cNvPr id="37906" name="Straight Connector 37905">
            <a:extLst>
              <a:ext uri="{FF2B5EF4-FFF2-40B4-BE49-F238E27FC236}">
                <a16:creationId xmlns:a16="http://schemas.microsoft.com/office/drawing/2014/main" id="{2BE880E9-2B86-4CDB-B5B7-308745CDD1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95401" y="2400639"/>
            <a:ext cx="3660057" cy="0"/>
          </a:xfrm>
          <a:prstGeom prst="line">
            <a:avLst/>
          </a:prstGeom>
        </p:spPr>
        <p:style>
          <a:lnRef idx="2">
            <a:schemeClr val="accent1"/>
          </a:lnRef>
          <a:fillRef idx="0">
            <a:schemeClr val="accent1"/>
          </a:fillRef>
          <a:effectRef idx="1">
            <a:schemeClr val="accent1"/>
          </a:effectRef>
          <a:fontRef idx="minor">
            <a:schemeClr val="tx1"/>
          </a:fontRef>
        </p:style>
      </p:cxnSp>
      <p:sp>
        <p:nvSpPr>
          <p:cNvPr id="37893" name="Rectangle 3">
            <a:extLst>
              <a:ext uri="{FF2B5EF4-FFF2-40B4-BE49-F238E27FC236}">
                <a16:creationId xmlns:a16="http://schemas.microsoft.com/office/drawing/2014/main" id="{EF76F92D-B982-4243-F7C5-171F69405214}"/>
              </a:ext>
            </a:extLst>
          </p:cNvPr>
          <p:cNvSpPr>
            <a:spLocks noGrp="1" noChangeArrowheads="1"/>
          </p:cNvSpPr>
          <p:nvPr>
            <p:ph idx="1"/>
          </p:nvPr>
        </p:nvSpPr>
        <p:spPr>
          <a:xfrm>
            <a:off x="1295401" y="2493774"/>
            <a:ext cx="3660057" cy="3382094"/>
          </a:xfrm>
        </p:spPr>
        <p:txBody>
          <a:bodyPr>
            <a:normAutofit/>
          </a:bodyPr>
          <a:lstStyle/>
          <a:p>
            <a:pPr algn="ctr" eaLnBrk="1" hangingPunct="1"/>
            <a:endParaRPr lang="en-US" altLang="en-US" sz="1600">
              <a:solidFill>
                <a:srgbClr val="262626"/>
              </a:solidFill>
            </a:endParaRPr>
          </a:p>
          <a:p>
            <a:pPr algn="ctr" eaLnBrk="1" hangingPunct="1"/>
            <a:endParaRPr lang="en-US" altLang="en-US" sz="1600">
              <a:solidFill>
                <a:srgbClr val="262626"/>
              </a:solidFill>
            </a:endParaRPr>
          </a:p>
          <a:p>
            <a:pPr lvl="1" algn="ctr" eaLnBrk="1" hangingPunct="1"/>
            <a:r>
              <a:rPr lang="en-US" altLang="en-US" sz="1600">
                <a:solidFill>
                  <a:srgbClr val="262626"/>
                </a:solidFill>
              </a:rPr>
              <a:t>Least Privilege</a:t>
            </a:r>
          </a:p>
        </p:txBody>
      </p:sp>
      <p:pic>
        <p:nvPicPr>
          <p:cNvPr id="5" name="Picture 4" descr="A red arrow pointing to a red arrow&#10;&#10;Description automatically generated">
            <a:extLst>
              <a:ext uri="{FF2B5EF4-FFF2-40B4-BE49-F238E27FC236}">
                <a16:creationId xmlns:a16="http://schemas.microsoft.com/office/drawing/2014/main" id="{0B143BF9-332C-6ADB-8200-857A35437DE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61489" y="982132"/>
            <a:ext cx="5469466" cy="1914313"/>
          </a:xfrm>
          <a:prstGeom prst="rect">
            <a:avLst/>
          </a:prstGeom>
          <a:ln w="57150" cmpd="thickThin">
            <a:solidFill>
              <a:srgbClr val="7F7F7F"/>
            </a:solidFill>
            <a:miter lim="800000"/>
          </a:ln>
        </p:spPr>
      </p:pic>
      <p:sp>
        <p:nvSpPr>
          <p:cNvPr id="4" name="Footer Placeholder 3">
            <a:extLst>
              <a:ext uri="{FF2B5EF4-FFF2-40B4-BE49-F238E27FC236}">
                <a16:creationId xmlns:a16="http://schemas.microsoft.com/office/drawing/2014/main" id="{2AD54C10-9D47-4B47-55B8-961B7286EC73}"/>
              </a:ext>
            </a:extLst>
          </p:cNvPr>
          <p:cNvSpPr>
            <a:spLocks noGrp="1"/>
          </p:cNvSpPr>
          <p:nvPr>
            <p:ph type="ftr" sz="quarter" idx="11"/>
          </p:nvPr>
        </p:nvSpPr>
        <p:spPr>
          <a:xfrm>
            <a:off x="1295401" y="5969000"/>
            <a:ext cx="7305900" cy="279400"/>
          </a:xfrm>
        </p:spPr>
        <p:txBody>
          <a:bodyPr>
            <a:normAutofit/>
          </a:bodyPr>
          <a:lstStyle/>
          <a:p>
            <a:pPr>
              <a:spcAft>
                <a:spcPts val="600"/>
              </a:spcAft>
              <a:defRPr/>
            </a:pPr>
            <a:r>
              <a:rPr lang="en-US">
                <a:solidFill>
                  <a:srgbClr val="000000"/>
                </a:solidFill>
              </a:rPr>
              <a:t>Secure Software Development: A Security Programmer’s Guide, First Edition</a:t>
            </a:r>
          </a:p>
        </p:txBody>
      </p:sp>
      <p:sp>
        <p:nvSpPr>
          <p:cNvPr id="37891" name="Slide Number Placeholder 4">
            <a:extLst>
              <a:ext uri="{FF2B5EF4-FFF2-40B4-BE49-F238E27FC236}">
                <a16:creationId xmlns:a16="http://schemas.microsoft.com/office/drawing/2014/main" id="{A4BDDD66-E92B-3767-7D00-6EEA5F41EB6B}"/>
              </a:ext>
            </a:extLst>
          </p:cNvPr>
          <p:cNvSpPr>
            <a:spLocks noGrp="1" noChangeArrowheads="1"/>
          </p:cNvSpPr>
          <p:nvPr>
            <p:ph type="sldNum" sz="quarter" idx="12"/>
          </p:nvPr>
        </p:nvSpPr>
        <p:spPr>
          <a:xfrm>
            <a:off x="10353901" y="5969000"/>
            <a:ext cx="542697" cy="2794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spcBef>
                <a:spcPct val="0"/>
              </a:spcBef>
              <a:spcAft>
                <a:spcPts val="600"/>
              </a:spcAft>
              <a:buFontTx/>
              <a:buNone/>
            </a:pPr>
            <a:fld id="{ECFD1905-C3C1-4341-A45B-E08585E08689}" type="slidenum">
              <a:rPr lang="en-US" altLang="en-US" sz="1200">
                <a:solidFill>
                  <a:srgbClr val="000000"/>
                </a:solidFill>
              </a:rPr>
              <a:pPr>
                <a:lnSpc>
                  <a:spcPct val="90000"/>
                </a:lnSpc>
                <a:spcBef>
                  <a:spcPct val="0"/>
                </a:spcBef>
                <a:spcAft>
                  <a:spcPts val="600"/>
                </a:spcAft>
                <a:buFontTx/>
                <a:buNone/>
              </a:pPr>
              <a:t>34</a:t>
            </a:fld>
            <a:endParaRPr lang="en-US" altLang="en-US" sz="1200">
              <a:solidFill>
                <a:srgbClr val="000000"/>
              </a:solidFill>
            </a:endParaRPr>
          </a:p>
        </p:txBody>
      </p:sp>
      <p:sp>
        <p:nvSpPr>
          <p:cNvPr id="2" name="Rectangle: Rounded Corners 1">
            <a:extLst>
              <a:ext uri="{FF2B5EF4-FFF2-40B4-BE49-F238E27FC236}">
                <a16:creationId xmlns:a16="http://schemas.microsoft.com/office/drawing/2014/main" id="{CD215174-3D5A-5BDC-4D19-74D7A382FB7C}"/>
              </a:ext>
            </a:extLst>
          </p:cNvPr>
          <p:cNvSpPr/>
          <p:nvPr/>
        </p:nvSpPr>
        <p:spPr>
          <a:xfrm>
            <a:off x="5383699" y="3361107"/>
            <a:ext cx="2758597" cy="2422630"/>
          </a:xfrm>
          <a:prstGeom prst="round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Admin/ System Level</a:t>
            </a:r>
          </a:p>
          <a:p>
            <a:r>
              <a:rPr lang="en-US" dirty="0">
                <a:solidFill>
                  <a:schemeClr val="bg1"/>
                </a:solidFill>
              </a:rPr>
              <a:t>---------------------------- </a:t>
            </a:r>
          </a:p>
          <a:p>
            <a:pPr marL="285750" indent="-285750">
              <a:buFont typeface="Garamond" panose="02020404030301010803" pitchFamily="18" charset="0"/>
              <a:buChar char="­"/>
            </a:pPr>
            <a:r>
              <a:rPr lang="en-US" sz="1600" dirty="0">
                <a:solidFill>
                  <a:schemeClr val="bg1"/>
                </a:solidFill>
              </a:rPr>
              <a:t>read user files</a:t>
            </a:r>
          </a:p>
          <a:p>
            <a:pPr marL="285750" indent="-285750">
              <a:buFont typeface="Garamond" panose="02020404030301010803" pitchFamily="18" charset="0"/>
              <a:buChar char="­"/>
            </a:pPr>
            <a:r>
              <a:rPr lang="en-US" sz="1600" dirty="0">
                <a:solidFill>
                  <a:schemeClr val="bg1"/>
                </a:solidFill>
              </a:rPr>
              <a:t>Change system passwords</a:t>
            </a:r>
          </a:p>
          <a:p>
            <a:pPr marL="285750" indent="-285750">
              <a:buFont typeface="Garamond" panose="02020404030301010803" pitchFamily="18" charset="0"/>
              <a:buChar char="­"/>
            </a:pPr>
            <a:r>
              <a:rPr lang="en-US" sz="1600" dirty="0">
                <a:solidFill>
                  <a:schemeClr val="bg1"/>
                </a:solidFill>
              </a:rPr>
              <a:t>Download malicious files</a:t>
            </a:r>
          </a:p>
          <a:p>
            <a:pPr marL="285750" indent="-285750">
              <a:buFont typeface="Garamond" panose="02020404030301010803" pitchFamily="18" charset="0"/>
              <a:buChar char="­"/>
            </a:pPr>
            <a:r>
              <a:rPr lang="en-US" sz="1600" dirty="0">
                <a:solidFill>
                  <a:schemeClr val="bg1"/>
                </a:solidFill>
              </a:rPr>
              <a:t>Anything else</a:t>
            </a:r>
          </a:p>
        </p:txBody>
      </p:sp>
      <p:sp>
        <p:nvSpPr>
          <p:cNvPr id="3" name="Rectangle: Rounded Corners 2">
            <a:extLst>
              <a:ext uri="{FF2B5EF4-FFF2-40B4-BE49-F238E27FC236}">
                <a16:creationId xmlns:a16="http://schemas.microsoft.com/office/drawing/2014/main" id="{C2E8877F-3342-2D53-9F3B-B88E64651C87}"/>
              </a:ext>
            </a:extLst>
          </p:cNvPr>
          <p:cNvSpPr/>
          <p:nvPr/>
        </p:nvSpPr>
        <p:spPr>
          <a:xfrm>
            <a:off x="8354936" y="3361107"/>
            <a:ext cx="2758597" cy="2422630"/>
          </a:xfrm>
          <a:prstGeom prst="roundRect">
            <a:avLst/>
          </a:prstGeom>
          <a:solidFill>
            <a:srgbClr val="D6A300"/>
          </a:solidFill>
          <a:ln>
            <a:solidFill>
              <a:srgbClr val="D6A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Normal user</a:t>
            </a:r>
          </a:p>
          <a:p>
            <a:r>
              <a:rPr lang="en-US" dirty="0">
                <a:solidFill>
                  <a:schemeClr val="bg1"/>
                </a:solidFill>
              </a:rPr>
              <a:t>---------------------------- </a:t>
            </a:r>
          </a:p>
          <a:p>
            <a:pPr marL="285750" indent="-285750">
              <a:buFont typeface="Garamond" panose="02020404030301010803" pitchFamily="18" charset="0"/>
              <a:buChar char="­"/>
            </a:pPr>
            <a:r>
              <a:rPr lang="en-US" sz="1600" strike="sngStrike" dirty="0">
                <a:solidFill>
                  <a:schemeClr val="bg1"/>
                </a:solidFill>
              </a:rPr>
              <a:t>read user files</a:t>
            </a:r>
          </a:p>
          <a:p>
            <a:pPr marL="285750" indent="-285750">
              <a:buFont typeface="Garamond" panose="02020404030301010803" pitchFamily="18" charset="0"/>
              <a:buChar char="­"/>
            </a:pPr>
            <a:r>
              <a:rPr lang="en-US" sz="1600" strike="sngStrike" dirty="0">
                <a:solidFill>
                  <a:schemeClr val="bg1"/>
                </a:solidFill>
              </a:rPr>
              <a:t>Change system passwords</a:t>
            </a:r>
          </a:p>
          <a:p>
            <a:pPr marL="285750" indent="-285750">
              <a:buFont typeface="Garamond" panose="02020404030301010803" pitchFamily="18" charset="0"/>
              <a:buChar char="­"/>
            </a:pPr>
            <a:r>
              <a:rPr lang="en-US" sz="1600" strike="sngStrike" dirty="0">
                <a:solidFill>
                  <a:schemeClr val="bg1"/>
                </a:solidFill>
              </a:rPr>
              <a:t>Download malicious files</a:t>
            </a:r>
          </a:p>
          <a:p>
            <a:pPr marL="285750" indent="-285750">
              <a:buFont typeface="Garamond" panose="02020404030301010803" pitchFamily="18" charset="0"/>
              <a:buChar char="­"/>
            </a:pPr>
            <a:r>
              <a:rPr lang="en-US" sz="1600" dirty="0">
                <a:solidFill>
                  <a:schemeClr val="bg1"/>
                </a:solidFill>
              </a:rPr>
              <a:t>Limited capabilities</a:t>
            </a:r>
          </a:p>
        </p:txBody>
      </p:sp>
    </p:spTree>
    <p:extLst>
      <p:ext uri="{BB962C8B-B14F-4D97-AF65-F5344CB8AC3E}">
        <p14:creationId xmlns:p14="http://schemas.microsoft.com/office/powerpoint/2010/main" val="7516044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a:extLst>
              <a:ext uri="{FF2B5EF4-FFF2-40B4-BE49-F238E27FC236}">
                <a16:creationId xmlns:a16="http://schemas.microsoft.com/office/drawing/2014/main" id="{230CE885-CFE5-80EE-2CC9-D3F62161B892}"/>
              </a:ext>
            </a:extLst>
          </p:cNvPr>
          <p:cNvSpPr>
            <a:spLocks noGrp="1" noChangeArrowheads="1"/>
          </p:cNvSpPr>
          <p:nvPr>
            <p:ph type="title"/>
          </p:nvPr>
        </p:nvSpPr>
        <p:spPr/>
        <p:txBody>
          <a:bodyPr>
            <a:normAutofit fontScale="90000"/>
          </a:bodyPr>
          <a:lstStyle/>
          <a:p>
            <a:pPr eaLnBrk="1" hangingPunct="1"/>
            <a:r>
              <a:rPr lang="en-US" altLang="en-US" dirty="0"/>
              <a:t>Principles of Security in the organization (continued)</a:t>
            </a:r>
            <a:endParaRPr lang="en-US" altLang="en-US" b="1" dirty="0"/>
          </a:p>
        </p:txBody>
      </p:sp>
      <p:sp>
        <p:nvSpPr>
          <p:cNvPr id="39941" name="Rectangle 3">
            <a:extLst>
              <a:ext uri="{FF2B5EF4-FFF2-40B4-BE49-F238E27FC236}">
                <a16:creationId xmlns:a16="http://schemas.microsoft.com/office/drawing/2014/main" id="{A2F13AFB-7DA7-9756-3E52-1248CC0B1E74}"/>
              </a:ext>
            </a:extLst>
          </p:cNvPr>
          <p:cNvSpPr>
            <a:spLocks noGrp="1" noChangeArrowheads="1"/>
          </p:cNvSpPr>
          <p:nvPr>
            <p:ph idx="1"/>
          </p:nvPr>
        </p:nvSpPr>
        <p:spPr>
          <a:xfrm>
            <a:off x="2057400" y="1676400"/>
            <a:ext cx="8077200" cy="4191000"/>
          </a:xfrm>
        </p:spPr>
        <p:txBody>
          <a:bodyPr/>
          <a:lstStyle/>
          <a:p>
            <a:pPr eaLnBrk="1" hangingPunct="1"/>
            <a:endParaRPr lang="en-US" altLang="en-US" dirty="0"/>
          </a:p>
          <a:p>
            <a:pPr eaLnBrk="1" hangingPunct="1"/>
            <a:endParaRPr lang="en-US" altLang="en-US" dirty="0"/>
          </a:p>
          <a:p>
            <a:pPr eaLnBrk="1" hangingPunct="1"/>
            <a:r>
              <a:rPr lang="en-US" altLang="en-US" dirty="0"/>
              <a:t>The Principles and Concepts of Secure Software (continued)</a:t>
            </a:r>
          </a:p>
          <a:p>
            <a:pPr lvl="1" eaLnBrk="1" hangingPunct="1"/>
            <a:r>
              <a:rPr lang="en-US" altLang="en-US" dirty="0"/>
              <a:t>Keep It Simple</a:t>
            </a:r>
          </a:p>
          <a:p>
            <a:pPr lvl="2" eaLnBrk="1" hangingPunct="1"/>
            <a:r>
              <a:rPr lang="en-US" altLang="en-US" dirty="0"/>
              <a:t>Keep security simple and keep the application simple</a:t>
            </a:r>
          </a:p>
          <a:p>
            <a:pPr lvl="2" eaLnBrk="1" hangingPunct="1"/>
            <a:r>
              <a:rPr lang="en-US" altLang="en-US" dirty="0"/>
              <a:t>Keep the design simple</a:t>
            </a:r>
          </a:p>
          <a:p>
            <a:pPr lvl="2" eaLnBrk="1" hangingPunct="1"/>
            <a:r>
              <a:rPr lang="en-US" altLang="en-US" dirty="0"/>
              <a:t>Keep the database and code as simple as possible</a:t>
            </a:r>
          </a:p>
          <a:p>
            <a:pPr lvl="2" eaLnBrk="1" hangingPunct="1"/>
            <a:r>
              <a:rPr lang="en-US" altLang="en-US" dirty="0"/>
              <a:t>Do not try to win the award for most impressive or coolest code</a:t>
            </a:r>
          </a:p>
        </p:txBody>
      </p:sp>
      <p:sp>
        <p:nvSpPr>
          <p:cNvPr id="4" name="Footer Placeholder 3">
            <a:extLst>
              <a:ext uri="{FF2B5EF4-FFF2-40B4-BE49-F238E27FC236}">
                <a16:creationId xmlns:a16="http://schemas.microsoft.com/office/drawing/2014/main" id="{41739330-6AAD-CA42-A07B-A362015EF9FD}"/>
              </a:ext>
            </a:extLst>
          </p:cNvPr>
          <p:cNvSpPr>
            <a:spLocks noGrp="1"/>
          </p:cNvSpPr>
          <p:nvPr>
            <p:ph type="ftr" sz="quarter" idx="11"/>
          </p:nvPr>
        </p:nvSpPr>
        <p:spPr/>
        <p:txBody>
          <a:bodyPr/>
          <a:lstStyle/>
          <a:p>
            <a:pPr>
              <a:defRPr/>
            </a:pPr>
            <a:r>
              <a:rPr lang="en-US"/>
              <a:t>Secure Software Development: A Security Programmer’s Guide, First Edition</a:t>
            </a:r>
          </a:p>
        </p:txBody>
      </p:sp>
      <p:sp>
        <p:nvSpPr>
          <p:cNvPr id="39939" name="Slide Number Placeholder 4">
            <a:extLst>
              <a:ext uri="{FF2B5EF4-FFF2-40B4-BE49-F238E27FC236}">
                <a16:creationId xmlns:a16="http://schemas.microsoft.com/office/drawing/2014/main" id="{6253C2FF-7FFA-0336-D380-632849FCE3F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C0B60A1-005C-4A14-8A90-47278DA84356}" type="slidenum">
              <a:rPr lang="en-US" altLang="en-US" sz="1400"/>
              <a:pPr>
                <a:spcBef>
                  <a:spcPct val="0"/>
                </a:spcBef>
                <a:buFontTx/>
                <a:buNone/>
              </a:pPr>
              <a:t>35</a:t>
            </a:fld>
            <a:endParaRPr lang="en-US" altLang="en-US" sz="14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a:extLst>
              <a:ext uri="{FF2B5EF4-FFF2-40B4-BE49-F238E27FC236}">
                <a16:creationId xmlns:a16="http://schemas.microsoft.com/office/drawing/2014/main" id="{6EE4D9C1-EA29-A03A-9D7B-F8AEF6B85338}"/>
              </a:ext>
            </a:extLst>
          </p:cNvPr>
          <p:cNvSpPr>
            <a:spLocks noGrp="1" noChangeArrowheads="1"/>
          </p:cNvSpPr>
          <p:nvPr>
            <p:ph type="title"/>
          </p:nvPr>
        </p:nvSpPr>
        <p:spPr/>
        <p:txBody>
          <a:bodyPr>
            <a:normAutofit fontScale="90000"/>
          </a:bodyPr>
          <a:lstStyle/>
          <a:p>
            <a:pPr eaLnBrk="1" hangingPunct="1"/>
            <a:r>
              <a:rPr lang="en-US" altLang="en-US" dirty="0"/>
              <a:t>Principles of Security in the organization (continued)</a:t>
            </a:r>
            <a:endParaRPr lang="en-US" altLang="en-US" b="1" dirty="0"/>
          </a:p>
        </p:txBody>
      </p:sp>
      <p:sp>
        <p:nvSpPr>
          <p:cNvPr id="41989" name="Rectangle 3">
            <a:extLst>
              <a:ext uri="{FF2B5EF4-FFF2-40B4-BE49-F238E27FC236}">
                <a16:creationId xmlns:a16="http://schemas.microsoft.com/office/drawing/2014/main" id="{F6FF4873-80B3-7E57-ACD7-6F5FA10E92FC}"/>
              </a:ext>
            </a:extLst>
          </p:cNvPr>
          <p:cNvSpPr>
            <a:spLocks noGrp="1" noChangeArrowheads="1"/>
          </p:cNvSpPr>
          <p:nvPr>
            <p:ph idx="1"/>
          </p:nvPr>
        </p:nvSpPr>
        <p:spPr>
          <a:xfrm>
            <a:off x="2057400" y="1676400"/>
            <a:ext cx="8077200" cy="4191000"/>
          </a:xfrm>
        </p:spPr>
        <p:txBody>
          <a:bodyPr/>
          <a:lstStyle/>
          <a:p>
            <a:pPr eaLnBrk="1" hangingPunct="1"/>
            <a:endParaRPr lang="en-US" altLang="en-US" dirty="0"/>
          </a:p>
          <a:p>
            <a:pPr eaLnBrk="1" hangingPunct="1"/>
            <a:endParaRPr lang="en-US" altLang="en-US" dirty="0"/>
          </a:p>
          <a:p>
            <a:pPr eaLnBrk="1" hangingPunct="1"/>
            <a:r>
              <a:rPr lang="en-US" altLang="en-US" dirty="0"/>
              <a:t>The Principles and Concepts of Secure Software (continued)</a:t>
            </a:r>
          </a:p>
          <a:p>
            <a:pPr lvl="1" eaLnBrk="1" hangingPunct="1"/>
            <a:r>
              <a:rPr lang="en-US" altLang="en-US" dirty="0"/>
              <a:t>Secrets Are Not Kept</a:t>
            </a:r>
          </a:p>
          <a:p>
            <a:pPr lvl="2" eaLnBrk="1" hangingPunct="1"/>
            <a:r>
              <a:rPr lang="en-US" altLang="en-US" dirty="0"/>
              <a:t>Application cannot secretly hide data from the user</a:t>
            </a:r>
          </a:p>
          <a:p>
            <a:pPr lvl="2" eaLnBrk="1" hangingPunct="1"/>
            <a:r>
              <a:rPr lang="en-US" altLang="en-US" dirty="0"/>
              <a:t>People cannot secretly hide data from the user</a:t>
            </a:r>
          </a:p>
          <a:p>
            <a:pPr lvl="2" eaLnBrk="1" hangingPunct="1"/>
            <a:r>
              <a:rPr lang="en-US" altLang="en-US" dirty="0"/>
              <a:t>Binary code is not secure code</a:t>
            </a:r>
          </a:p>
          <a:p>
            <a:pPr lvl="2" eaLnBrk="1" hangingPunct="1"/>
            <a:r>
              <a:rPr lang="en-US" altLang="en-US" dirty="0"/>
              <a:t>Do not place hard-coded values in code</a:t>
            </a:r>
          </a:p>
        </p:txBody>
      </p:sp>
      <p:sp>
        <p:nvSpPr>
          <p:cNvPr id="4" name="Footer Placeholder 3">
            <a:extLst>
              <a:ext uri="{FF2B5EF4-FFF2-40B4-BE49-F238E27FC236}">
                <a16:creationId xmlns:a16="http://schemas.microsoft.com/office/drawing/2014/main" id="{C7B181BE-7F1B-2A5D-3644-5119835E20E4}"/>
              </a:ext>
            </a:extLst>
          </p:cNvPr>
          <p:cNvSpPr>
            <a:spLocks noGrp="1"/>
          </p:cNvSpPr>
          <p:nvPr>
            <p:ph type="ftr" sz="quarter" idx="11"/>
          </p:nvPr>
        </p:nvSpPr>
        <p:spPr/>
        <p:txBody>
          <a:bodyPr/>
          <a:lstStyle/>
          <a:p>
            <a:pPr>
              <a:defRPr/>
            </a:pPr>
            <a:r>
              <a:rPr lang="en-US"/>
              <a:t>Secure Software Development: A Security Programmer’s Guide, First Edition</a:t>
            </a:r>
          </a:p>
        </p:txBody>
      </p:sp>
      <p:sp>
        <p:nvSpPr>
          <p:cNvPr id="41987" name="Slide Number Placeholder 4">
            <a:extLst>
              <a:ext uri="{FF2B5EF4-FFF2-40B4-BE49-F238E27FC236}">
                <a16:creationId xmlns:a16="http://schemas.microsoft.com/office/drawing/2014/main" id="{5C8D2EFA-99CC-CA2D-D48E-1B603E81E984}"/>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7C9D990-0E42-425D-9F4D-F36BB7B6CA50}" type="slidenum">
              <a:rPr lang="en-US" altLang="en-US" sz="1400"/>
              <a:pPr>
                <a:spcBef>
                  <a:spcPct val="0"/>
                </a:spcBef>
                <a:buFontTx/>
                <a:buNone/>
              </a:pPr>
              <a:t>36</a:t>
            </a:fld>
            <a:endParaRPr lang="en-US" altLang="en-US" sz="14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2">
            <a:extLst>
              <a:ext uri="{FF2B5EF4-FFF2-40B4-BE49-F238E27FC236}">
                <a16:creationId xmlns:a16="http://schemas.microsoft.com/office/drawing/2014/main" id="{6EEDDB29-F8DB-28CB-87A8-C4BE7443EF3F}"/>
              </a:ext>
            </a:extLst>
          </p:cNvPr>
          <p:cNvSpPr>
            <a:spLocks noGrp="1" noChangeArrowheads="1"/>
          </p:cNvSpPr>
          <p:nvPr>
            <p:ph type="title"/>
          </p:nvPr>
        </p:nvSpPr>
        <p:spPr/>
        <p:txBody>
          <a:bodyPr>
            <a:normAutofit fontScale="90000"/>
          </a:bodyPr>
          <a:lstStyle/>
          <a:p>
            <a:pPr eaLnBrk="1" hangingPunct="1"/>
            <a:r>
              <a:rPr lang="en-US" altLang="en-US" dirty="0"/>
              <a:t>Principles of Security in the organization (continued)</a:t>
            </a:r>
            <a:endParaRPr lang="en-US" altLang="en-US" b="1" dirty="0"/>
          </a:p>
        </p:txBody>
      </p:sp>
      <p:sp>
        <p:nvSpPr>
          <p:cNvPr id="44037" name="Rectangle 3">
            <a:extLst>
              <a:ext uri="{FF2B5EF4-FFF2-40B4-BE49-F238E27FC236}">
                <a16:creationId xmlns:a16="http://schemas.microsoft.com/office/drawing/2014/main" id="{6E3F3BEF-52C0-B331-6413-397C9D8C40ED}"/>
              </a:ext>
            </a:extLst>
          </p:cNvPr>
          <p:cNvSpPr>
            <a:spLocks noGrp="1" noChangeArrowheads="1"/>
          </p:cNvSpPr>
          <p:nvPr>
            <p:ph idx="1"/>
          </p:nvPr>
        </p:nvSpPr>
        <p:spPr>
          <a:xfrm>
            <a:off x="2057400" y="1676400"/>
            <a:ext cx="8077200" cy="4191000"/>
          </a:xfrm>
        </p:spPr>
        <p:txBody>
          <a:bodyPr/>
          <a:lstStyle/>
          <a:p>
            <a:pPr eaLnBrk="1" hangingPunct="1"/>
            <a:endParaRPr lang="en-US" altLang="en-US" dirty="0"/>
          </a:p>
          <a:p>
            <a:pPr eaLnBrk="1" hangingPunct="1"/>
            <a:endParaRPr lang="en-US" altLang="en-US" dirty="0"/>
          </a:p>
          <a:p>
            <a:pPr eaLnBrk="1" hangingPunct="1"/>
            <a:r>
              <a:rPr lang="en-US" altLang="en-US" dirty="0"/>
              <a:t>The Principles and Concepts of Secure Software (continued)</a:t>
            </a:r>
          </a:p>
          <a:p>
            <a:pPr lvl="1" eaLnBrk="1" hangingPunct="1"/>
            <a:r>
              <a:rPr lang="en-US" altLang="en-US" dirty="0"/>
              <a:t>The </a:t>
            </a:r>
            <a:r>
              <a:rPr lang="en-US" altLang="en-US" dirty="0" err="1"/>
              <a:t>Saltzer</a:t>
            </a:r>
            <a:r>
              <a:rPr lang="en-US" altLang="en-US" dirty="0"/>
              <a:t> and Schroeder Principles</a:t>
            </a:r>
          </a:p>
          <a:p>
            <a:pPr lvl="2" eaLnBrk="1" hangingPunct="1"/>
            <a:r>
              <a:rPr lang="en-US" altLang="en-US" dirty="0"/>
              <a:t>Fail-safe defaults: Base access decisions on permission rather than exclusion.</a:t>
            </a:r>
          </a:p>
          <a:p>
            <a:pPr lvl="2" eaLnBrk="1" hangingPunct="1"/>
            <a:r>
              <a:rPr lang="en-US" altLang="en-US" dirty="0"/>
              <a:t>Complete mediation: requires that all accesses to objects be checked to ensure they are allowed.</a:t>
            </a:r>
          </a:p>
          <a:p>
            <a:pPr lvl="2" eaLnBrk="1" hangingPunct="1"/>
            <a:r>
              <a:rPr lang="en-US" altLang="en-US" dirty="0"/>
              <a:t>Open design: The design should not be secret.</a:t>
            </a:r>
          </a:p>
        </p:txBody>
      </p:sp>
      <p:sp>
        <p:nvSpPr>
          <p:cNvPr id="4" name="Footer Placeholder 3">
            <a:extLst>
              <a:ext uri="{FF2B5EF4-FFF2-40B4-BE49-F238E27FC236}">
                <a16:creationId xmlns:a16="http://schemas.microsoft.com/office/drawing/2014/main" id="{CF446EB2-D8B2-4914-3A8B-131C93EC37CB}"/>
              </a:ext>
            </a:extLst>
          </p:cNvPr>
          <p:cNvSpPr>
            <a:spLocks noGrp="1"/>
          </p:cNvSpPr>
          <p:nvPr>
            <p:ph type="ftr" sz="quarter" idx="11"/>
          </p:nvPr>
        </p:nvSpPr>
        <p:spPr/>
        <p:txBody>
          <a:bodyPr/>
          <a:lstStyle/>
          <a:p>
            <a:pPr>
              <a:defRPr/>
            </a:pPr>
            <a:r>
              <a:rPr lang="en-US"/>
              <a:t>Secure Software Development: A Security Programmer’s Guide, First Edition</a:t>
            </a:r>
          </a:p>
        </p:txBody>
      </p:sp>
      <p:sp>
        <p:nvSpPr>
          <p:cNvPr id="44035" name="Slide Number Placeholder 4">
            <a:extLst>
              <a:ext uri="{FF2B5EF4-FFF2-40B4-BE49-F238E27FC236}">
                <a16:creationId xmlns:a16="http://schemas.microsoft.com/office/drawing/2014/main" id="{076B8ED3-C907-B893-3EFC-21C32162FA6B}"/>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A288F12-A4A1-449A-B262-C52C676EE287}" type="slidenum">
              <a:rPr lang="en-US" altLang="en-US" sz="1400"/>
              <a:pPr>
                <a:spcBef>
                  <a:spcPct val="0"/>
                </a:spcBef>
                <a:buFontTx/>
                <a:buNone/>
              </a:pPr>
              <a:t>37</a:t>
            </a:fld>
            <a:endParaRPr lang="en-US" altLang="en-US" sz="14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64E0ABB-B5E6-C8A7-7DE5-C54744E46157}"/>
              </a:ext>
            </a:extLst>
          </p:cNvPr>
          <p:cNvSpPr>
            <a:spLocks noGrp="1"/>
          </p:cNvSpPr>
          <p:nvPr>
            <p:ph type="title"/>
          </p:nvPr>
        </p:nvSpPr>
        <p:spPr/>
        <p:txBody>
          <a:bodyPr/>
          <a:lstStyle/>
          <a:p>
            <a:r>
              <a:rPr lang="en-US" dirty="0"/>
              <a:t>Principles of Quality</a:t>
            </a:r>
          </a:p>
        </p:txBody>
      </p:sp>
      <p:sp>
        <p:nvSpPr>
          <p:cNvPr id="6" name="Text Placeholder 5">
            <a:extLst>
              <a:ext uri="{FF2B5EF4-FFF2-40B4-BE49-F238E27FC236}">
                <a16:creationId xmlns:a16="http://schemas.microsoft.com/office/drawing/2014/main" id="{225C56F7-F82D-9259-E181-BCCFD0D215A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98952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a:extLst>
              <a:ext uri="{FF2B5EF4-FFF2-40B4-BE49-F238E27FC236}">
                <a16:creationId xmlns:a16="http://schemas.microsoft.com/office/drawing/2014/main" id="{59EBF5EC-EB60-323E-3A67-99EF5B9FF0FB}"/>
              </a:ext>
            </a:extLst>
          </p:cNvPr>
          <p:cNvSpPr>
            <a:spLocks noGrp="1" noChangeArrowheads="1"/>
          </p:cNvSpPr>
          <p:nvPr>
            <p:ph type="title"/>
          </p:nvPr>
        </p:nvSpPr>
        <p:spPr/>
        <p:txBody>
          <a:bodyPr>
            <a:normAutofit fontScale="90000"/>
          </a:bodyPr>
          <a:lstStyle/>
          <a:p>
            <a:pPr eaLnBrk="1" hangingPunct="1"/>
            <a:r>
              <a:rPr lang="en-US" altLang="en-US" dirty="0"/>
              <a:t>Principles of Quality in the Industry (continued)</a:t>
            </a:r>
            <a:endParaRPr lang="en-US" altLang="en-US" sz="3200" b="1" dirty="0"/>
          </a:p>
        </p:txBody>
      </p:sp>
      <p:sp>
        <p:nvSpPr>
          <p:cNvPr id="19461" name="Rectangle 3">
            <a:extLst>
              <a:ext uri="{FF2B5EF4-FFF2-40B4-BE49-F238E27FC236}">
                <a16:creationId xmlns:a16="http://schemas.microsoft.com/office/drawing/2014/main" id="{CBD87C86-A1CC-4A27-1FB4-DC19501FF512}"/>
              </a:ext>
            </a:extLst>
          </p:cNvPr>
          <p:cNvSpPr>
            <a:spLocks noGrp="1" noChangeArrowheads="1"/>
          </p:cNvSpPr>
          <p:nvPr>
            <p:ph idx="1"/>
          </p:nvPr>
        </p:nvSpPr>
        <p:spPr>
          <a:xfrm>
            <a:off x="2057400" y="1676400"/>
            <a:ext cx="8077200" cy="4191000"/>
          </a:xfrm>
        </p:spPr>
        <p:txBody>
          <a:bodyPr/>
          <a:lstStyle/>
          <a:p>
            <a:pPr eaLnBrk="1" hangingPunct="1"/>
            <a:endParaRPr lang="en-US" altLang="en-US" dirty="0"/>
          </a:p>
          <a:p>
            <a:pPr eaLnBrk="1" hangingPunct="1"/>
            <a:endParaRPr lang="en-US" altLang="en-US" dirty="0"/>
          </a:p>
          <a:p>
            <a:pPr eaLnBrk="1" hangingPunct="1"/>
            <a:r>
              <a:rPr lang="en-US" altLang="en-US" dirty="0"/>
              <a:t>Goals of Quality Code</a:t>
            </a:r>
          </a:p>
          <a:p>
            <a:pPr lvl="2" eaLnBrk="1" hangingPunct="1"/>
            <a:r>
              <a:rPr lang="en-US" altLang="en-US" dirty="0"/>
              <a:t>Total automation</a:t>
            </a:r>
          </a:p>
          <a:p>
            <a:pPr lvl="2" eaLnBrk="1" hangingPunct="1"/>
            <a:r>
              <a:rPr lang="en-US" altLang="en-US" dirty="0"/>
              <a:t>Manage complexity</a:t>
            </a:r>
          </a:p>
          <a:p>
            <a:pPr lvl="2" eaLnBrk="1" hangingPunct="1"/>
            <a:r>
              <a:rPr lang="en-US" altLang="en-US" dirty="0"/>
              <a:t>Software diversity</a:t>
            </a:r>
          </a:p>
        </p:txBody>
      </p:sp>
      <p:sp>
        <p:nvSpPr>
          <p:cNvPr id="4" name="Footer Placeholder 3">
            <a:extLst>
              <a:ext uri="{FF2B5EF4-FFF2-40B4-BE49-F238E27FC236}">
                <a16:creationId xmlns:a16="http://schemas.microsoft.com/office/drawing/2014/main" id="{A4109B39-C932-56AE-DC85-AC6743FFEB64}"/>
              </a:ext>
            </a:extLst>
          </p:cNvPr>
          <p:cNvSpPr>
            <a:spLocks noGrp="1"/>
          </p:cNvSpPr>
          <p:nvPr>
            <p:ph type="ftr" sz="quarter" idx="11"/>
          </p:nvPr>
        </p:nvSpPr>
        <p:spPr/>
        <p:txBody>
          <a:bodyPr/>
          <a:lstStyle/>
          <a:p>
            <a:pPr>
              <a:defRPr/>
            </a:pPr>
            <a:r>
              <a:rPr lang="en-US"/>
              <a:t>Secure Software Development: A Security Programmer’s Guide, First Edition</a:t>
            </a:r>
          </a:p>
        </p:txBody>
      </p:sp>
      <p:sp>
        <p:nvSpPr>
          <p:cNvPr id="19459" name="Slide Number Placeholder 4">
            <a:extLst>
              <a:ext uri="{FF2B5EF4-FFF2-40B4-BE49-F238E27FC236}">
                <a16:creationId xmlns:a16="http://schemas.microsoft.com/office/drawing/2014/main" id="{37876755-6AB1-D0C9-641E-A90303CF779A}"/>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F852051-03C5-4E10-8CC7-0ACCB82B4389}" type="slidenum">
              <a:rPr lang="en-US" altLang="en-US" sz="1400"/>
              <a:pPr>
                <a:spcBef>
                  <a:spcPct val="0"/>
                </a:spcBef>
                <a:buFontTx/>
                <a:buNone/>
              </a:pPr>
              <a:t>39</a:t>
            </a:fld>
            <a:endParaRPr lang="en-US" altLang="en-US" sz="14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a:extLst>
              <a:ext uri="{FF2B5EF4-FFF2-40B4-BE49-F238E27FC236}">
                <a16:creationId xmlns:a16="http://schemas.microsoft.com/office/drawing/2014/main" id="{2F99D0A1-8E79-C2D7-08E6-E088CB7C0D51}"/>
              </a:ext>
            </a:extLst>
          </p:cNvPr>
          <p:cNvSpPr>
            <a:spLocks noGrp="1" noChangeArrowheads="1"/>
          </p:cNvSpPr>
          <p:nvPr>
            <p:ph type="title"/>
          </p:nvPr>
        </p:nvSpPr>
        <p:spPr/>
        <p:txBody>
          <a:bodyPr>
            <a:normAutofit fontScale="90000"/>
          </a:bodyPr>
          <a:lstStyle/>
          <a:p>
            <a:pPr eaLnBrk="1" hangingPunct="1"/>
            <a:r>
              <a:rPr lang="en-US" altLang="en-US" dirty="0"/>
              <a:t>Principles of Quality in the Industry (continued)</a:t>
            </a:r>
            <a:endParaRPr lang="en-US" altLang="en-US" sz="3200" b="1" dirty="0"/>
          </a:p>
        </p:txBody>
      </p:sp>
      <p:sp>
        <p:nvSpPr>
          <p:cNvPr id="23557" name="Rectangle 3">
            <a:extLst>
              <a:ext uri="{FF2B5EF4-FFF2-40B4-BE49-F238E27FC236}">
                <a16:creationId xmlns:a16="http://schemas.microsoft.com/office/drawing/2014/main" id="{1136B884-9E77-B360-72C7-165CC96E61D8}"/>
              </a:ext>
            </a:extLst>
          </p:cNvPr>
          <p:cNvSpPr>
            <a:spLocks noGrp="1" noChangeArrowheads="1"/>
          </p:cNvSpPr>
          <p:nvPr>
            <p:ph idx="1"/>
          </p:nvPr>
        </p:nvSpPr>
        <p:spPr>
          <a:xfrm>
            <a:off x="2057400" y="1676400"/>
            <a:ext cx="8077200" cy="4191000"/>
          </a:xfrm>
        </p:spPr>
        <p:txBody>
          <a:bodyPr/>
          <a:lstStyle/>
          <a:p>
            <a:pPr eaLnBrk="1" hangingPunct="1"/>
            <a:endParaRPr lang="en-US" altLang="en-US" dirty="0"/>
          </a:p>
          <a:p>
            <a:pPr eaLnBrk="1" hangingPunct="1"/>
            <a:endParaRPr lang="en-US" altLang="en-US" dirty="0"/>
          </a:p>
          <a:p>
            <a:pPr eaLnBrk="1" hangingPunct="1"/>
            <a:r>
              <a:rPr lang="en-US" altLang="en-US" dirty="0"/>
              <a:t>Goals of Quality Code (continued)</a:t>
            </a:r>
          </a:p>
          <a:p>
            <a:pPr lvl="1" eaLnBrk="1" hangingPunct="1"/>
            <a:r>
              <a:rPr lang="en-US" altLang="en-US" dirty="0"/>
              <a:t>Total </a:t>
            </a:r>
            <a:r>
              <a:rPr lang="en-US" altLang="en-US" b="1" dirty="0"/>
              <a:t>automation</a:t>
            </a:r>
          </a:p>
          <a:p>
            <a:pPr lvl="3" eaLnBrk="1" hangingPunct="1"/>
            <a:r>
              <a:rPr lang="en-US" altLang="en-US" dirty="0"/>
              <a:t>There are just two techniques used for software development: manual and automated</a:t>
            </a:r>
          </a:p>
          <a:p>
            <a:pPr lvl="4" eaLnBrk="1" hangingPunct="1"/>
            <a:r>
              <a:rPr lang="en-US" altLang="en-US" dirty="0"/>
              <a:t>Manual techniques are the human ability to logically break down complex problems into smaller ones</a:t>
            </a:r>
          </a:p>
          <a:p>
            <a:pPr lvl="4" eaLnBrk="1" hangingPunct="1"/>
            <a:r>
              <a:rPr lang="en-US" altLang="en-US" dirty="0"/>
              <a:t>Total automation is a tool-intensive process</a:t>
            </a:r>
          </a:p>
        </p:txBody>
      </p:sp>
      <p:sp>
        <p:nvSpPr>
          <p:cNvPr id="4" name="Footer Placeholder 3">
            <a:extLst>
              <a:ext uri="{FF2B5EF4-FFF2-40B4-BE49-F238E27FC236}">
                <a16:creationId xmlns:a16="http://schemas.microsoft.com/office/drawing/2014/main" id="{E8C0BDCD-8AC2-9C48-3A4A-58D603B84910}"/>
              </a:ext>
            </a:extLst>
          </p:cNvPr>
          <p:cNvSpPr>
            <a:spLocks noGrp="1"/>
          </p:cNvSpPr>
          <p:nvPr>
            <p:ph type="ftr" sz="quarter" idx="11"/>
          </p:nvPr>
        </p:nvSpPr>
        <p:spPr/>
        <p:txBody>
          <a:bodyPr/>
          <a:lstStyle/>
          <a:p>
            <a:pPr>
              <a:defRPr/>
            </a:pPr>
            <a:r>
              <a:rPr lang="en-US"/>
              <a:t>Secure Software Development: A Security Programmer’s Guide, First Edition</a:t>
            </a:r>
          </a:p>
        </p:txBody>
      </p:sp>
      <p:sp>
        <p:nvSpPr>
          <p:cNvPr id="23555" name="Slide Number Placeholder 4">
            <a:extLst>
              <a:ext uri="{FF2B5EF4-FFF2-40B4-BE49-F238E27FC236}">
                <a16:creationId xmlns:a16="http://schemas.microsoft.com/office/drawing/2014/main" id="{F8F90BEB-5B42-BCA9-C16D-58D3E25693D1}"/>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1F859AB-54A6-441E-A778-D1CC19C57BAA}" type="slidenum">
              <a:rPr lang="en-US" altLang="en-US" sz="1400"/>
              <a:pPr>
                <a:spcBef>
                  <a:spcPct val="0"/>
                </a:spcBef>
                <a:buFontTx/>
                <a:buNone/>
              </a:pPr>
              <a:t>40</a:t>
            </a:fld>
            <a:endParaRPr lang="en-US" altLang="en-US" sz="14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2">
            <a:extLst>
              <a:ext uri="{FF2B5EF4-FFF2-40B4-BE49-F238E27FC236}">
                <a16:creationId xmlns:a16="http://schemas.microsoft.com/office/drawing/2014/main" id="{EC6A6F44-500B-C1CC-150C-874A7C4A05C3}"/>
              </a:ext>
            </a:extLst>
          </p:cNvPr>
          <p:cNvSpPr>
            <a:spLocks noGrp="1" noChangeArrowheads="1"/>
          </p:cNvSpPr>
          <p:nvPr>
            <p:ph type="title"/>
          </p:nvPr>
        </p:nvSpPr>
        <p:spPr/>
        <p:txBody>
          <a:bodyPr>
            <a:normAutofit fontScale="90000"/>
          </a:bodyPr>
          <a:lstStyle/>
          <a:p>
            <a:pPr eaLnBrk="1" hangingPunct="1"/>
            <a:r>
              <a:rPr lang="en-US" altLang="en-US" dirty="0"/>
              <a:t>Principles of Quality in the Industry (continued)</a:t>
            </a:r>
            <a:endParaRPr lang="en-US" altLang="en-US" sz="3200" b="1" dirty="0"/>
          </a:p>
        </p:txBody>
      </p:sp>
      <p:sp>
        <p:nvSpPr>
          <p:cNvPr id="25605" name="Rectangle 3">
            <a:extLst>
              <a:ext uri="{FF2B5EF4-FFF2-40B4-BE49-F238E27FC236}">
                <a16:creationId xmlns:a16="http://schemas.microsoft.com/office/drawing/2014/main" id="{C8FE5519-4E5F-BD1E-3335-E9D6F06CE0B1}"/>
              </a:ext>
            </a:extLst>
          </p:cNvPr>
          <p:cNvSpPr>
            <a:spLocks noGrp="1" noChangeArrowheads="1"/>
          </p:cNvSpPr>
          <p:nvPr>
            <p:ph idx="1"/>
          </p:nvPr>
        </p:nvSpPr>
        <p:spPr>
          <a:xfrm>
            <a:off x="2057400" y="1676400"/>
            <a:ext cx="8077200" cy="4191000"/>
          </a:xfrm>
        </p:spPr>
        <p:txBody>
          <a:bodyPr/>
          <a:lstStyle/>
          <a:p>
            <a:pPr eaLnBrk="1" hangingPunct="1"/>
            <a:endParaRPr lang="en-US" altLang="en-US" dirty="0"/>
          </a:p>
          <a:p>
            <a:pPr eaLnBrk="1" hangingPunct="1"/>
            <a:endParaRPr lang="en-US" altLang="en-US" dirty="0"/>
          </a:p>
          <a:p>
            <a:pPr eaLnBrk="1" hangingPunct="1"/>
            <a:r>
              <a:rPr lang="en-US" altLang="en-US" dirty="0"/>
              <a:t>Goals of Quality Code (continued)</a:t>
            </a:r>
          </a:p>
          <a:p>
            <a:pPr lvl="1" eaLnBrk="1" hangingPunct="1"/>
            <a:r>
              <a:rPr lang="en-US" altLang="en-US" b="1" dirty="0"/>
              <a:t>Complexity</a:t>
            </a:r>
            <a:r>
              <a:rPr lang="en-US" altLang="en-US" dirty="0"/>
              <a:t> will always be a factor that developers must manage</a:t>
            </a:r>
          </a:p>
          <a:p>
            <a:pPr lvl="1" eaLnBrk="1" hangingPunct="1"/>
            <a:r>
              <a:rPr lang="en-US" altLang="en-US" dirty="0"/>
              <a:t>Three ways to manage complexity:</a:t>
            </a:r>
          </a:p>
          <a:p>
            <a:pPr lvl="2" eaLnBrk="1" hangingPunct="1"/>
            <a:r>
              <a:rPr lang="en-US" altLang="en-US" i="1" dirty="0"/>
              <a:t>Removal of complexity</a:t>
            </a:r>
            <a:r>
              <a:rPr lang="en-US" altLang="en-US" dirty="0"/>
              <a:t>: Some requirements are just add-ons that are really not needed</a:t>
            </a:r>
          </a:p>
          <a:p>
            <a:pPr lvl="2" eaLnBrk="1" hangingPunct="1"/>
            <a:r>
              <a:rPr lang="en-US" altLang="en-US" i="1" dirty="0"/>
              <a:t>Automation of complexity: </a:t>
            </a:r>
            <a:r>
              <a:rPr lang="en-US" altLang="en-US" dirty="0"/>
              <a:t>Automate what is needed</a:t>
            </a:r>
          </a:p>
          <a:p>
            <a:pPr lvl="2" eaLnBrk="1" hangingPunct="1"/>
            <a:r>
              <a:rPr lang="en-US" altLang="en-US" i="1" dirty="0"/>
              <a:t>Localization of complexity</a:t>
            </a:r>
            <a:r>
              <a:rPr lang="en-US" altLang="en-US" dirty="0"/>
              <a:t>: Place logic on one spot (refactoring) </a:t>
            </a:r>
          </a:p>
          <a:p>
            <a:pPr lvl="1" eaLnBrk="1" hangingPunct="1"/>
            <a:endParaRPr lang="en-US" altLang="en-US" dirty="0"/>
          </a:p>
        </p:txBody>
      </p:sp>
      <p:sp>
        <p:nvSpPr>
          <p:cNvPr id="4" name="Footer Placeholder 3">
            <a:extLst>
              <a:ext uri="{FF2B5EF4-FFF2-40B4-BE49-F238E27FC236}">
                <a16:creationId xmlns:a16="http://schemas.microsoft.com/office/drawing/2014/main" id="{635E93F9-20C0-5E74-FC12-6AE73D3824AD}"/>
              </a:ext>
            </a:extLst>
          </p:cNvPr>
          <p:cNvSpPr>
            <a:spLocks noGrp="1"/>
          </p:cNvSpPr>
          <p:nvPr>
            <p:ph type="ftr" sz="quarter" idx="11"/>
          </p:nvPr>
        </p:nvSpPr>
        <p:spPr/>
        <p:txBody>
          <a:bodyPr/>
          <a:lstStyle/>
          <a:p>
            <a:pPr>
              <a:defRPr/>
            </a:pPr>
            <a:r>
              <a:rPr lang="en-US"/>
              <a:t>Secure Software Development: A Security Programmer’s Guide, First Edition</a:t>
            </a:r>
          </a:p>
        </p:txBody>
      </p:sp>
      <p:sp>
        <p:nvSpPr>
          <p:cNvPr id="25603" name="Slide Number Placeholder 4">
            <a:extLst>
              <a:ext uri="{FF2B5EF4-FFF2-40B4-BE49-F238E27FC236}">
                <a16:creationId xmlns:a16="http://schemas.microsoft.com/office/drawing/2014/main" id="{FCDF9708-1642-F52E-6C21-762062A6AE1A}"/>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5073F2D-E7EF-48D5-BAF8-0DCB9FC1FFCF}" type="slidenum">
              <a:rPr lang="en-US" altLang="en-US" sz="1400"/>
              <a:pPr>
                <a:spcBef>
                  <a:spcPct val="0"/>
                </a:spcBef>
                <a:buFontTx/>
                <a:buNone/>
              </a:pPr>
              <a:t>41</a:t>
            </a:fld>
            <a:endParaRPr lang="en-US" altLang="en-US" sz="14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a:extLst>
              <a:ext uri="{FF2B5EF4-FFF2-40B4-BE49-F238E27FC236}">
                <a16:creationId xmlns:a16="http://schemas.microsoft.com/office/drawing/2014/main" id="{E197EE94-BE88-A449-06A3-04CC1FBFBEE1}"/>
              </a:ext>
            </a:extLst>
          </p:cNvPr>
          <p:cNvSpPr>
            <a:spLocks noGrp="1" noChangeArrowheads="1"/>
          </p:cNvSpPr>
          <p:nvPr>
            <p:ph type="title"/>
          </p:nvPr>
        </p:nvSpPr>
        <p:spPr/>
        <p:txBody>
          <a:bodyPr>
            <a:normAutofit fontScale="90000"/>
          </a:bodyPr>
          <a:lstStyle/>
          <a:p>
            <a:pPr eaLnBrk="1" hangingPunct="1"/>
            <a:r>
              <a:rPr lang="en-US" altLang="en-US" dirty="0"/>
              <a:t>Principles of Quality in the Industry (continued)</a:t>
            </a:r>
            <a:endParaRPr lang="en-US" altLang="en-US" sz="3200" b="1" dirty="0"/>
          </a:p>
        </p:txBody>
      </p:sp>
      <p:sp>
        <p:nvSpPr>
          <p:cNvPr id="27653" name="Rectangle 3">
            <a:extLst>
              <a:ext uri="{FF2B5EF4-FFF2-40B4-BE49-F238E27FC236}">
                <a16:creationId xmlns:a16="http://schemas.microsoft.com/office/drawing/2014/main" id="{CA4F3DC1-4495-CDB0-5B45-72456B66451B}"/>
              </a:ext>
            </a:extLst>
          </p:cNvPr>
          <p:cNvSpPr>
            <a:spLocks noGrp="1" noChangeArrowheads="1"/>
          </p:cNvSpPr>
          <p:nvPr>
            <p:ph idx="1"/>
          </p:nvPr>
        </p:nvSpPr>
        <p:spPr>
          <a:xfrm>
            <a:off x="2057400" y="1676400"/>
            <a:ext cx="8077200" cy="4191000"/>
          </a:xfrm>
        </p:spPr>
        <p:txBody>
          <a:bodyPr/>
          <a:lstStyle/>
          <a:p>
            <a:pPr eaLnBrk="1" hangingPunct="1"/>
            <a:endParaRPr lang="en-US" altLang="en-US" dirty="0"/>
          </a:p>
          <a:p>
            <a:pPr eaLnBrk="1" hangingPunct="1"/>
            <a:endParaRPr lang="en-US" altLang="en-US" dirty="0"/>
          </a:p>
          <a:p>
            <a:pPr eaLnBrk="1" hangingPunct="1"/>
            <a:r>
              <a:rPr lang="en-US" altLang="en-US" dirty="0"/>
              <a:t>Goals of Quality Code (continued)</a:t>
            </a:r>
          </a:p>
          <a:p>
            <a:pPr lvl="1" eaLnBrk="1" hangingPunct="1"/>
            <a:r>
              <a:rPr lang="en-US" altLang="en-US" dirty="0"/>
              <a:t>Software </a:t>
            </a:r>
            <a:r>
              <a:rPr lang="en-US" altLang="en-US" b="1" dirty="0"/>
              <a:t>Diversity</a:t>
            </a:r>
          </a:p>
          <a:p>
            <a:pPr lvl="2" eaLnBrk="1" hangingPunct="1"/>
            <a:r>
              <a:rPr lang="en-US" altLang="en-US" dirty="0"/>
              <a:t>Software diversity is the ability to anticipate change in the software </a:t>
            </a:r>
          </a:p>
          <a:p>
            <a:pPr lvl="3" eaLnBrk="1" hangingPunct="1"/>
            <a:r>
              <a:rPr lang="en-US" altLang="en-US" dirty="0"/>
              <a:t>Use </a:t>
            </a:r>
            <a:r>
              <a:rPr lang="en-US" altLang="en-US" b="1" dirty="0"/>
              <a:t>CONSTANTS </a:t>
            </a:r>
            <a:r>
              <a:rPr lang="en-US" altLang="en-US" dirty="0"/>
              <a:t>throughout all source code</a:t>
            </a:r>
          </a:p>
          <a:p>
            <a:pPr lvl="3" eaLnBrk="1" hangingPunct="1"/>
            <a:r>
              <a:rPr lang="en-US" altLang="en-US" dirty="0"/>
              <a:t>Do not embed business logic with presentation</a:t>
            </a:r>
          </a:p>
          <a:p>
            <a:pPr lvl="3" eaLnBrk="1" hangingPunct="1"/>
            <a:r>
              <a:rPr lang="en-US" altLang="en-US" dirty="0"/>
              <a:t>Design the application to be driven by parameters</a:t>
            </a:r>
          </a:p>
        </p:txBody>
      </p:sp>
      <p:sp>
        <p:nvSpPr>
          <p:cNvPr id="4" name="Footer Placeholder 3">
            <a:extLst>
              <a:ext uri="{FF2B5EF4-FFF2-40B4-BE49-F238E27FC236}">
                <a16:creationId xmlns:a16="http://schemas.microsoft.com/office/drawing/2014/main" id="{E747B51E-4928-D847-E4FD-A1A500A2F028}"/>
              </a:ext>
            </a:extLst>
          </p:cNvPr>
          <p:cNvSpPr>
            <a:spLocks noGrp="1"/>
          </p:cNvSpPr>
          <p:nvPr>
            <p:ph type="ftr" sz="quarter" idx="11"/>
          </p:nvPr>
        </p:nvSpPr>
        <p:spPr/>
        <p:txBody>
          <a:bodyPr/>
          <a:lstStyle/>
          <a:p>
            <a:pPr>
              <a:defRPr/>
            </a:pPr>
            <a:r>
              <a:rPr lang="en-US"/>
              <a:t>Secure Software Development: A Security Programmer’s Guide, First Edition</a:t>
            </a:r>
          </a:p>
        </p:txBody>
      </p:sp>
      <p:sp>
        <p:nvSpPr>
          <p:cNvPr id="27651" name="Slide Number Placeholder 4">
            <a:extLst>
              <a:ext uri="{FF2B5EF4-FFF2-40B4-BE49-F238E27FC236}">
                <a16:creationId xmlns:a16="http://schemas.microsoft.com/office/drawing/2014/main" id="{33DC985C-042E-9DE7-2291-DEFEB2393427}"/>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FEF1E63-5F8C-4CE8-8311-FD46782A581E}" type="slidenum">
              <a:rPr lang="en-US" altLang="en-US" sz="1400"/>
              <a:pPr>
                <a:spcBef>
                  <a:spcPct val="0"/>
                </a:spcBef>
                <a:buFontTx/>
                <a:buNone/>
              </a:pPr>
              <a:t>42</a:t>
            </a:fld>
            <a:endParaRPr lang="en-US" altLang="en-US" sz="14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D360C-6713-81F7-AF9F-43933D821977}"/>
              </a:ext>
            </a:extLst>
          </p:cNvPr>
          <p:cNvSpPr>
            <a:spLocks noGrp="1"/>
          </p:cNvSpPr>
          <p:nvPr>
            <p:ph type="title"/>
          </p:nvPr>
        </p:nvSpPr>
        <p:spPr/>
        <p:txBody>
          <a:bodyPr>
            <a:normAutofit fontScale="90000"/>
          </a:bodyPr>
          <a:lstStyle/>
          <a:p>
            <a:r>
              <a:rPr lang="en-US" altLang="en-US" dirty="0"/>
              <a:t>Principles of Quality in the Industry (continued)</a:t>
            </a:r>
            <a:endParaRPr lang="en-US" dirty="0"/>
          </a:p>
        </p:txBody>
      </p:sp>
      <p:sp>
        <p:nvSpPr>
          <p:cNvPr id="3" name="Content Placeholder 2">
            <a:extLst>
              <a:ext uri="{FF2B5EF4-FFF2-40B4-BE49-F238E27FC236}">
                <a16:creationId xmlns:a16="http://schemas.microsoft.com/office/drawing/2014/main" id="{50901803-7810-FCD0-E45B-6A29E26865C8}"/>
              </a:ext>
            </a:extLst>
          </p:cNvPr>
          <p:cNvSpPr>
            <a:spLocks noGrp="1"/>
          </p:cNvSpPr>
          <p:nvPr>
            <p:ph idx="1"/>
          </p:nvPr>
        </p:nvSpPr>
        <p:spPr/>
        <p:txBody>
          <a:bodyPr>
            <a:normAutofit/>
          </a:bodyPr>
          <a:lstStyle/>
          <a:p>
            <a:r>
              <a:rPr lang="en-US" sz="4000" dirty="0"/>
              <a:t>Create an application that reads two values from the user and print the addition of these values. Your application should implements an add function.</a:t>
            </a:r>
          </a:p>
        </p:txBody>
      </p:sp>
    </p:spTree>
    <p:extLst>
      <p:ext uri="{BB962C8B-B14F-4D97-AF65-F5344CB8AC3E}">
        <p14:creationId xmlns:p14="http://schemas.microsoft.com/office/powerpoint/2010/main" val="38198483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2">
            <a:extLst>
              <a:ext uri="{FF2B5EF4-FFF2-40B4-BE49-F238E27FC236}">
                <a16:creationId xmlns:a16="http://schemas.microsoft.com/office/drawing/2014/main" id="{1EABC67A-6947-9319-E2DA-50777EF9F21A}"/>
              </a:ext>
            </a:extLst>
          </p:cNvPr>
          <p:cNvSpPr>
            <a:spLocks noGrp="1" noChangeArrowheads="1"/>
          </p:cNvSpPr>
          <p:nvPr>
            <p:ph type="title"/>
          </p:nvPr>
        </p:nvSpPr>
        <p:spPr/>
        <p:txBody>
          <a:bodyPr>
            <a:normAutofit fontScale="90000"/>
          </a:bodyPr>
          <a:lstStyle/>
          <a:p>
            <a:pPr eaLnBrk="1" hangingPunct="1"/>
            <a:r>
              <a:rPr lang="en-US" altLang="en-US"/>
              <a:t>Principles of Security and Quality in the Organization (continued)</a:t>
            </a:r>
          </a:p>
        </p:txBody>
      </p:sp>
      <p:sp>
        <p:nvSpPr>
          <p:cNvPr id="48133" name="Rectangle 3">
            <a:extLst>
              <a:ext uri="{FF2B5EF4-FFF2-40B4-BE49-F238E27FC236}">
                <a16:creationId xmlns:a16="http://schemas.microsoft.com/office/drawing/2014/main" id="{B5C1DE0C-DCE9-F1D9-C860-3BB1E55CF21E}"/>
              </a:ext>
            </a:extLst>
          </p:cNvPr>
          <p:cNvSpPr>
            <a:spLocks noGrp="1" noChangeArrowheads="1"/>
          </p:cNvSpPr>
          <p:nvPr>
            <p:ph idx="1"/>
          </p:nvPr>
        </p:nvSpPr>
        <p:spPr>
          <a:xfrm>
            <a:off x="2057400" y="1676400"/>
            <a:ext cx="8077200" cy="4191000"/>
          </a:xfrm>
        </p:spPr>
        <p:txBody>
          <a:bodyPr>
            <a:normAutofit lnSpcReduction="10000"/>
          </a:bodyPr>
          <a:lstStyle/>
          <a:p>
            <a:pPr eaLnBrk="1" hangingPunct="1"/>
            <a:endParaRPr lang="en-US" altLang="en-US" dirty="0"/>
          </a:p>
          <a:p>
            <a:pPr eaLnBrk="1" hangingPunct="1"/>
            <a:endParaRPr lang="en-US" altLang="en-US" dirty="0"/>
          </a:p>
          <a:p>
            <a:pPr eaLnBrk="1" hangingPunct="1"/>
            <a:r>
              <a:rPr lang="en-US" altLang="en-US" dirty="0"/>
              <a:t>Principles and Concepts of Quality Software (continued)</a:t>
            </a:r>
          </a:p>
          <a:p>
            <a:pPr lvl="1" eaLnBrk="1" hangingPunct="1"/>
            <a:r>
              <a:rPr lang="en-US" altLang="en-US" dirty="0"/>
              <a:t>Understandability </a:t>
            </a:r>
          </a:p>
          <a:p>
            <a:pPr lvl="2" eaLnBrk="1" hangingPunct="1"/>
            <a:r>
              <a:rPr lang="en-US" altLang="en-US" dirty="0"/>
              <a:t>Are variables given meaningful names?</a:t>
            </a:r>
          </a:p>
          <a:p>
            <a:pPr lvl="2" eaLnBrk="1" hangingPunct="1"/>
            <a:r>
              <a:rPr lang="en-US" altLang="en-US" dirty="0"/>
              <a:t>Do the names of the variables represent the actual value that they represent?</a:t>
            </a:r>
          </a:p>
          <a:p>
            <a:pPr lvl="2" eaLnBrk="1" hangingPunct="1"/>
            <a:r>
              <a:rPr lang="en-US" altLang="en-US" dirty="0"/>
              <a:t>Are the logic and loops coded in a way where you can easily understand the programmer’s intent?</a:t>
            </a:r>
          </a:p>
          <a:p>
            <a:pPr lvl="2" eaLnBrk="1" hangingPunct="1"/>
            <a:r>
              <a:rPr lang="en-US" altLang="en-US" dirty="0"/>
              <a:t>If a person did not understand the programming language, would the logic still be easy to read and follow?</a:t>
            </a:r>
          </a:p>
        </p:txBody>
      </p:sp>
      <p:sp>
        <p:nvSpPr>
          <p:cNvPr id="4" name="Footer Placeholder 3">
            <a:extLst>
              <a:ext uri="{FF2B5EF4-FFF2-40B4-BE49-F238E27FC236}">
                <a16:creationId xmlns:a16="http://schemas.microsoft.com/office/drawing/2014/main" id="{B2D12E1E-B985-8455-1053-AADCA3B1C769}"/>
              </a:ext>
            </a:extLst>
          </p:cNvPr>
          <p:cNvSpPr>
            <a:spLocks noGrp="1"/>
          </p:cNvSpPr>
          <p:nvPr>
            <p:ph type="ftr" sz="quarter" idx="11"/>
          </p:nvPr>
        </p:nvSpPr>
        <p:spPr/>
        <p:txBody>
          <a:bodyPr/>
          <a:lstStyle/>
          <a:p>
            <a:pPr>
              <a:defRPr/>
            </a:pPr>
            <a:r>
              <a:rPr lang="en-US"/>
              <a:t>Secure Software Development: A Security Programmer’s Guide, First Edition</a:t>
            </a:r>
          </a:p>
        </p:txBody>
      </p:sp>
      <p:sp>
        <p:nvSpPr>
          <p:cNvPr id="48131" name="Slide Number Placeholder 4">
            <a:extLst>
              <a:ext uri="{FF2B5EF4-FFF2-40B4-BE49-F238E27FC236}">
                <a16:creationId xmlns:a16="http://schemas.microsoft.com/office/drawing/2014/main" id="{FD8303C9-DC74-ECD6-DA2D-7812A0ED0EAB}"/>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6BDDA4E-D8D1-438D-A935-7EDEED844B59}" type="slidenum">
              <a:rPr lang="en-US" altLang="en-US" sz="1400"/>
              <a:pPr>
                <a:spcBef>
                  <a:spcPct val="0"/>
                </a:spcBef>
                <a:buFontTx/>
                <a:buNone/>
              </a:pPr>
              <a:t>44</a:t>
            </a:fld>
            <a:endParaRPr lang="en-US" altLang="en-US" sz="14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2">
            <a:extLst>
              <a:ext uri="{FF2B5EF4-FFF2-40B4-BE49-F238E27FC236}">
                <a16:creationId xmlns:a16="http://schemas.microsoft.com/office/drawing/2014/main" id="{1EABC67A-6947-9319-E2DA-50777EF9F21A}"/>
              </a:ext>
            </a:extLst>
          </p:cNvPr>
          <p:cNvSpPr>
            <a:spLocks noGrp="1" noChangeArrowheads="1"/>
          </p:cNvSpPr>
          <p:nvPr>
            <p:ph type="title"/>
          </p:nvPr>
        </p:nvSpPr>
        <p:spPr/>
        <p:txBody>
          <a:bodyPr>
            <a:normAutofit fontScale="90000"/>
          </a:bodyPr>
          <a:lstStyle/>
          <a:p>
            <a:pPr eaLnBrk="1" hangingPunct="1"/>
            <a:r>
              <a:rPr lang="en-US" altLang="en-US"/>
              <a:t>Principles of Security and Quality in the Organization (continued)</a:t>
            </a:r>
          </a:p>
        </p:txBody>
      </p:sp>
      <p:sp>
        <p:nvSpPr>
          <p:cNvPr id="48133" name="Rectangle 3">
            <a:extLst>
              <a:ext uri="{FF2B5EF4-FFF2-40B4-BE49-F238E27FC236}">
                <a16:creationId xmlns:a16="http://schemas.microsoft.com/office/drawing/2014/main" id="{B5C1DE0C-DCE9-F1D9-C860-3BB1E55CF21E}"/>
              </a:ext>
            </a:extLst>
          </p:cNvPr>
          <p:cNvSpPr>
            <a:spLocks noGrp="1" noChangeArrowheads="1"/>
          </p:cNvSpPr>
          <p:nvPr>
            <p:ph idx="1"/>
          </p:nvPr>
        </p:nvSpPr>
        <p:spPr>
          <a:xfrm>
            <a:off x="2057400" y="1676400"/>
            <a:ext cx="8077200" cy="4191000"/>
          </a:xfrm>
        </p:spPr>
        <p:txBody>
          <a:bodyPr>
            <a:normAutofit/>
          </a:bodyPr>
          <a:lstStyle/>
          <a:p>
            <a:pPr eaLnBrk="1" hangingPunct="1"/>
            <a:endParaRPr lang="en-US" altLang="en-US" dirty="0"/>
          </a:p>
          <a:p>
            <a:pPr eaLnBrk="1" hangingPunct="1"/>
            <a:endParaRPr lang="en-US" altLang="en-US" dirty="0"/>
          </a:p>
          <a:p>
            <a:pPr eaLnBrk="1" hangingPunct="1"/>
            <a:r>
              <a:rPr lang="en-US" altLang="en-US" dirty="0"/>
              <a:t>Principles and Concepts of Quality Software (continued)</a:t>
            </a:r>
          </a:p>
          <a:p>
            <a:pPr lvl="1" eaLnBrk="1" hangingPunct="1"/>
            <a:r>
              <a:rPr lang="en-US" altLang="en-US" dirty="0"/>
              <a:t>Portability</a:t>
            </a:r>
          </a:p>
          <a:p>
            <a:pPr lvl="2"/>
            <a:r>
              <a:rPr lang="en-US" altLang="en-US" dirty="0"/>
              <a:t>is said to be portable if there is very low effort required to make it run on different platforms.</a:t>
            </a:r>
          </a:p>
        </p:txBody>
      </p:sp>
      <p:sp>
        <p:nvSpPr>
          <p:cNvPr id="4" name="Footer Placeholder 3">
            <a:extLst>
              <a:ext uri="{FF2B5EF4-FFF2-40B4-BE49-F238E27FC236}">
                <a16:creationId xmlns:a16="http://schemas.microsoft.com/office/drawing/2014/main" id="{B2D12E1E-B985-8455-1053-AADCA3B1C769}"/>
              </a:ext>
            </a:extLst>
          </p:cNvPr>
          <p:cNvSpPr>
            <a:spLocks noGrp="1"/>
          </p:cNvSpPr>
          <p:nvPr>
            <p:ph type="ftr" sz="quarter" idx="11"/>
          </p:nvPr>
        </p:nvSpPr>
        <p:spPr/>
        <p:txBody>
          <a:bodyPr/>
          <a:lstStyle/>
          <a:p>
            <a:pPr>
              <a:defRPr/>
            </a:pPr>
            <a:r>
              <a:rPr lang="en-US"/>
              <a:t>Secure Software Development: A Security Programmer’s Guide, First Edition</a:t>
            </a:r>
          </a:p>
        </p:txBody>
      </p:sp>
      <p:sp>
        <p:nvSpPr>
          <p:cNvPr id="48131" name="Slide Number Placeholder 4">
            <a:extLst>
              <a:ext uri="{FF2B5EF4-FFF2-40B4-BE49-F238E27FC236}">
                <a16:creationId xmlns:a16="http://schemas.microsoft.com/office/drawing/2014/main" id="{FD8303C9-DC74-ECD6-DA2D-7812A0ED0EAB}"/>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6BDDA4E-D8D1-438D-A935-7EDEED844B59}" type="slidenum">
              <a:rPr lang="en-US" altLang="en-US" sz="1400"/>
              <a:pPr>
                <a:spcBef>
                  <a:spcPct val="0"/>
                </a:spcBef>
                <a:buFontTx/>
                <a:buNone/>
              </a:pPr>
              <a:t>45</a:t>
            </a:fld>
            <a:endParaRPr lang="en-US" altLang="en-US" sz="1400"/>
          </a:p>
        </p:txBody>
      </p:sp>
    </p:spTree>
    <p:extLst>
      <p:ext uri="{BB962C8B-B14F-4D97-AF65-F5344CB8AC3E}">
        <p14:creationId xmlns:p14="http://schemas.microsoft.com/office/powerpoint/2010/main" val="10762057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2">
            <a:extLst>
              <a:ext uri="{FF2B5EF4-FFF2-40B4-BE49-F238E27FC236}">
                <a16:creationId xmlns:a16="http://schemas.microsoft.com/office/drawing/2014/main" id="{D55DA8DF-E440-AEA1-9B1B-EBA649998FAE}"/>
              </a:ext>
            </a:extLst>
          </p:cNvPr>
          <p:cNvSpPr>
            <a:spLocks noGrp="1" noChangeArrowheads="1"/>
          </p:cNvSpPr>
          <p:nvPr>
            <p:ph type="title"/>
          </p:nvPr>
        </p:nvSpPr>
        <p:spPr/>
        <p:txBody>
          <a:bodyPr>
            <a:normAutofit fontScale="90000"/>
          </a:bodyPr>
          <a:lstStyle/>
          <a:p>
            <a:pPr eaLnBrk="1" hangingPunct="1"/>
            <a:r>
              <a:rPr lang="en-US" altLang="en-US"/>
              <a:t>Principles of Security and Quality in the Organization (continued)</a:t>
            </a:r>
            <a:endParaRPr lang="en-US" altLang="en-US" b="1"/>
          </a:p>
        </p:txBody>
      </p:sp>
      <p:sp>
        <p:nvSpPr>
          <p:cNvPr id="50181" name="Rectangle 3">
            <a:extLst>
              <a:ext uri="{FF2B5EF4-FFF2-40B4-BE49-F238E27FC236}">
                <a16:creationId xmlns:a16="http://schemas.microsoft.com/office/drawing/2014/main" id="{CC870C39-35C1-779F-4F1C-375D791C614D}"/>
              </a:ext>
            </a:extLst>
          </p:cNvPr>
          <p:cNvSpPr>
            <a:spLocks noGrp="1" noChangeArrowheads="1"/>
          </p:cNvSpPr>
          <p:nvPr>
            <p:ph idx="1"/>
          </p:nvPr>
        </p:nvSpPr>
        <p:spPr>
          <a:xfrm>
            <a:off x="2057400" y="1676400"/>
            <a:ext cx="8077200" cy="4191000"/>
          </a:xfrm>
        </p:spPr>
        <p:txBody>
          <a:bodyPr/>
          <a:lstStyle/>
          <a:p>
            <a:pPr eaLnBrk="1" hangingPunct="1"/>
            <a:endParaRPr lang="en-US" altLang="en-US" dirty="0"/>
          </a:p>
          <a:p>
            <a:pPr eaLnBrk="1" hangingPunct="1"/>
            <a:endParaRPr lang="en-US" altLang="en-US" dirty="0"/>
          </a:p>
          <a:p>
            <a:pPr eaLnBrk="1" hangingPunct="1"/>
            <a:r>
              <a:rPr lang="en-US" altLang="en-US" dirty="0"/>
              <a:t>Principles and Concepts of Quality Software (continued)</a:t>
            </a:r>
          </a:p>
          <a:p>
            <a:pPr lvl="1" eaLnBrk="1" hangingPunct="1"/>
            <a:r>
              <a:rPr lang="en-US" altLang="en-US" dirty="0"/>
              <a:t>Maintainability</a:t>
            </a:r>
          </a:p>
          <a:p>
            <a:pPr lvl="2" eaLnBrk="1" hangingPunct="1"/>
            <a:r>
              <a:rPr lang="en-US" altLang="en-US" dirty="0"/>
              <a:t>refers to the ease with which you can repair, improve and understand software code.</a:t>
            </a:r>
          </a:p>
          <a:p>
            <a:pPr lvl="1" eaLnBrk="1" hangingPunct="1"/>
            <a:r>
              <a:rPr lang="en-US" altLang="en-US" dirty="0"/>
              <a:t>Testability</a:t>
            </a:r>
          </a:p>
          <a:p>
            <a:pPr lvl="2" eaLnBrk="1" hangingPunct="1"/>
            <a:r>
              <a:rPr lang="en-US" altLang="en-US" dirty="0"/>
              <a:t> is a metric that defines how easily, effectively, and efficiently an application can be tested by QA teams</a:t>
            </a:r>
          </a:p>
          <a:p>
            <a:pPr lvl="2" eaLnBrk="1" hangingPunct="1"/>
            <a:endParaRPr lang="en-US" altLang="en-US" dirty="0"/>
          </a:p>
        </p:txBody>
      </p:sp>
      <p:sp>
        <p:nvSpPr>
          <p:cNvPr id="4" name="Footer Placeholder 3">
            <a:extLst>
              <a:ext uri="{FF2B5EF4-FFF2-40B4-BE49-F238E27FC236}">
                <a16:creationId xmlns:a16="http://schemas.microsoft.com/office/drawing/2014/main" id="{66732C43-0793-6650-5DB2-A51D06B7B553}"/>
              </a:ext>
            </a:extLst>
          </p:cNvPr>
          <p:cNvSpPr>
            <a:spLocks noGrp="1"/>
          </p:cNvSpPr>
          <p:nvPr>
            <p:ph type="ftr" sz="quarter" idx="11"/>
          </p:nvPr>
        </p:nvSpPr>
        <p:spPr/>
        <p:txBody>
          <a:bodyPr/>
          <a:lstStyle/>
          <a:p>
            <a:pPr>
              <a:defRPr/>
            </a:pPr>
            <a:r>
              <a:rPr lang="en-US"/>
              <a:t>Secure Software Development: A Security Programmer’s Guide, First Edition</a:t>
            </a:r>
          </a:p>
        </p:txBody>
      </p:sp>
      <p:sp>
        <p:nvSpPr>
          <p:cNvPr id="50179" name="Slide Number Placeholder 4">
            <a:extLst>
              <a:ext uri="{FF2B5EF4-FFF2-40B4-BE49-F238E27FC236}">
                <a16:creationId xmlns:a16="http://schemas.microsoft.com/office/drawing/2014/main" id="{B3416DA9-5D61-EBD7-5F1D-61D6DCF1F076}"/>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3BD666A-0853-44B3-8BEA-A9CFF468567C}" type="slidenum">
              <a:rPr lang="en-US" altLang="en-US" sz="1400"/>
              <a:pPr>
                <a:spcBef>
                  <a:spcPct val="0"/>
                </a:spcBef>
                <a:buFontTx/>
                <a:buNone/>
              </a:pPr>
              <a:t>46</a:t>
            </a:fld>
            <a:endParaRPr lang="en-US" altLang="en-US" sz="14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2">
            <a:extLst>
              <a:ext uri="{FF2B5EF4-FFF2-40B4-BE49-F238E27FC236}">
                <a16:creationId xmlns:a16="http://schemas.microsoft.com/office/drawing/2014/main" id="{D7C866DC-144B-D2E1-8757-550F2803473F}"/>
              </a:ext>
            </a:extLst>
          </p:cNvPr>
          <p:cNvSpPr>
            <a:spLocks noGrp="1" noChangeArrowheads="1"/>
          </p:cNvSpPr>
          <p:nvPr>
            <p:ph type="title"/>
          </p:nvPr>
        </p:nvSpPr>
        <p:spPr/>
        <p:txBody>
          <a:bodyPr>
            <a:normAutofit fontScale="90000"/>
          </a:bodyPr>
          <a:lstStyle/>
          <a:p>
            <a:pPr eaLnBrk="1" hangingPunct="1"/>
            <a:r>
              <a:rPr lang="en-US" altLang="en-US"/>
              <a:t>Principles of Security and Quality in the Organization (continued)</a:t>
            </a:r>
            <a:endParaRPr lang="en-US" altLang="en-US" b="1"/>
          </a:p>
        </p:txBody>
      </p:sp>
      <p:sp>
        <p:nvSpPr>
          <p:cNvPr id="52229" name="Rectangle 3">
            <a:extLst>
              <a:ext uri="{FF2B5EF4-FFF2-40B4-BE49-F238E27FC236}">
                <a16:creationId xmlns:a16="http://schemas.microsoft.com/office/drawing/2014/main" id="{F41D0208-C4A2-6E7F-5291-122BAAC0A035}"/>
              </a:ext>
            </a:extLst>
          </p:cNvPr>
          <p:cNvSpPr>
            <a:spLocks noGrp="1" noChangeArrowheads="1"/>
          </p:cNvSpPr>
          <p:nvPr>
            <p:ph idx="1"/>
          </p:nvPr>
        </p:nvSpPr>
        <p:spPr>
          <a:xfrm>
            <a:off x="2057400" y="1676400"/>
            <a:ext cx="8077200" cy="4191000"/>
          </a:xfrm>
        </p:spPr>
        <p:txBody>
          <a:bodyPr/>
          <a:lstStyle/>
          <a:p>
            <a:pPr eaLnBrk="1" hangingPunct="1">
              <a:lnSpc>
                <a:spcPct val="90000"/>
              </a:lnSpc>
            </a:pPr>
            <a:endParaRPr lang="en-US" altLang="en-US" dirty="0"/>
          </a:p>
          <a:p>
            <a:pPr eaLnBrk="1" hangingPunct="1">
              <a:lnSpc>
                <a:spcPct val="90000"/>
              </a:lnSpc>
            </a:pPr>
            <a:endParaRPr lang="en-US" altLang="en-US" dirty="0"/>
          </a:p>
          <a:p>
            <a:pPr eaLnBrk="1" hangingPunct="1">
              <a:lnSpc>
                <a:spcPct val="90000"/>
              </a:lnSpc>
            </a:pPr>
            <a:r>
              <a:rPr lang="en-US" altLang="en-US" dirty="0"/>
              <a:t>Principles and Concepts of Quality Software (continued)</a:t>
            </a:r>
          </a:p>
          <a:p>
            <a:pPr lvl="1" eaLnBrk="1" hangingPunct="1">
              <a:lnSpc>
                <a:spcPct val="90000"/>
              </a:lnSpc>
            </a:pPr>
            <a:r>
              <a:rPr lang="en-US" altLang="en-US" dirty="0"/>
              <a:t>Flexibility and Reusability</a:t>
            </a:r>
          </a:p>
          <a:p>
            <a:pPr lvl="2" eaLnBrk="1" hangingPunct="1">
              <a:lnSpc>
                <a:spcPct val="90000"/>
              </a:lnSpc>
            </a:pPr>
            <a:r>
              <a:rPr lang="en-US" altLang="en-US" dirty="0"/>
              <a:t>Can the code be modified easily without affecting a lot of modules and programs?</a:t>
            </a:r>
          </a:p>
          <a:p>
            <a:pPr lvl="2" eaLnBrk="1" hangingPunct="1">
              <a:lnSpc>
                <a:spcPct val="90000"/>
              </a:lnSpc>
            </a:pPr>
            <a:r>
              <a:rPr lang="en-US" altLang="en-US" dirty="0"/>
              <a:t>Can the code be reused for other purposes or services?</a:t>
            </a:r>
          </a:p>
          <a:p>
            <a:pPr lvl="2" eaLnBrk="1" hangingPunct="1">
              <a:lnSpc>
                <a:spcPct val="90000"/>
              </a:lnSpc>
            </a:pPr>
            <a:r>
              <a:rPr lang="en-US" altLang="en-US" dirty="0"/>
              <a:t>Is there a good separation of logic where reusable methods are not embedded with surrounding methods that are not reusable?</a:t>
            </a:r>
          </a:p>
        </p:txBody>
      </p:sp>
      <p:sp>
        <p:nvSpPr>
          <p:cNvPr id="4" name="Footer Placeholder 3">
            <a:extLst>
              <a:ext uri="{FF2B5EF4-FFF2-40B4-BE49-F238E27FC236}">
                <a16:creationId xmlns:a16="http://schemas.microsoft.com/office/drawing/2014/main" id="{360E165B-11C1-3AD2-1BCD-05280190096B}"/>
              </a:ext>
            </a:extLst>
          </p:cNvPr>
          <p:cNvSpPr>
            <a:spLocks noGrp="1"/>
          </p:cNvSpPr>
          <p:nvPr>
            <p:ph type="ftr" sz="quarter" idx="11"/>
          </p:nvPr>
        </p:nvSpPr>
        <p:spPr/>
        <p:txBody>
          <a:bodyPr/>
          <a:lstStyle/>
          <a:p>
            <a:pPr>
              <a:defRPr/>
            </a:pPr>
            <a:r>
              <a:rPr lang="en-US"/>
              <a:t>Secure Software Development: A Security Programmer’s Guide, First Edition</a:t>
            </a:r>
          </a:p>
        </p:txBody>
      </p:sp>
      <p:sp>
        <p:nvSpPr>
          <p:cNvPr id="52227" name="Slide Number Placeholder 4">
            <a:extLst>
              <a:ext uri="{FF2B5EF4-FFF2-40B4-BE49-F238E27FC236}">
                <a16:creationId xmlns:a16="http://schemas.microsoft.com/office/drawing/2014/main" id="{C707AB29-3A27-3CA2-D0CD-9FD3F34DB2A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5DED5BB-19A1-4F46-921A-44EF244EE2E1}" type="slidenum">
              <a:rPr lang="en-US" altLang="en-US" sz="1400"/>
              <a:pPr>
                <a:spcBef>
                  <a:spcPct val="0"/>
                </a:spcBef>
                <a:buFontTx/>
                <a:buNone/>
              </a:pPr>
              <a:t>47</a:t>
            </a:fld>
            <a:endParaRPr lang="en-US" altLang="en-US" sz="14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2">
            <a:extLst>
              <a:ext uri="{FF2B5EF4-FFF2-40B4-BE49-F238E27FC236}">
                <a16:creationId xmlns:a16="http://schemas.microsoft.com/office/drawing/2014/main" id="{8B94395C-7877-2C24-6A33-E3E8A217CF4A}"/>
              </a:ext>
            </a:extLst>
          </p:cNvPr>
          <p:cNvSpPr>
            <a:spLocks noGrp="1" noChangeArrowheads="1"/>
          </p:cNvSpPr>
          <p:nvPr>
            <p:ph type="title"/>
          </p:nvPr>
        </p:nvSpPr>
        <p:spPr/>
        <p:txBody>
          <a:bodyPr>
            <a:normAutofit fontScale="90000"/>
          </a:bodyPr>
          <a:lstStyle/>
          <a:p>
            <a:pPr eaLnBrk="1" hangingPunct="1"/>
            <a:r>
              <a:rPr lang="en-US" altLang="en-US"/>
              <a:t>Principles of Security and Quality in the Organization (continued)</a:t>
            </a:r>
            <a:endParaRPr lang="en-US" altLang="en-US" b="1"/>
          </a:p>
        </p:txBody>
      </p:sp>
      <p:sp>
        <p:nvSpPr>
          <p:cNvPr id="54277" name="Rectangle 3">
            <a:extLst>
              <a:ext uri="{FF2B5EF4-FFF2-40B4-BE49-F238E27FC236}">
                <a16:creationId xmlns:a16="http://schemas.microsoft.com/office/drawing/2014/main" id="{FEBF08AC-3D82-B7F1-7B7C-4E02AC19B5FC}"/>
              </a:ext>
            </a:extLst>
          </p:cNvPr>
          <p:cNvSpPr>
            <a:spLocks noGrp="1" noChangeArrowheads="1"/>
          </p:cNvSpPr>
          <p:nvPr>
            <p:ph idx="1"/>
          </p:nvPr>
        </p:nvSpPr>
        <p:spPr>
          <a:xfrm>
            <a:off x="2057400" y="1676400"/>
            <a:ext cx="8077200" cy="4191000"/>
          </a:xfrm>
        </p:spPr>
        <p:txBody>
          <a:bodyPr/>
          <a:lstStyle/>
          <a:p>
            <a:pPr eaLnBrk="1" hangingPunct="1"/>
            <a:endParaRPr lang="en-US" altLang="en-US" dirty="0"/>
          </a:p>
          <a:p>
            <a:pPr eaLnBrk="1" hangingPunct="1"/>
            <a:endParaRPr lang="en-US" altLang="en-US" dirty="0"/>
          </a:p>
          <a:p>
            <a:pPr eaLnBrk="1" hangingPunct="1"/>
            <a:r>
              <a:rPr lang="en-US" altLang="en-US" dirty="0"/>
              <a:t>Principles and Concepts of Quality Software (continued)</a:t>
            </a:r>
          </a:p>
          <a:p>
            <a:pPr lvl="1" eaLnBrk="1" hangingPunct="1"/>
            <a:r>
              <a:rPr lang="en-US" altLang="en-US" dirty="0"/>
              <a:t>Readability</a:t>
            </a:r>
          </a:p>
          <a:p>
            <a:pPr lvl="2" eaLnBrk="1" hangingPunct="1"/>
            <a:r>
              <a:rPr lang="en-US" altLang="en-US" dirty="0"/>
              <a:t>If I were to print the method, would I be reading a short </a:t>
            </a:r>
            <a:r>
              <a:rPr lang="en-US" altLang="en-US"/>
              <a:t>book?</a:t>
            </a:r>
            <a:endParaRPr lang="en-US" altLang="en-US" dirty="0"/>
          </a:p>
          <a:p>
            <a:pPr lvl="2" eaLnBrk="1" hangingPunct="1"/>
            <a:r>
              <a:rPr lang="en-US" altLang="en-US" dirty="0"/>
              <a:t>Is the code base so big that a person gets lost trying to follow the execution path?</a:t>
            </a:r>
          </a:p>
        </p:txBody>
      </p:sp>
      <p:sp>
        <p:nvSpPr>
          <p:cNvPr id="4" name="Footer Placeholder 3">
            <a:extLst>
              <a:ext uri="{FF2B5EF4-FFF2-40B4-BE49-F238E27FC236}">
                <a16:creationId xmlns:a16="http://schemas.microsoft.com/office/drawing/2014/main" id="{2C488A3B-5D11-4030-EFEF-4D5E8D6AA17A}"/>
              </a:ext>
            </a:extLst>
          </p:cNvPr>
          <p:cNvSpPr>
            <a:spLocks noGrp="1"/>
          </p:cNvSpPr>
          <p:nvPr>
            <p:ph type="ftr" sz="quarter" idx="11"/>
          </p:nvPr>
        </p:nvSpPr>
        <p:spPr/>
        <p:txBody>
          <a:bodyPr/>
          <a:lstStyle/>
          <a:p>
            <a:pPr>
              <a:defRPr/>
            </a:pPr>
            <a:r>
              <a:rPr lang="en-US"/>
              <a:t>Secure Software Development: A Security Programmer’s Guide, First Edition</a:t>
            </a:r>
          </a:p>
        </p:txBody>
      </p:sp>
      <p:sp>
        <p:nvSpPr>
          <p:cNvPr id="54275" name="Slide Number Placeholder 4">
            <a:extLst>
              <a:ext uri="{FF2B5EF4-FFF2-40B4-BE49-F238E27FC236}">
                <a16:creationId xmlns:a16="http://schemas.microsoft.com/office/drawing/2014/main" id="{1E2AD244-8A11-C458-CF67-09B7257DF56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6382AF0-D392-47C7-946C-ECDFF109605E}" type="slidenum">
              <a:rPr lang="en-US" altLang="en-US" sz="1400"/>
              <a:pPr>
                <a:spcBef>
                  <a:spcPct val="0"/>
                </a:spcBef>
                <a:buFontTx/>
                <a:buNone/>
              </a:pPr>
              <a:t>48</a:t>
            </a:fld>
            <a:endParaRPr lang="en-US" altLang="en-US" sz="14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Rectangle 2">
            <a:extLst>
              <a:ext uri="{FF2B5EF4-FFF2-40B4-BE49-F238E27FC236}">
                <a16:creationId xmlns:a16="http://schemas.microsoft.com/office/drawing/2014/main" id="{4669B3F3-F278-0999-DD69-329158EC2262}"/>
              </a:ext>
            </a:extLst>
          </p:cNvPr>
          <p:cNvSpPr>
            <a:spLocks noGrp="1" noChangeArrowheads="1"/>
          </p:cNvSpPr>
          <p:nvPr>
            <p:ph type="title"/>
          </p:nvPr>
        </p:nvSpPr>
        <p:spPr/>
        <p:txBody>
          <a:bodyPr>
            <a:normAutofit fontScale="90000"/>
          </a:bodyPr>
          <a:lstStyle/>
          <a:p>
            <a:pPr eaLnBrk="1" hangingPunct="1"/>
            <a:r>
              <a:rPr lang="en-US" altLang="en-US"/>
              <a:t>Principles of Security and Quality in the Organization (continued)</a:t>
            </a:r>
            <a:endParaRPr lang="en-US" altLang="en-US" b="1"/>
          </a:p>
        </p:txBody>
      </p:sp>
      <p:sp>
        <p:nvSpPr>
          <p:cNvPr id="56325" name="Rectangle 3">
            <a:extLst>
              <a:ext uri="{FF2B5EF4-FFF2-40B4-BE49-F238E27FC236}">
                <a16:creationId xmlns:a16="http://schemas.microsoft.com/office/drawing/2014/main" id="{6BC09F52-389F-7EA2-BE85-201781CB8C65}"/>
              </a:ext>
            </a:extLst>
          </p:cNvPr>
          <p:cNvSpPr>
            <a:spLocks noGrp="1" noChangeArrowheads="1"/>
          </p:cNvSpPr>
          <p:nvPr>
            <p:ph idx="1"/>
          </p:nvPr>
        </p:nvSpPr>
        <p:spPr>
          <a:xfrm>
            <a:off x="2057400" y="1676400"/>
            <a:ext cx="8077200" cy="4191000"/>
          </a:xfrm>
        </p:spPr>
        <p:txBody>
          <a:bodyPr/>
          <a:lstStyle/>
          <a:p>
            <a:pPr eaLnBrk="1" hangingPunct="1"/>
            <a:endParaRPr lang="en-US" altLang="en-US" dirty="0"/>
          </a:p>
          <a:p>
            <a:pPr eaLnBrk="1" hangingPunct="1"/>
            <a:endParaRPr lang="en-US" altLang="en-US" dirty="0"/>
          </a:p>
          <a:p>
            <a:pPr eaLnBrk="1" hangingPunct="1"/>
            <a:r>
              <a:rPr lang="en-US" altLang="en-US" dirty="0"/>
              <a:t>Principles and Concepts of Quality Software (continued)</a:t>
            </a:r>
          </a:p>
          <a:p>
            <a:pPr lvl="1" eaLnBrk="1" hangingPunct="1"/>
            <a:r>
              <a:rPr lang="en-US" altLang="en-US" dirty="0"/>
              <a:t>Usability</a:t>
            </a:r>
          </a:p>
          <a:p>
            <a:pPr lvl="2" eaLnBrk="1" hangingPunct="1"/>
            <a:r>
              <a:rPr lang="en-US" altLang="en-US" dirty="0"/>
              <a:t>Is a user manual provided?</a:t>
            </a:r>
          </a:p>
          <a:p>
            <a:pPr lvl="2" eaLnBrk="1" hangingPunct="1"/>
            <a:r>
              <a:rPr lang="en-US" altLang="en-US" dirty="0"/>
              <a:t>Are meaningful error messages provided?</a:t>
            </a:r>
          </a:p>
        </p:txBody>
      </p:sp>
      <p:sp>
        <p:nvSpPr>
          <p:cNvPr id="4" name="Footer Placeholder 3">
            <a:extLst>
              <a:ext uri="{FF2B5EF4-FFF2-40B4-BE49-F238E27FC236}">
                <a16:creationId xmlns:a16="http://schemas.microsoft.com/office/drawing/2014/main" id="{3C68CE4A-35D0-ACA8-EE2D-24A1286AF7A2}"/>
              </a:ext>
            </a:extLst>
          </p:cNvPr>
          <p:cNvSpPr>
            <a:spLocks noGrp="1"/>
          </p:cNvSpPr>
          <p:nvPr>
            <p:ph type="ftr" sz="quarter" idx="11"/>
          </p:nvPr>
        </p:nvSpPr>
        <p:spPr/>
        <p:txBody>
          <a:bodyPr/>
          <a:lstStyle/>
          <a:p>
            <a:pPr>
              <a:defRPr/>
            </a:pPr>
            <a:r>
              <a:rPr lang="en-US"/>
              <a:t>Secure Software Development: A Security Programmer’s Guide, First Edition</a:t>
            </a:r>
          </a:p>
        </p:txBody>
      </p:sp>
      <p:sp>
        <p:nvSpPr>
          <p:cNvPr id="56323" name="Slide Number Placeholder 4">
            <a:extLst>
              <a:ext uri="{FF2B5EF4-FFF2-40B4-BE49-F238E27FC236}">
                <a16:creationId xmlns:a16="http://schemas.microsoft.com/office/drawing/2014/main" id="{F74D605A-29F1-ADC2-50CC-EAA4B7F59181}"/>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F0C18A8-3BA7-415C-A191-4D578783F75E}" type="slidenum">
              <a:rPr lang="en-US" altLang="en-US" sz="1400"/>
              <a:pPr>
                <a:spcBef>
                  <a:spcPct val="0"/>
                </a:spcBef>
                <a:buFontTx/>
                <a:buNone/>
              </a:pPr>
              <a:t>49</a:t>
            </a:fld>
            <a:endParaRPr lang="en-US" altLang="en-US" sz="14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Rectangle 2">
            <a:extLst>
              <a:ext uri="{FF2B5EF4-FFF2-40B4-BE49-F238E27FC236}">
                <a16:creationId xmlns:a16="http://schemas.microsoft.com/office/drawing/2014/main" id="{4669B3F3-F278-0999-DD69-329158EC2262}"/>
              </a:ext>
            </a:extLst>
          </p:cNvPr>
          <p:cNvSpPr>
            <a:spLocks noGrp="1" noChangeArrowheads="1"/>
          </p:cNvSpPr>
          <p:nvPr>
            <p:ph type="title"/>
          </p:nvPr>
        </p:nvSpPr>
        <p:spPr/>
        <p:txBody>
          <a:bodyPr>
            <a:normAutofit fontScale="90000"/>
          </a:bodyPr>
          <a:lstStyle/>
          <a:p>
            <a:pPr eaLnBrk="1" hangingPunct="1"/>
            <a:r>
              <a:rPr lang="en-US" altLang="en-US"/>
              <a:t>Principles of Security and Quality in the Organization (continued)</a:t>
            </a:r>
            <a:endParaRPr lang="en-US" altLang="en-US" b="1"/>
          </a:p>
        </p:txBody>
      </p:sp>
      <p:sp>
        <p:nvSpPr>
          <p:cNvPr id="56325" name="Rectangle 3">
            <a:extLst>
              <a:ext uri="{FF2B5EF4-FFF2-40B4-BE49-F238E27FC236}">
                <a16:creationId xmlns:a16="http://schemas.microsoft.com/office/drawing/2014/main" id="{6BC09F52-389F-7EA2-BE85-201781CB8C65}"/>
              </a:ext>
            </a:extLst>
          </p:cNvPr>
          <p:cNvSpPr>
            <a:spLocks noGrp="1" noChangeArrowheads="1"/>
          </p:cNvSpPr>
          <p:nvPr>
            <p:ph idx="1"/>
          </p:nvPr>
        </p:nvSpPr>
        <p:spPr>
          <a:xfrm>
            <a:off x="2057400" y="1676400"/>
            <a:ext cx="8077200" cy="4191000"/>
          </a:xfrm>
        </p:spPr>
        <p:txBody>
          <a:bodyPr/>
          <a:lstStyle/>
          <a:p>
            <a:pPr eaLnBrk="1" hangingPunct="1"/>
            <a:endParaRPr lang="en-US" altLang="en-US" dirty="0"/>
          </a:p>
          <a:p>
            <a:pPr eaLnBrk="1" hangingPunct="1"/>
            <a:endParaRPr lang="en-US" altLang="en-US" dirty="0"/>
          </a:p>
          <a:p>
            <a:pPr eaLnBrk="1" hangingPunct="1"/>
            <a:r>
              <a:rPr lang="en-US" altLang="en-US" dirty="0"/>
              <a:t>Principles and Concepts of Quality Software (continued)</a:t>
            </a:r>
          </a:p>
          <a:p>
            <a:pPr lvl="1" eaLnBrk="1" hangingPunct="1"/>
            <a:r>
              <a:rPr lang="en-US" altLang="en-US" dirty="0"/>
              <a:t>Reliability</a:t>
            </a:r>
          </a:p>
          <a:p>
            <a:pPr lvl="2" eaLnBrk="1" hangingPunct="1"/>
            <a:r>
              <a:rPr lang="en-US" altLang="en-US" dirty="0"/>
              <a:t>Can it handle concurrent users?</a:t>
            </a:r>
          </a:p>
          <a:p>
            <a:pPr lvl="2" eaLnBrk="1" hangingPunct="1"/>
            <a:r>
              <a:rPr lang="en-US" altLang="en-US" dirty="0"/>
              <a:t>Is exception handling provided?</a:t>
            </a:r>
          </a:p>
        </p:txBody>
      </p:sp>
      <p:sp>
        <p:nvSpPr>
          <p:cNvPr id="4" name="Footer Placeholder 3">
            <a:extLst>
              <a:ext uri="{FF2B5EF4-FFF2-40B4-BE49-F238E27FC236}">
                <a16:creationId xmlns:a16="http://schemas.microsoft.com/office/drawing/2014/main" id="{3C68CE4A-35D0-ACA8-EE2D-24A1286AF7A2}"/>
              </a:ext>
            </a:extLst>
          </p:cNvPr>
          <p:cNvSpPr>
            <a:spLocks noGrp="1"/>
          </p:cNvSpPr>
          <p:nvPr>
            <p:ph type="ftr" sz="quarter" idx="11"/>
          </p:nvPr>
        </p:nvSpPr>
        <p:spPr/>
        <p:txBody>
          <a:bodyPr/>
          <a:lstStyle/>
          <a:p>
            <a:pPr>
              <a:defRPr/>
            </a:pPr>
            <a:r>
              <a:rPr lang="en-US"/>
              <a:t>Secure Software Development: A Security Programmer’s Guide, First Edition</a:t>
            </a:r>
          </a:p>
        </p:txBody>
      </p:sp>
      <p:sp>
        <p:nvSpPr>
          <p:cNvPr id="56323" name="Slide Number Placeholder 4">
            <a:extLst>
              <a:ext uri="{FF2B5EF4-FFF2-40B4-BE49-F238E27FC236}">
                <a16:creationId xmlns:a16="http://schemas.microsoft.com/office/drawing/2014/main" id="{F74D605A-29F1-ADC2-50CC-EAA4B7F59181}"/>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F0C18A8-3BA7-415C-A191-4D578783F75E}" type="slidenum">
              <a:rPr lang="en-US" altLang="en-US" sz="1400"/>
              <a:pPr>
                <a:spcBef>
                  <a:spcPct val="0"/>
                </a:spcBef>
                <a:buFontTx/>
                <a:buNone/>
              </a:pPr>
              <a:t>50</a:t>
            </a:fld>
            <a:endParaRPr lang="en-US" altLang="en-US" sz="1400"/>
          </a:p>
        </p:txBody>
      </p:sp>
    </p:spTree>
    <p:extLst>
      <p:ext uri="{BB962C8B-B14F-4D97-AF65-F5344CB8AC3E}">
        <p14:creationId xmlns:p14="http://schemas.microsoft.com/office/powerpoint/2010/main" val="14660456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Rectangle 2">
            <a:extLst>
              <a:ext uri="{FF2B5EF4-FFF2-40B4-BE49-F238E27FC236}">
                <a16:creationId xmlns:a16="http://schemas.microsoft.com/office/drawing/2014/main" id="{898937C9-668B-9C01-5A43-333394E6F21F}"/>
              </a:ext>
            </a:extLst>
          </p:cNvPr>
          <p:cNvSpPr>
            <a:spLocks noGrp="1" noChangeArrowheads="1"/>
          </p:cNvSpPr>
          <p:nvPr>
            <p:ph type="title"/>
          </p:nvPr>
        </p:nvSpPr>
        <p:spPr/>
        <p:txBody>
          <a:bodyPr>
            <a:normAutofit fontScale="90000"/>
          </a:bodyPr>
          <a:lstStyle/>
          <a:p>
            <a:pPr eaLnBrk="1" hangingPunct="1"/>
            <a:r>
              <a:rPr lang="en-US" altLang="en-US"/>
              <a:t>Applying Principles of Security and Quality in the Cube</a:t>
            </a:r>
          </a:p>
        </p:txBody>
      </p:sp>
      <p:sp>
        <p:nvSpPr>
          <p:cNvPr id="58373" name="Rectangle 3">
            <a:extLst>
              <a:ext uri="{FF2B5EF4-FFF2-40B4-BE49-F238E27FC236}">
                <a16:creationId xmlns:a16="http://schemas.microsoft.com/office/drawing/2014/main" id="{A9DEBFD2-2856-B870-28CD-496C76A4AF53}"/>
              </a:ext>
            </a:extLst>
          </p:cNvPr>
          <p:cNvSpPr>
            <a:spLocks noGrp="1" noChangeArrowheads="1"/>
          </p:cNvSpPr>
          <p:nvPr>
            <p:ph idx="1"/>
          </p:nvPr>
        </p:nvSpPr>
        <p:spPr>
          <a:xfrm>
            <a:off x="2057400" y="1676400"/>
            <a:ext cx="8077200" cy="4191000"/>
          </a:xfrm>
        </p:spPr>
        <p:txBody>
          <a:bodyPr/>
          <a:lstStyle/>
          <a:p>
            <a:pPr eaLnBrk="1" hangingPunct="1"/>
            <a:endParaRPr lang="en-US" altLang="en-US" dirty="0"/>
          </a:p>
          <a:p>
            <a:pPr eaLnBrk="1" hangingPunct="1"/>
            <a:endParaRPr lang="en-US" altLang="en-US" dirty="0"/>
          </a:p>
          <a:p>
            <a:pPr eaLnBrk="1" hangingPunct="1"/>
            <a:r>
              <a:rPr lang="en-US" altLang="en-US" dirty="0"/>
              <a:t>They say in life that character is what a person does when he is alone; for developers, it is how you code programs when </a:t>
            </a:r>
            <a:r>
              <a:rPr lang="en-US" altLang="en-US" b="1" dirty="0"/>
              <a:t>no one is watching over your shoulder</a:t>
            </a:r>
          </a:p>
          <a:p>
            <a:pPr eaLnBrk="1" hangingPunct="1"/>
            <a:r>
              <a:rPr lang="en-US" altLang="en-US" dirty="0"/>
              <a:t>If your determination in this field is to produce great software and to become the best developer you can possibly be, your everyday decision making needs to be based on the beliefs that quality and security come first</a:t>
            </a:r>
          </a:p>
        </p:txBody>
      </p:sp>
      <p:sp>
        <p:nvSpPr>
          <p:cNvPr id="4" name="Footer Placeholder 3">
            <a:extLst>
              <a:ext uri="{FF2B5EF4-FFF2-40B4-BE49-F238E27FC236}">
                <a16:creationId xmlns:a16="http://schemas.microsoft.com/office/drawing/2014/main" id="{2A0924BE-5351-37F8-FF8F-60514E1ED339}"/>
              </a:ext>
            </a:extLst>
          </p:cNvPr>
          <p:cNvSpPr>
            <a:spLocks noGrp="1"/>
          </p:cNvSpPr>
          <p:nvPr>
            <p:ph type="ftr" sz="quarter" idx="11"/>
          </p:nvPr>
        </p:nvSpPr>
        <p:spPr/>
        <p:txBody>
          <a:bodyPr/>
          <a:lstStyle/>
          <a:p>
            <a:pPr>
              <a:defRPr/>
            </a:pPr>
            <a:r>
              <a:rPr lang="en-US"/>
              <a:t>Secure Software Development: A Security Programmer’s Guide, First Edition</a:t>
            </a:r>
          </a:p>
        </p:txBody>
      </p:sp>
      <p:sp>
        <p:nvSpPr>
          <p:cNvPr id="58371" name="Slide Number Placeholder 4">
            <a:extLst>
              <a:ext uri="{FF2B5EF4-FFF2-40B4-BE49-F238E27FC236}">
                <a16:creationId xmlns:a16="http://schemas.microsoft.com/office/drawing/2014/main" id="{7422B901-F802-CF59-BA45-D5CDB0B7A825}"/>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E8E8CD6-D78A-48F2-B4C0-A05F098297CE}" type="slidenum">
              <a:rPr lang="en-US" altLang="en-US" sz="1400"/>
              <a:pPr>
                <a:spcBef>
                  <a:spcPct val="0"/>
                </a:spcBef>
                <a:buFontTx/>
                <a:buNone/>
              </a:pPr>
              <a:t>51</a:t>
            </a:fld>
            <a:endParaRPr lang="en-US" altLang="en-US" sz="14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Rectangle 2">
            <a:extLst>
              <a:ext uri="{FF2B5EF4-FFF2-40B4-BE49-F238E27FC236}">
                <a16:creationId xmlns:a16="http://schemas.microsoft.com/office/drawing/2014/main" id="{76A7920D-E19D-7218-ADC6-A88448B98C21}"/>
              </a:ext>
            </a:extLst>
          </p:cNvPr>
          <p:cNvSpPr>
            <a:spLocks noGrp="1" noChangeArrowheads="1"/>
          </p:cNvSpPr>
          <p:nvPr>
            <p:ph type="title"/>
          </p:nvPr>
        </p:nvSpPr>
        <p:spPr/>
        <p:txBody>
          <a:bodyPr>
            <a:normAutofit fontScale="90000"/>
          </a:bodyPr>
          <a:lstStyle/>
          <a:p>
            <a:pPr eaLnBrk="1" hangingPunct="1"/>
            <a:r>
              <a:rPr lang="en-US" altLang="en-US"/>
              <a:t>Applying Principles of Security and Quality in the Cube (continued)</a:t>
            </a:r>
          </a:p>
        </p:txBody>
      </p:sp>
      <p:sp>
        <p:nvSpPr>
          <p:cNvPr id="60421" name="Rectangle 3">
            <a:extLst>
              <a:ext uri="{FF2B5EF4-FFF2-40B4-BE49-F238E27FC236}">
                <a16:creationId xmlns:a16="http://schemas.microsoft.com/office/drawing/2014/main" id="{AE7D5180-8DF6-D614-2373-EC609C80063E}"/>
              </a:ext>
            </a:extLst>
          </p:cNvPr>
          <p:cNvSpPr>
            <a:spLocks noGrp="1" noChangeArrowheads="1"/>
          </p:cNvSpPr>
          <p:nvPr>
            <p:ph idx="1"/>
          </p:nvPr>
        </p:nvSpPr>
        <p:spPr>
          <a:xfrm>
            <a:off x="2057400" y="1676400"/>
            <a:ext cx="8077200" cy="4191000"/>
          </a:xfrm>
        </p:spPr>
        <p:txBody>
          <a:bodyPr/>
          <a:lstStyle/>
          <a:p>
            <a:pPr eaLnBrk="1" hangingPunct="1">
              <a:lnSpc>
                <a:spcPct val="90000"/>
              </a:lnSpc>
            </a:pPr>
            <a:endParaRPr lang="en-US" altLang="en-US" b="1" dirty="0"/>
          </a:p>
          <a:p>
            <a:pPr eaLnBrk="1" hangingPunct="1">
              <a:lnSpc>
                <a:spcPct val="90000"/>
              </a:lnSpc>
            </a:pPr>
            <a:endParaRPr lang="en-US" altLang="en-US" b="1" dirty="0"/>
          </a:p>
          <a:p>
            <a:pPr eaLnBrk="1" hangingPunct="1">
              <a:lnSpc>
                <a:spcPct val="90000"/>
              </a:lnSpc>
            </a:pPr>
            <a:r>
              <a:rPr lang="en-US" altLang="en-US" b="1" dirty="0"/>
              <a:t>Security and quality code have to be a part of who the developer is</a:t>
            </a:r>
          </a:p>
          <a:p>
            <a:pPr eaLnBrk="1" hangingPunct="1">
              <a:lnSpc>
                <a:spcPct val="90000"/>
              </a:lnSpc>
            </a:pPr>
            <a:r>
              <a:rPr lang="en-US" altLang="en-US" b="1" dirty="0"/>
              <a:t>You cannot go back into the code after the software is produced and add these characteristics later</a:t>
            </a:r>
          </a:p>
          <a:p>
            <a:pPr eaLnBrk="1" hangingPunct="1">
              <a:lnSpc>
                <a:spcPct val="90000"/>
              </a:lnSpc>
            </a:pPr>
            <a:r>
              <a:rPr lang="en-US" altLang="en-US" dirty="0"/>
              <a:t>These characteristics take time and practice to sink in; but, like many sports, learning the right approach is the first step</a:t>
            </a:r>
          </a:p>
          <a:p>
            <a:pPr eaLnBrk="1" hangingPunct="1">
              <a:lnSpc>
                <a:spcPct val="90000"/>
              </a:lnSpc>
            </a:pPr>
            <a:r>
              <a:rPr lang="en-US" altLang="en-US" dirty="0"/>
              <a:t>In time, coding secure, efficient code will not only come natural, you wouldn’t want to do it any other way</a:t>
            </a:r>
          </a:p>
        </p:txBody>
      </p:sp>
      <p:sp>
        <p:nvSpPr>
          <p:cNvPr id="4" name="Footer Placeholder 3">
            <a:extLst>
              <a:ext uri="{FF2B5EF4-FFF2-40B4-BE49-F238E27FC236}">
                <a16:creationId xmlns:a16="http://schemas.microsoft.com/office/drawing/2014/main" id="{DFFDACAF-32B9-4126-9621-5F55953FAE92}"/>
              </a:ext>
            </a:extLst>
          </p:cNvPr>
          <p:cNvSpPr>
            <a:spLocks noGrp="1"/>
          </p:cNvSpPr>
          <p:nvPr>
            <p:ph type="ftr" sz="quarter" idx="11"/>
          </p:nvPr>
        </p:nvSpPr>
        <p:spPr/>
        <p:txBody>
          <a:bodyPr/>
          <a:lstStyle/>
          <a:p>
            <a:pPr>
              <a:defRPr/>
            </a:pPr>
            <a:r>
              <a:rPr lang="en-US"/>
              <a:t>Secure Software Development: A Security Programmer’s Guide, First Edition</a:t>
            </a:r>
          </a:p>
        </p:txBody>
      </p:sp>
      <p:sp>
        <p:nvSpPr>
          <p:cNvPr id="60419" name="Slide Number Placeholder 4">
            <a:extLst>
              <a:ext uri="{FF2B5EF4-FFF2-40B4-BE49-F238E27FC236}">
                <a16:creationId xmlns:a16="http://schemas.microsoft.com/office/drawing/2014/main" id="{D3085CFF-DDBA-54A8-A830-F42770121DE6}"/>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0D33184-978A-48F7-B758-EB8C5D14B950}" type="slidenum">
              <a:rPr lang="en-US" altLang="en-US" sz="1400"/>
              <a:pPr>
                <a:spcBef>
                  <a:spcPct val="0"/>
                </a:spcBef>
                <a:buFontTx/>
                <a:buNone/>
              </a:pPr>
              <a:t>52</a:t>
            </a:fld>
            <a:endParaRPr lang="en-US" altLang="en-US" sz="14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8" name="Rectangle 2">
            <a:extLst>
              <a:ext uri="{FF2B5EF4-FFF2-40B4-BE49-F238E27FC236}">
                <a16:creationId xmlns:a16="http://schemas.microsoft.com/office/drawing/2014/main" id="{D19EF3AC-69CF-12B0-12E4-5952F0229249}"/>
              </a:ext>
            </a:extLst>
          </p:cNvPr>
          <p:cNvSpPr>
            <a:spLocks noGrp="1" noChangeArrowheads="1"/>
          </p:cNvSpPr>
          <p:nvPr>
            <p:ph type="title"/>
          </p:nvPr>
        </p:nvSpPr>
        <p:spPr/>
        <p:txBody>
          <a:bodyPr>
            <a:normAutofit fontScale="90000"/>
          </a:bodyPr>
          <a:lstStyle/>
          <a:p>
            <a:pPr eaLnBrk="1" hangingPunct="1"/>
            <a:r>
              <a:rPr lang="en-US" altLang="en-US"/>
              <a:t>Applying Principles of Security and Quality in the Cube (continued)</a:t>
            </a:r>
            <a:endParaRPr lang="en-US" altLang="en-US" b="1"/>
          </a:p>
        </p:txBody>
      </p:sp>
      <p:sp>
        <p:nvSpPr>
          <p:cNvPr id="62469" name="Rectangle 3">
            <a:extLst>
              <a:ext uri="{FF2B5EF4-FFF2-40B4-BE49-F238E27FC236}">
                <a16:creationId xmlns:a16="http://schemas.microsoft.com/office/drawing/2014/main" id="{CC1C4363-8C1E-D3D5-219C-4FC1081A7B69}"/>
              </a:ext>
            </a:extLst>
          </p:cNvPr>
          <p:cNvSpPr>
            <a:spLocks noGrp="1" noChangeArrowheads="1"/>
          </p:cNvSpPr>
          <p:nvPr>
            <p:ph idx="1"/>
          </p:nvPr>
        </p:nvSpPr>
        <p:spPr>
          <a:xfrm>
            <a:off x="2057400" y="1676400"/>
            <a:ext cx="8077200" cy="4191000"/>
          </a:xfrm>
        </p:spPr>
        <p:txBody>
          <a:bodyPr/>
          <a:lstStyle/>
          <a:p>
            <a:pPr eaLnBrk="1" hangingPunct="1"/>
            <a:endParaRPr lang="en-US" altLang="en-US" dirty="0"/>
          </a:p>
          <a:p>
            <a:pPr eaLnBrk="1" hangingPunct="1"/>
            <a:endParaRPr lang="en-US" altLang="en-US" dirty="0"/>
          </a:p>
          <a:p>
            <a:pPr eaLnBrk="1" hangingPunct="1"/>
            <a:r>
              <a:rPr lang="en-US" altLang="en-US" dirty="0"/>
              <a:t>Quality Is an Art Form</a:t>
            </a:r>
          </a:p>
          <a:p>
            <a:pPr lvl="1" eaLnBrk="1" hangingPunct="1"/>
            <a:r>
              <a:rPr lang="en-US" altLang="en-US" dirty="0"/>
              <a:t>Like art, software quality can mean many things to many people</a:t>
            </a:r>
          </a:p>
          <a:p>
            <a:pPr lvl="2" eaLnBrk="1" hangingPunct="1"/>
            <a:r>
              <a:rPr lang="en-US" altLang="en-US" dirty="0"/>
              <a:t>End user might view software quality from a perspective of usability</a:t>
            </a:r>
          </a:p>
          <a:p>
            <a:pPr lvl="2" eaLnBrk="1" hangingPunct="1"/>
            <a:r>
              <a:rPr lang="en-US" altLang="en-US" dirty="0"/>
              <a:t>Project managers might view as time and money</a:t>
            </a:r>
          </a:p>
          <a:p>
            <a:pPr lvl="2" eaLnBrk="1" hangingPunct="1"/>
            <a:r>
              <a:rPr lang="en-US" altLang="en-US" dirty="0"/>
              <a:t>Technical operation may view as CPU efficiency, network traffic, and memory leaks</a:t>
            </a:r>
          </a:p>
        </p:txBody>
      </p:sp>
      <p:sp>
        <p:nvSpPr>
          <p:cNvPr id="4" name="Footer Placeholder 3">
            <a:extLst>
              <a:ext uri="{FF2B5EF4-FFF2-40B4-BE49-F238E27FC236}">
                <a16:creationId xmlns:a16="http://schemas.microsoft.com/office/drawing/2014/main" id="{4F45B81F-6635-DE08-42E1-6920697F94D0}"/>
              </a:ext>
            </a:extLst>
          </p:cNvPr>
          <p:cNvSpPr>
            <a:spLocks noGrp="1"/>
          </p:cNvSpPr>
          <p:nvPr>
            <p:ph type="ftr" sz="quarter" idx="11"/>
          </p:nvPr>
        </p:nvSpPr>
        <p:spPr/>
        <p:txBody>
          <a:bodyPr/>
          <a:lstStyle/>
          <a:p>
            <a:pPr>
              <a:defRPr/>
            </a:pPr>
            <a:r>
              <a:rPr lang="en-US"/>
              <a:t>Secure Software Development: A Security Programmer’s Guide, First Edition</a:t>
            </a:r>
          </a:p>
        </p:txBody>
      </p:sp>
      <p:sp>
        <p:nvSpPr>
          <p:cNvPr id="62467" name="Slide Number Placeholder 4">
            <a:extLst>
              <a:ext uri="{FF2B5EF4-FFF2-40B4-BE49-F238E27FC236}">
                <a16:creationId xmlns:a16="http://schemas.microsoft.com/office/drawing/2014/main" id="{A446A9C7-0354-3CCC-BAC8-808BA2C33D84}"/>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D53386E-4C20-494B-BD7A-8E28169A871B}" type="slidenum">
              <a:rPr lang="en-US" altLang="en-US" sz="1400"/>
              <a:pPr>
                <a:spcBef>
                  <a:spcPct val="0"/>
                </a:spcBef>
                <a:buFontTx/>
                <a:buNone/>
              </a:pPr>
              <a:t>53</a:t>
            </a:fld>
            <a:endParaRPr lang="en-US" altLang="en-US" sz="14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Rectangle 2">
            <a:extLst>
              <a:ext uri="{FF2B5EF4-FFF2-40B4-BE49-F238E27FC236}">
                <a16:creationId xmlns:a16="http://schemas.microsoft.com/office/drawing/2014/main" id="{AD268CD5-2A84-84DE-84EE-931B4672BF20}"/>
              </a:ext>
            </a:extLst>
          </p:cNvPr>
          <p:cNvSpPr>
            <a:spLocks noGrp="1" noChangeArrowheads="1"/>
          </p:cNvSpPr>
          <p:nvPr>
            <p:ph type="title"/>
          </p:nvPr>
        </p:nvSpPr>
        <p:spPr/>
        <p:txBody>
          <a:bodyPr>
            <a:normAutofit fontScale="90000"/>
          </a:bodyPr>
          <a:lstStyle/>
          <a:p>
            <a:pPr eaLnBrk="1" hangingPunct="1"/>
            <a:r>
              <a:rPr lang="en-US" altLang="en-US" dirty="0"/>
              <a:t>Applying Principles of Security and Quality in the Cube (continued)</a:t>
            </a:r>
            <a:endParaRPr lang="en-US" altLang="en-US" b="1" dirty="0"/>
          </a:p>
        </p:txBody>
      </p:sp>
      <p:sp>
        <p:nvSpPr>
          <p:cNvPr id="74757" name="Rectangle 3">
            <a:extLst>
              <a:ext uri="{FF2B5EF4-FFF2-40B4-BE49-F238E27FC236}">
                <a16:creationId xmlns:a16="http://schemas.microsoft.com/office/drawing/2014/main" id="{A8290712-B0DD-FE72-3415-4DB357DE35BF}"/>
              </a:ext>
            </a:extLst>
          </p:cNvPr>
          <p:cNvSpPr>
            <a:spLocks noGrp="1" noChangeArrowheads="1"/>
          </p:cNvSpPr>
          <p:nvPr>
            <p:ph idx="1"/>
          </p:nvPr>
        </p:nvSpPr>
        <p:spPr/>
        <p:txBody>
          <a:bodyPr/>
          <a:lstStyle/>
          <a:p>
            <a:pPr eaLnBrk="1" hangingPunct="1"/>
            <a:r>
              <a:rPr lang="en-US" altLang="en-US" sz="2200" dirty="0"/>
              <a:t>Build Smart Applications to Back up Your Assurance </a:t>
            </a:r>
            <a:r>
              <a:rPr lang="en-US" altLang="en-US" sz="2200"/>
              <a:t>Case </a:t>
            </a:r>
            <a:endParaRPr lang="en-US" altLang="en-US" sz="2200" dirty="0"/>
          </a:p>
          <a:p>
            <a:pPr lvl="1" eaLnBrk="1" hangingPunct="1"/>
            <a:r>
              <a:rPr lang="en-US" altLang="en-US" dirty="0"/>
              <a:t>Log all activity</a:t>
            </a:r>
          </a:p>
          <a:p>
            <a:pPr lvl="1" eaLnBrk="1" hangingPunct="1"/>
            <a:r>
              <a:rPr lang="en-US" altLang="en-US" dirty="0"/>
              <a:t>Keep track of failed attempts per user</a:t>
            </a:r>
          </a:p>
          <a:p>
            <a:pPr lvl="1" eaLnBrk="1" hangingPunct="1"/>
            <a:r>
              <a:rPr lang="en-US" altLang="en-US" dirty="0"/>
              <a:t>Reset passwords regularly</a:t>
            </a:r>
          </a:p>
          <a:p>
            <a:pPr lvl="1" eaLnBrk="1" hangingPunct="1"/>
            <a:r>
              <a:rPr lang="en-US" altLang="en-US" dirty="0"/>
              <a:t>Have tight password policies</a:t>
            </a:r>
          </a:p>
          <a:p>
            <a:pPr lvl="1" eaLnBrk="1" hangingPunct="1"/>
            <a:r>
              <a:rPr lang="en-US" altLang="en-US" dirty="0"/>
              <a:t>Two-tier authentication</a:t>
            </a:r>
          </a:p>
          <a:p>
            <a:pPr lvl="1" eaLnBrk="1" hangingPunct="1">
              <a:buFontTx/>
              <a:buNone/>
            </a:pPr>
            <a:endParaRPr lang="en-US" altLang="en-US" dirty="0"/>
          </a:p>
          <a:p>
            <a:pPr lvl="1" eaLnBrk="1" hangingPunct="1"/>
            <a:endParaRPr lang="en-US" altLang="en-US" dirty="0"/>
          </a:p>
          <a:p>
            <a:pPr lvl="1" eaLnBrk="1" hangingPunct="1"/>
            <a:endParaRPr lang="en-US" altLang="en-US" dirty="0"/>
          </a:p>
        </p:txBody>
      </p:sp>
      <p:sp>
        <p:nvSpPr>
          <p:cNvPr id="4" name="Footer Placeholder 4">
            <a:extLst>
              <a:ext uri="{FF2B5EF4-FFF2-40B4-BE49-F238E27FC236}">
                <a16:creationId xmlns:a16="http://schemas.microsoft.com/office/drawing/2014/main" id="{874C6D3B-AB50-91A1-751F-276FFF1E2D1C}"/>
              </a:ext>
            </a:extLst>
          </p:cNvPr>
          <p:cNvSpPr>
            <a:spLocks noGrp="1"/>
          </p:cNvSpPr>
          <p:nvPr>
            <p:ph type="ftr" sz="quarter" idx="11"/>
          </p:nvPr>
        </p:nvSpPr>
        <p:spPr/>
        <p:txBody>
          <a:bodyPr/>
          <a:lstStyle/>
          <a:p>
            <a:pPr>
              <a:defRPr/>
            </a:pPr>
            <a:r>
              <a:rPr lang="en-US"/>
              <a:t>Secure Software Development: A Security Programmer’s Guide, First Edition</a:t>
            </a:r>
          </a:p>
        </p:txBody>
      </p:sp>
      <p:sp>
        <p:nvSpPr>
          <p:cNvPr id="74755" name="Slide Number Placeholder 5">
            <a:extLst>
              <a:ext uri="{FF2B5EF4-FFF2-40B4-BE49-F238E27FC236}">
                <a16:creationId xmlns:a16="http://schemas.microsoft.com/office/drawing/2014/main" id="{46878D41-6290-F3FE-2825-A99EBBB84E1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A114FD2-2AF0-480D-9614-DE2B366DAF23}" type="slidenum">
              <a:rPr lang="en-US" altLang="en-US" sz="1400"/>
              <a:pPr>
                <a:spcBef>
                  <a:spcPct val="0"/>
                </a:spcBef>
                <a:buFontTx/>
                <a:buNone/>
              </a:pPr>
              <a:t>54</a:t>
            </a:fld>
            <a:endParaRPr lang="en-US" altLang="en-US" sz="140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615</TotalTime>
  <Words>3073</Words>
  <Application>Microsoft Office PowerPoint</Application>
  <PresentationFormat>Widescreen</PresentationFormat>
  <Paragraphs>507</Paragraphs>
  <Slides>54</Slides>
  <Notes>47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54</vt:i4>
      </vt:variant>
    </vt:vector>
  </HeadingPairs>
  <TitlesOfParts>
    <vt:vector size="59" baseType="lpstr">
      <vt:lpstr>Arial</vt:lpstr>
      <vt:lpstr>Calibri</vt:lpstr>
      <vt:lpstr>Garamond</vt:lpstr>
      <vt:lpstr>Times New Roman</vt:lpstr>
      <vt:lpstr>Organic</vt:lpstr>
      <vt:lpstr>Secure Software Development Process</vt:lpstr>
      <vt:lpstr>Software Development Lifecycle (SDLC)</vt:lpstr>
      <vt:lpstr>Secure Software Development Process (continued)</vt:lpstr>
      <vt:lpstr>SDLC in the Industry</vt:lpstr>
      <vt:lpstr>SDLC in the Organization</vt:lpstr>
      <vt:lpstr>SDLC in the Organization (continued)</vt:lpstr>
      <vt:lpstr>SDLC in the Organization (continued)</vt:lpstr>
      <vt:lpstr>SDLC in the Organization (continued)</vt:lpstr>
      <vt:lpstr>SDLC in the Organization (continued)</vt:lpstr>
      <vt:lpstr>SDLC in the Cube</vt:lpstr>
      <vt:lpstr>The Development Team (continued)</vt:lpstr>
      <vt:lpstr>The Development Team (continued)</vt:lpstr>
      <vt:lpstr>The Development Team (continued)</vt:lpstr>
      <vt:lpstr>Principles of Security</vt:lpstr>
      <vt:lpstr>Principles of Security in the Industry</vt:lpstr>
      <vt:lpstr>Principles of Security and Quality in the Industry (continued)</vt:lpstr>
      <vt:lpstr>Principles of Security in the Industry (continued)</vt:lpstr>
      <vt:lpstr>Principles of Security in the organization</vt:lpstr>
      <vt:lpstr>Principles of Security in the organization (continued)</vt:lpstr>
      <vt:lpstr>Principles of Security in the organization (continued)</vt:lpstr>
      <vt:lpstr>Principles of Security in the organization (continued)</vt:lpstr>
      <vt:lpstr>Principles of Security in the organization (continued)</vt:lpstr>
      <vt:lpstr>Principles of Security in the organization (continued)</vt:lpstr>
      <vt:lpstr>Principles of Security in the organization (continued)</vt:lpstr>
      <vt:lpstr>Principles of Security in the organization (continued)</vt:lpstr>
      <vt:lpstr>Principles of Security in the organization (continued)</vt:lpstr>
      <vt:lpstr>Principles of Security in the organization (continued)</vt:lpstr>
      <vt:lpstr>Principles of Security in the organization (continued)</vt:lpstr>
      <vt:lpstr>Principles of Security in the organization (continued)</vt:lpstr>
      <vt:lpstr>Principles of Security in the organization (continued)</vt:lpstr>
      <vt:lpstr>Principles of Security in the organization (continued)</vt:lpstr>
      <vt:lpstr>Principles of Security in the organization (continued)</vt:lpstr>
      <vt:lpstr>Principles of Security in the organization (continued)</vt:lpstr>
      <vt:lpstr>Principles of Security in the organization (continued)</vt:lpstr>
      <vt:lpstr>Principles of Security in the organization (continued)</vt:lpstr>
      <vt:lpstr>Principles of Security in the organization (continued)</vt:lpstr>
      <vt:lpstr>Principles of Security in the organization (continued)</vt:lpstr>
      <vt:lpstr>Principles of Quality</vt:lpstr>
      <vt:lpstr>Principles of Quality in the Industry (continued)</vt:lpstr>
      <vt:lpstr>Principles of Quality in the Industry (continued)</vt:lpstr>
      <vt:lpstr>Principles of Quality in the Industry (continued)</vt:lpstr>
      <vt:lpstr>Principles of Quality in the Industry (continued)</vt:lpstr>
      <vt:lpstr>Principles of Quality in the Industry (continued)</vt:lpstr>
      <vt:lpstr>Principles of Security and Quality in the Organization (continued)</vt:lpstr>
      <vt:lpstr>Principles of Security and Quality in the Organization (continued)</vt:lpstr>
      <vt:lpstr>Principles of Security and Quality in the Organization (continued)</vt:lpstr>
      <vt:lpstr>Principles of Security and Quality in the Organization (continued)</vt:lpstr>
      <vt:lpstr>Principles of Security and Quality in the Organization (continued)</vt:lpstr>
      <vt:lpstr>Principles of Security and Quality in the Organization (continued)</vt:lpstr>
      <vt:lpstr>Principles of Security and Quality in the Organization (continued)</vt:lpstr>
      <vt:lpstr>Applying Principles of Security and Quality in the Cube</vt:lpstr>
      <vt:lpstr>Applying Principles of Security and Quality in the Cube (continued)</vt:lpstr>
      <vt:lpstr>Applying Principles of Security and Quality in the Cube (continued)</vt:lpstr>
      <vt:lpstr>Applying Principles of Security and Quality in the Cube (continued)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Safaa Hriez</dc:creator>
  <cp:lastModifiedBy>Safaa Hriez</cp:lastModifiedBy>
  <cp:revision>113</cp:revision>
  <dcterms:created xsi:type="dcterms:W3CDTF">2023-11-18T15:03:16Z</dcterms:created>
  <dcterms:modified xsi:type="dcterms:W3CDTF">2026-03-25T09:15:29Z</dcterms:modified>
</cp:coreProperties>
</file>