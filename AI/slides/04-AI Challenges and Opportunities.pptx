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286" r:id="rId4"/>
    <p:sldId id="258" r:id="rId5"/>
    <p:sldId id="268" r:id="rId6"/>
    <p:sldId id="269" r:id="rId7"/>
    <p:sldId id="277" r:id="rId8"/>
    <p:sldId id="278" r:id="rId9"/>
    <p:sldId id="276" r:id="rId10"/>
    <p:sldId id="272" r:id="rId11"/>
    <p:sldId id="270" r:id="rId12"/>
    <p:sldId id="271" r:id="rId13"/>
    <p:sldId id="273" r:id="rId14"/>
    <p:sldId id="274" r:id="rId15"/>
    <p:sldId id="275" r:id="rId16"/>
    <p:sldId id="280" r:id="rId17"/>
    <p:sldId id="279" r:id="rId18"/>
    <p:sldId id="259" r:id="rId19"/>
    <p:sldId id="260" r:id="rId20"/>
    <p:sldId id="281" r:id="rId21"/>
    <p:sldId id="282" r:id="rId22"/>
    <p:sldId id="283" r:id="rId23"/>
    <p:sldId id="284" r:id="rId24"/>
    <p:sldId id="285" r:id="rId25"/>
    <p:sldId id="261" r:id="rId26"/>
    <p:sldId id="262" r:id="rId27"/>
    <p:sldId id="263" r:id="rId28"/>
    <p:sldId id="264" r:id="rId29"/>
    <p:sldId id="265" r:id="rId30"/>
    <p:sldId id="266" r:id="rId31"/>
    <p:sldId id="267" r:id="rId32"/>
  </p:sldIdLst>
  <p:sldSz cx="18288000" cy="10287000"/>
  <p:notesSz cx="6858000" cy="9144000"/>
  <p:embeddedFontLst>
    <p:embeddedFont>
      <p:font typeface="Canva Sans" panose="020B0503030501040103"/>
      <p:regular r:id="rId34"/>
    </p:embeddedFont>
    <p:embeddedFont>
      <p:font typeface="Mokoto" pitchFamily="2" charset="0"/>
      <p:regular r:id="rId35"/>
    </p:embeddedFont>
    <p:embeddedFont>
      <p:font typeface="Montserrat Bold" pitchFamily="2" charset="77"/>
      <p:regular r:id="rId36"/>
      <p:bold r:id="rId37"/>
    </p:embeddedFont>
    <p:embeddedFont>
      <p:font typeface="Open Sans" panose="020B0606030504020204" pitchFamily="34" charset="0"/>
      <p:regular r:id="rId38"/>
      <p:bold r:id="rId39"/>
      <p:italic r:id="rId40"/>
      <p:boldItalic r:id="rId41"/>
    </p:embeddedFont>
    <p:embeddedFont>
      <p:font typeface="Open Sans Bold" panose="020B0806030504020204" pitchFamily="34" charset="0"/>
      <p:regular r:id="rId42"/>
      <p:bold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3512" autoAdjust="0"/>
  </p:normalViewPr>
  <p:slideViewPr>
    <p:cSldViewPr>
      <p:cViewPr varScale="1">
        <p:scale>
          <a:sx n="76" d="100"/>
          <a:sy n="76" d="100"/>
        </p:scale>
        <p:origin x="58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ool Alarmouti" userId="7167cb9c-3efb-457b-88d8-3fb7fa2d7091" providerId="ADAL" clId="{1A720679-DF41-42ED-8FD0-B28FC36362DC}"/>
    <pc:docChg chg="modSld">
      <pc:chgData name="Batool Alarmouti" userId="7167cb9c-3efb-457b-88d8-3fb7fa2d7091" providerId="ADAL" clId="{1A720679-DF41-42ED-8FD0-B28FC36362DC}" dt="2025-11-01T04:57:40.508" v="3" actId="1076"/>
      <pc:docMkLst>
        <pc:docMk/>
      </pc:docMkLst>
      <pc:sldChg chg="modSp mod">
        <pc:chgData name="Batool Alarmouti" userId="7167cb9c-3efb-457b-88d8-3fb7fa2d7091" providerId="ADAL" clId="{1A720679-DF41-42ED-8FD0-B28FC36362DC}" dt="2025-11-01T04:57:40.508" v="3" actId="1076"/>
        <pc:sldMkLst>
          <pc:docMk/>
          <pc:sldMk cId="0" sldId="263"/>
        </pc:sldMkLst>
        <pc:spChg chg="mod">
          <ac:chgData name="Batool Alarmouti" userId="7167cb9c-3efb-457b-88d8-3fb7fa2d7091" providerId="ADAL" clId="{1A720679-DF41-42ED-8FD0-B28FC36362DC}" dt="2025-11-01T04:57:40.508" v="3" actId="1076"/>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03CD-ACD4-654C-1147-3DF0523CA3B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0B8FC0-F313-9E42-C823-4DC2E1CF007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4AF81DC-5BC3-6F9C-1B1F-A7BAF170BDE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C629AA2-4596-6DF1-3B56-0CC94BABBE9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FDFDCA0-C44A-19CD-19E4-893B19845DB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Emerging technologies: patterns, behaviors, or preferences that are gaining popularity or influence in a specific industry, niche, or audience.</a:t>
            </a:r>
          </a:p>
        </p:txBody>
      </p:sp>
      <p:sp>
        <p:nvSpPr>
          <p:cNvPr id="6" name="Footer Placeholder 5">
            <a:extLst>
              <a:ext uri="{FF2B5EF4-FFF2-40B4-BE49-F238E27FC236}">
                <a16:creationId xmlns:a16="http://schemas.microsoft.com/office/drawing/2014/main" id="{B23CB373-B2CB-451C-647D-BCD7B77B88D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0DF0254-6DB8-B24B-B9EC-6581C3D47DA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3502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BEDB-C304-9658-42CC-3C05D8389BE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E33EBB-53F0-82B0-0FD3-2F76414F9D6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6D8A3CD-2C08-D027-F9CA-6A3CD16E8AE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F94A05-E8C7-C78E-D587-CFF695BACDF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30263AB-E64C-73DB-181B-586FEA0D171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C8D4C88-C5CE-6ED6-37FF-10B7743E5F1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8541BA6-A011-9FCC-7CAA-C92403293C5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99764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CD30-5C06-C829-274C-8227D1FF728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33A1C2-B99A-9C3A-4DBE-779042AE061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BE93AD6-EE51-5240-41BD-AE6209DEA91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6174836-B5C4-9715-158B-F6CBE3D39F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D0E9A6D-AA4D-2D23-6BC6-3C03696D6D1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200" b="1" i="0" kern="1200" dirty="0">
                <a:solidFill>
                  <a:schemeClr val="tx1"/>
                </a:solidFill>
                <a:effectLst/>
                <a:latin typeface="+mn-lt"/>
                <a:ea typeface="+mn-ea"/>
                <a:cs typeface="+mn-cs"/>
              </a:rPr>
              <a:t>Energy Efficiency:</a:t>
            </a:r>
            <a:r>
              <a:rPr lang="en-US" sz="1200" b="0" i="0" kern="1200" dirty="0">
                <a:solidFill>
                  <a:schemeClr val="tx1"/>
                </a:solidFill>
                <a:effectLst/>
                <a:latin typeface="+mn-lt"/>
                <a:ea typeface="+mn-ea"/>
                <a:cs typeface="+mn-cs"/>
              </a:rPr>
              <a:t> These chips only consume power when "firing" (processing), leading to far lower power consumption than traditional CPUs or GPUs.</a:t>
            </a:r>
          </a:p>
          <a:p>
            <a:r>
              <a:rPr lang="en-US" sz="1200" b="1" i="0" kern="1200" dirty="0">
                <a:solidFill>
                  <a:schemeClr val="tx1"/>
                </a:solidFill>
                <a:effectLst/>
                <a:latin typeface="+mn-lt"/>
                <a:ea typeface="+mn-ea"/>
                <a:cs typeface="+mn-cs"/>
              </a:rPr>
              <a:t>Memory and Computing:</a:t>
            </a:r>
            <a:r>
              <a:rPr lang="en-US" sz="1200" b="0" i="0" kern="1200" dirty="0">
                <a:solidFill>
                  <a:schemeClr val="tx1"/>
                </a:solidFill>
                <a:effectLst/>
                <a:latin typeface="+mn-lt"/>
                <a:ea typeface="+mn-ea"/>
                <a:cs typeface="+mn-cs"/>
              </a:rPr>
              <a:t> It often merges storage and processing (computing-in-memory) to overcome the traditional bottlenecks.</a:t>
            </a:r>
          </a:p>
          <a:p>
            <a:endParaRPr lang="en-US" dirty="0"/>
          </a:p>
        </p:txBody>
      </p:sp>
      <p:sp>
        <p:nvSpPr>
          <p:cNvPr id="6" name="Footer Placeholder 5">
            <a:extLst>
              <a:ext uri="{FF2B5EF4-FFF2-40B4-BE49-F238E27FC236}">
                <a16:creationId xmlns:a16="http://schemas.microsoft.com/office/drawing/2014/main" id="{87B3B535-C875-C6F3-9021-E527BC23C7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9D437EF-6BD3-E0EF-AE0A-3E4D11B9EC2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31106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0FC8-5162-30DD-66C4-672D2924A0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41AD5C-7A6F-EEE6-F675-2A2FC0C0913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B4D5634-383B-E93F-7B7B-A68DBF99BE1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A11DD66-8199-FFC3-E686-9D49662939E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BBB7104-A0CD-7928-96A2-B7B8F0BA926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723AC51-95BA-3959-ECC7-4BB0AC7BB3E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992E5DD-8009-99AE-9793-3773650910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99856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C3B89-C4A6-DA86-A9B8-2BCB4D9ACA1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D42092-7B64-E281-B45C-678831718F6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5C760A8-FC99-A9B2-55EF-119714CFA4C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73BAFD7-1751-D582-C669-356EE0DE2E8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3DDFCDF-5932-2A50-4C3B-9671D4C403F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92556568-79E9-930B-6765-64268D240E1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AA0B55C-5C3B-8581-D5A4-CAAD57F3561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36979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11079-9526-AA3C-AFA8-7C3CDC9A9E1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7C5718-67F9-F479-0F63-BA33AB7F60B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002B9E5-55EE-23E6-4724-903788CC81A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07E0003-5008-0BB5-8D20-3AEABCCE718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5543CDF-ECA9-52EE-E1E3-686E3F04BC2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DB51E42E-EDC3-608B-8F90-7B11F4083B2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A66F9CA-2D49-CAD1-89C0-72247E2777E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04062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7080-0A63-F61C-A717-1A8761EC7E9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9151BD-EBD6-6F48-8391-2CBD7E23CB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C8DA9A6-D193-5735-3E70-B8A6F4E8679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7A40612-5FAC-90A3-2771-F09D844A88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E1FA5B5-860B-33CE-5F1C-0EDBE4A889E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Smarter warehousing: arrange parts used together near each other for easier access.</a:t>
            </a:r>
          </a:p>
        </p:txBody>
      </p:sp>
      <p:sp>
        <p:nvSpPr>
          <p:cNvPr id="6" name="Footer Placeholder 5">
            <a:extLst>
              <a:ext uri="{FF2B5EF4-FFF2-40B4-BE49-F238E27FC236}">
                <a16:creationId xmlns:a16="http://schemas.microsoft.com/office/drawing/2014/main" id="{FC1D8644-2546-9C09-4AE9-4AE3FB479CF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D466182-F406-DF71-2EC7-8C3E1D447C4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98529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9FA8-A56F-AAE8-65D9-9EC4D1576EB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2DF3A2-9BE6-F4E3-3265-F2FD17CCFC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FE2C697-87FD-9904-3ED2-06305D6855B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925AF76-DE4A-B552-0BAB-645439A1F33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338B26E-974C-15E3-E710-D00BDF3316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59F8E4C-3BF6-28BB-03BA-A3F315622CA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05AD61D-ECDA-BEE8-F762-5335F000488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17763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0E1C4-40B3-E3E2-7299-02F489DA182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AE165-B541-4A56-23B6-1B655C51B92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86F9293-3E72-D54E-6462-02727AED436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A8B6A5C-23C1-799C-168C-7760DA2A559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B62A513-1065-AA0C-0CD9-1753939E71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F9B199E5-30A6-678E-D265-77629A39D9B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400419C-9E24-7894-7295-454EEEAE060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40242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6E7D2-44BE-AA0B-1975-560DE1F5E01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5660EC-0A11-6EE3-BE3F-7DD6DD33CD4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60BBA84-FA4C-8376-A133-7141FF7E5F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9D309B1-1A76-1A00-4025-409F9ABFAE8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C2C2FBD-FC58-B685-3EBA-F2118949E70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B1EB4855-7874-AADA-87A3-7B7DB9DB13E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8F294F-1F83-9BB7-788F-2A32FF66E90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47707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F4DC8-2CD5-DC85-A96B-C7D90087688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E4BC62-5C05-8323-E71C-50C04AB0521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8F75631-3ED6-F181-EC18-5D9E9372F99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0C93420-3D9E-C48C-C2E3-53D1AB8DDDE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8B0B479-C39D-0D61-8CD5-543135876E0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rtl="0"/>
            <a:r>
              <a:rPr lang="en-US" sz="1200" b="0" i="0" kern="1200" dirty="0">
                <a:solidFill>
                  <a:schemeClr val="tx1"/>
                </a:solidFill>
                <a:effectLst/>
                <a:latin typeface="+mn-lt"/>
                <a:ea typeface="+mn-ea"/>
                <a:cs typeface="+mn-cs"/>
              </a:rPr>
              <a:t>Digital loneliness is  </a:t>
            </a:r>
            <a:r>
              <a:rPr lang="en-US" dirty="0"/>
              <a:t>the feeling of isolation, disconnection, or emotional emptiness that persists despite being highly active with systems</a:t>
            </a:r>
          </a:p>
        </p:txBody>
      </p:sp>
      <p:sp>
        <p:nvSpPr>
          <p:cNvPr id="6" name="Footer Placeholder 5">
            <a:extLst>
              <a:ext uri="{FF2B5EF4-FFF2-40B4-BE49-F238E27FC236}">
                <a16:creationId xmlns:a16="http://schemas.microsoft.com/office/drawing/2014/main" id="{925B42B8-7E33-14DB-E290-EEFFB7B46B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E7550C-FE6E-248F-4A32-BA94513140E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37436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778F-056F-A24B-F25E-18794B9650C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184D03-B523-FFF6-B432-649D5602BB8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065CD89-C36E-1DF0-CF76-3CB9A2FCB2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91CE3C4-80F1-F6A7-36D0-3C9F5DFFC08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A8F8FC9-2F8D-7522-045B-E8B1791445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rtl="0"/>
            <a:endParaRPr lang="en-US" dirty="0"/>
          </a:p>
        </p:txBody>
      </p:sp>
      <p:sp>
        <p:nvSpPr>
          <p:cNvPr id="6" name="Footer Placeholder 5">
            <a:extLst>
              <a:ext uri="{FF2B5EF4-FFF2-40B4-BE49-F238E27FC236}">
                <a16:creationId xmlns:a16="http://schemas.microsoft.com/office/drawing/2014/main" id="{38C24F19-0C25-BB44-E4E9-CC838A0DC83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1679CCF-83E2-11A4-6888-C8E7FD9CCD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5871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B8110-A621-5101-8188-02AB62C55FF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8FC46B-4C3E-22FB-74BF-6F27F23501F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0754280-2ABC-3051-4C85-5F4B748948F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E36921A-59A3-66D3-C736-D1F6C72F63D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FB75EA3-0AD0-033A-0FEB-0941126403F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rtl="0"/>
            <a:endParaRPr lang="en-US" dirty="0"/>
          </a:p>
        </p:txBody>
      </p:sp>
      <p:sp>
        <p:nvSpPr>
          <p:cNvPr id="6" name="Footer Placeholder 5">
            <a:extLst>
              <a:ext uri="{FF2B5EF4-FFF2-40B4-BE49-F238E27FC236}">
                <a16:creationId xmlns:a16="http://schemas.microsoft.com/office/drawing/2014/main" id="{F169B269-2FBC-3B78-6372-AFCF7F70653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EA05AE9-CBA6-1A0C-DD8C-7EA10053767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82851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intergovernmental entities: UNESCO</a:t>
            </a:r>
          </a:p>
          <a:p>
            <a:r>
              <a:rPr lang="en-US"/>
              <a:t>Non-profit organizations: Black in 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20A04-3DA7-9242-4BB9-D02976F676C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972C24-494E-D9BC-FB84-FF2D90544CB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66E391-452D-8223-1461-29CA40D983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5ED6CEB-A3CE-AA38-880F-047DF06A61D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410A78E-8273-DB89-D8DC-4B41B9D08DC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698595D-6B48-5DCA-76CD-2BE52218C2E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8E428B-F940-61F4-3ADB-8E057870274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2234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D6B4-2F8C-CE9A-D863-11905B88609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C9F700-1331-1E17-9BC2-6042574B157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1268127-6149-9CF2-71B3-B72AFE38DE5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C7B758D-D9C0-52EA-508B-0BDD533E37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A4231A-7D85-BD6A-10B3-F670C5394D5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C9296F03-2A49-A7B0-F8A2-D680874A6B2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A07E15D-1DF4-2D26-C3BA-6E0E2295ADD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97804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17AC-4B96-1CAE-EE92-D1AF826172B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180DEC0-F9F8-4E39-F6D8-8500D77A57E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38BBC78-AA3F-F0D2-57DB-BC8D36F03CB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2CDCF89-69B0-3F26-E7E1-BEC87C87EC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6943B95-4874-E91B-5745-1464488DDD8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BBE3528-9A72-9A1B-36A9-E966EA477D1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1869C9B-0154-3E80-48BB-F3E3FD51F89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98233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E88B5-EEA6-DF6F-1DA7-5E56C262564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41396E-434A-CC0B-744F-56520385E95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06D63FB-7024-2C7D-3BC3-356A93821A4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69155D6-A21E-5EB5-F918-F82E594533C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C7CB2A3-4000-2788-9B8A-A6311121AB1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3E4394D-4DF2-37F8-3448-EF52926B0B5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F29E2F6-8DF6-70A4-C755-5366910137B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67938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175A-DD86-1D44-A19C-0E91B27CE94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C89148-DCA2-A32B-2632-1EBA0319E1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63D85A0-CFE7-C55D-42CF-408476778EE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DFF4D7-5958-0619-A156-EBE32090758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B7C23F3-1DFD-9945-A263-B7283E502DD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1276685-F343-D64D-4AB7-8B5C72069C8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ED3F6DA-A7EF-4E92-EBA7-D4B27660C0F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50599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G7: The Group of Seven (G7) is an informal grouping of seven of the world's advanced economies, including Canada, France, Germany, Italy, Japan, the United Kingdom, and the United States, as well as the European Union.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carbon footprint reasons:</a:t>
            </a:r>
          </a:p>
          <a:p>
            <a:r>
              <a:rPr lang="en-US" dirty="0"/>
              <a:t>1-energy consumption</a:t>
            </a:r>
          </a:p>
          <a:p>
            <a:r>
              <a:rPr lang="en-US" dirty="0"/>
              <a:t>2-resource extraction for manufacturing hardware</a:t>
            </a:r>
          </a:p>
          <a:p>
            <a:endParaRPr lang="en-US" dirty="0"/>
          </a:p>
          <a:p>
            <a:r>
              <a:rPr lang="en-US" dirty="0"/>
              <a:t>data wall: a point when all the public data has been used, or locked up in licensing deals or behind paywalls.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3.sv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13.sv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13.sv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13.svg"/></Relationships>
</file>

<file path=ppt/slides/_rels/slide31.xml.rels><?xml version="1.0" encoding="UTF-8" standalone="yes"?>
<Relationships xmlns="http://schemas.openxmlformats.org/package/2006/relationships"><Relationship Id="rId8" Type="http://schemas.openxmlformats.org/officeDocument/2006/relationships/hyperlink" Target="https://www.mckinsey.com/industries/industrials/our-insights/will-embodied-ai-create-robotic-coworkers" TargetMode="External"/><Relationship Id="rId3" Type="http://schemas.openxmlformats.org/officeDocument/2006/relationships/image" Target="../media/image2.png"/><Relationship Id="rId7" Type="http://schemas.openxmlformats.org/officeDocument/2006/relationships/hyperlink" Target="https://global.chinadaily.com.cn/a/202603/21/WS69bdd906a310d6866eb3f06d.html"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artificialintelligenceact.eu/" TargetMode="Externa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txBody>
          <a:bodyPr/>
          <a:lstStyle/>
          <a:p>
            <a:endParaRPr lang="en-US"/>
          </a:p>
        </p:txBody>
      </p:sp>
      <p:sp>
        <p:nvSpPr>
          <p:cNvPr id="3" name="Freeform 3"/>
          <p:cNvSpPr/>
          <p:nvPr/>
        </p:nvSpPr>
        <p:spPr>
          <a:xfrm>
            <a:off x="15001619" y="6685712"/>
            <a:ext cx="3286381" cy="3866910"/>
          </a:xfrm>
          <a:custGeom>
            <a:avLst/>
            <a:gdLst/>
            <a:ahLst/>
            <a:cxnLst/>
            <a:rect l="l" t="t" r="r" b="b"/>
            <a:pathLst>
              <a:path w="3286381" h="3866910">
                <a:moveTo>
                  <a:pt x="0" y="0"/>
                </a:moveTo>
                <a:lnTo>
                  <a:pt x="3286381" y="0"/>
                </a:lnTo>
                <a:lnTo>
                  <a:pt x="3286381" y="3866910"/>
                </a:lnTo>
                <a:lnTo>
                  <a:pt x="0" y="3866910"/>
                </a:lnTo>
                <a:lnTo>
                  <a:pt x="0" y="0"/>
                </a:lnTo>
                <a:close/>
              </a:path>
            </a:pathLst>
          </a:custGeom>
          <a:blipFill>
            <a:blip r:embed="rId3"/>
            <a:stretch>
              <a:fillRect/>
            </a:stretch>
          </a:blipFill>
        </p:spPr>
        <p:txBody>
          <a:bodyPr/>
          <a:lstStyle/>
          <a:p>
            <a:endParaRPr lang="en-US"/>
          </a:p>
        </p:txBody>
      </p:sp>
      <p:sp>
        <p:nvSpPr>
          <p:cNvPr id="4" name="Freeform 4"/>
          <p:cNvSpPr/>
          <p:nvPr/>
        </p:nvSpPr>
        <p:spPr>
          <a:xfrm>
            <a:off x="3011463" y="4079421"/>
            <a:ext cx="3353562" cy="4114800"/>
          </a:xfrm>
          <a:custGeom>
            <a:avLst/>
            <a:gdLst/>
            <a:ahLst/>
            <a:cxnLst/>
            <a:rect l="l" t="t" r="r" b="b"/>
            <a:pathLst>
              <a:path w="3353562" h="4114800">
                <a:moveTo>
                  <a:pt x="0" y="0"/>
                </a:moveTo>
                <a:lnTo>
                  <a:pt x="3353562" y="0"/>
                </a:lnTo>
                <a:lnTo>
                  <a:pt x="335356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2915778" y="1734574"/>
            <a:ext cx="3449246" cy="4807312"/>
          </a:xfrm>
          <a:custGeom>
            <a:avLst/>
            <a:gdLst/>
            <a:ahLst/>
            <a:cxnLst/>
            <a:rect l="l" t="t" r="r" b="b"/>
            <a:pathLst>
              <a:path w="3449246" h="4807312">
                <a:moveTo>
                  <a:pt x="0" y="0"/>
                </a:moveTo>
                <a:lnTo>
                  <a:pt x="3449247" y="0"/>
                </a:lnTo>
                <a:lnTo>
                  <a:pt x="3449247" y="4807312"/>
                </a:lnTo>
                <a:lnTo>
                  <a:pt x="0" y="48073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2091385" y="3046697"/>
            <a:ext cx="4182770" cy="41148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TextBox 9"/>
          <p:cNvSpPr txBox="1"/>
          <p:nvPr/>
        </p:nvSpPr>
        <p:spPr>
          <a:xfrm>
            <a:off x="7422056" y="4557083"/>
            <a:ext cx="10383921" cy="2024147"/>
          </a:xfrm>
          <a:prstGeom prst="rect">
            <a:avLst/>
          </a:prstGeom>
        </p:spPr>
        <p:txBody>
          <a:bodyPr lIns="0" tIns="0" rIns="0" bIns="0" rtlCol="0" anchor="t">
            <a:spAutoFit/>
          </a:bodyPr>
          <a:lstStyle/>
          <a:p>
            <a:pPr algn="l">
              <a:lnSpc>
                <a:spcPts val="8120"/>
              </a:lnSpc>
            </a:pPr>
            <a:r>
              <a:rPr lang="en-US" sz="5800" dirty="0">
                <a:solidFill>
                  <a:srgbClr val="92DCEF"/>
                </a:solidFill>
                <a:latin typeface="Mokoto"/>
                <a:ea typeface="Mokoto"/>
                <a:cs typeface="Mokoto"/>
                <a:sym typeface="Mokoto"/>
              </a:rPr>
              <a:t>CHALLENGES AND OPPORTUNITES</a:t>
            </a:r>
          </a:p>
        </p:txBody>
      </p:sp>
      <p:sp>
        <p:nvSpPr>
          <p:cNvPr id="10" name="Freeform 10"/>
          <p:cNvSpPr/>
          <p:nvPr/>
        </p:nvSpPr>
        <p:spPr>
          <a:xfrm>
            <a:off x="15001619" y="-711833"/>
            <a:ext cx="3286381" cy="3866910"/>
          </a:xfrm>
          <a:custGeom>
            <a:avLst/>
            <a:gdLst/>
            <a:ahLst/>
            <a:cxnLst/>
            <a:rect l="l" t="t" r="r" b="b"/>
            <a:pathLst>
              <a:path w="3286381" h="3866910">
                <a:moveTo>
                  <a:pt x="0" y="0"/>
                </a:moveTo>
                <a:lnTo>
                  <a:pt x="3286381" y="0"/>
                </a:lnTo>
                <a:lnTo>
                  <a:pt x="3286381" y="3866909"/>
                </a:lnTo>
                <a:lnTo>
                  <a:pt x="0" y="3866909"/>
                </a:lnTo>
                <a:lnTo>
                  <a:pt x="0" y="0"/>
                </a:lnTo>
                <a:close/>
              </a:path>
            </a:pathLst>
          </a:custGeom>
          <a:blipFill>
            <a:blip r:embed="rId3"/>
            <a:stretch>
              <a:fillRect/>
            </a:stretch>
          </a:blipFill>
        </p:spPr>
        <p:txBody>
          <a:bodyPr/>
          <a:lstStyle/>
          <a:p>
            <a:endParaRPr lang="en-US"/>
          </a:p>
        </p:txBody>
      </p:sp>
      <p:sp>
        <p:nvSpPr>
          <p:cNvPr id="11" name="Freeform 11"/>
          <p:cNvSpPr/>
          <p:nvPr/>
        </p:nvSpPr>
        <p:spPr>
          <a:xfrm>
            <a:off x="0" y="0"/>
            <a:ext cx="3104166" cy="1772700"/>
          </a:xfrm>
          <a:custGeom>
            <a:avLst/>
            <a:gdLst/>
            <a:ahLst/>
            <a:cxnLst/>
            <a:rect l="l" t="t" r="r" b="b"/>
            <a:pathLst>
              <a:path w="3104166" h="1772700">
                <a:moveTo>
                  <a:pt x="0" y="0"/>
                </a:moveTo>
                <a:lnTo>
                  <a:pt x="3104166" y="0"/>
                </a:lnTo>
                <a:lnTo>
                  <a:pt x="3104166" y="1772700"/>
                </a:lnTo>
                <a:lnTo>
                  <a:pt x="0" y="1772700"/>
                </a:lnTo>
                <a:lnTo>
                  <a:pt x="0" y="0"/>
                </a:lnTo>
                <a:close/>
              </a:path>
            </a:pathLst>
          </a:custGeom>
          <a:blipFill>
            <a:blip r:embed="rId10"/>
            <a:stretch>
              <a:fillRect t="-42919" b="-32189"/>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txBody>
          <a:bodyPr/>
          <a:lstStyle/>
          <a:p>
            <a:endParaRPr lang="en-US"/>
          </a:p>
        </p:txBody>
      </p:sp>
      <p:sp>
        <p:nvSpPr>
          <p:cNvPr id="3" name="Freeform 3"/>
          <p:cNvSpPr/>
          <p:nvPr/>
        </p:nvSpPr>
        <p:spPr>
          <a:xfrm>
            <a:off x="-247265" y="2166071"/>
            <a:ext cx="7315200" cy="1316736"/>
          </a:xfrm>
          <a:custGeom>
            <a:avLst/>
            <a:gdLst/>
            <a:ahLst/>
            <a:cxnLst/>
            <a:rect l="l" t="t" r="r" b="b"/>
            <a:pathLst>
              <a:path w="7315200" h="1316736">
                <a:moveTo>
                  <a:pt x="0" y="0"/>
                </a:moveTo>
                <a:lnTo>
                  <a:pt x="7315200" y="0"/>
                </a:lnTo>
                <a:lnTo>
                  <a:pt x="7315200" y="1316736"/>
                </a:lnTo>
                <a:lnTo>
                  <a:pt x="0" y="13167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flipV="1">
            <a:off x="10987286" y="8800788"/>
            <a:ext cx="7315200" cy="1316736"/>
          </a:xfrm>
          <a:custGeom>
            <a:avLst/>
            <a:gdLst/>
            <a:ahLst/>
            <a:cxnLst/>
            <a:rect l="l" t="t" r="r" b="b"/>
            <a:pathLst>
              <a:path w="7315200" h="1316736">
                <a:moveTo>
                  <a:pt x="0" y="1316736"/>
                </a:moveTo>
                <a:lnTo>
                  <a:pt x="7315200" y="1316736"/>
                </a:lnTo>
                <a:lnTo>
                  <a:pt x="7315200" y="0"/>
                </a:lnTo>
                <a:lnTo>
                  <a:pt x="0" y="0"/>
                </a:lnTo>
                <a:lnTo>
                  <a:pt x="0" y="1316736"/>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3648188" y="895350"/>
            <a:ext cx="10991624" cy="1030325"/>
          </a:xfrm>
          <a:prstGeom prst="rect">
            <a:avLst/>
          </a:prstGeom>
        </p:spPr>
        <p:txBody>
          <a:bodyPr lIns="0" tIns="0" rIns="0" bIns="0" rtlCol="0" anchor="t">
            <a:spAutoFit/>
          </a:bodyPr>
          <a:lstStyle/>
          <a:p>
            <a:pPr algn="ctr">
              <a:lnSpc>
                <a:spcPts val="8310"/>
              </a:lnSpc>
            </a:pPr>
            <a:r>
              <a:rPr lang="en-US" sz="5936">
                <a:solidFill>
                  <a:srgbClr val="92DCEF"/>
                </a:solidFill>
                <a:latin typeface="Mokoto"/>
                <a:ea typeface="Mokoto"/>
                <a:cs typeface="Mokoto"/>
                <a:sym typeface="Mokoto"/>
              </a:rPr>
              <a:t>TABLE OF CONTENT</a:t>
            </a:r>
          </a:p>
        </p:txBody>
      </p:sp>
      <p:grpSp>
        <p:nvGrpSpPr>
          <p:cNvPr id="6" name="Group 6"/>
          <p:cNvGrpSpPr/>
          <p:nvPr/>
        </p:nvGrpSpPr>
        <p:grpSpPr>
          <a:xfrm>
            <a:off x="9518799" y="3350266"/>
            <a:ext cx="5553819" cy="2339154"/>
            <a:chOff x="0" y="0"/>
            <a:chExt cx="1462734" cy="616073"/>
          </a:xfrm>
        </p:grpSpPr>
        <p:sp>
          <p:nvSpPr>
            <p:cNvPr id="7" name="Freeform 7"/>
            <p:cNvSpPr/>
            <p:nvPr/>
          </p:nvSpPr>
          <p:spPr>
            <a:xfrm>
              <a:off x="0" y="0"/>
              <a:ext cx="1462734" cy="616073"/>
            </a:xfrm>
            <a:custGeom>
              <a:avLst/>
              <a:gdLst/>
              <a:ahLst/>
              <a:cxnLst/>
              <a:rect l="l" t="t" r="r" b="b"/>
              <a:pathLst>
                <a:path w="1462734" h="616073">
                  <a:moveTo>
                    <a:pt x="27880" y="0"/>
                  </a:moveTo>
                  <a:lnTo>
                    <a:pt x="1434854" y="0"/>
                  </a:lnTo>
                  <a:cubicBezTo>
                    <a:pt x="1450252" y="0"/>
                    <a:pt x="1462734" y="12482"/>
                    <a:pt x="1462734" y="27880"/>
                  </a:cubicBezTo>
                  <a:lnTo>
                    <a:pt x="1462734" y="588194"/>
                  </a:lnTo>
                  <a:cubicBezTo>
                    <a:pt x="1462734" y="603591"/>
                    <a:pt x="1450252" y="616073"/>
                    <a:pt x="1434854" y="616073"/>
                  </a:cubicBezTo>
                  <a:lnTo>
                    <a:pt x="27880" y="616073"/>
                  </a:lnTo>
                  <a:cubicBezTo>
                    <a:pt x="12482" y="616073"/>
                    <a:pt x="0" y="603591"/>
                    <a:pt x="0" y="588194"/>
                  </a:cubicBezTo>
                  <a:lnTo>
                    <a:pt x="0" y="27880"/>
                  </a:lnTo>
                  <a:cubicBezTo>
                    <a:pt x="0" y="12482"/>
                    <a:pt x="12482" y="0"/>
                    <a:pt x="27880" y="0"/>
                  </a:cubicBezTo>
                  <a:close/>
                </a:path>
              </a:pathLst>
            </a:custGeom>
            <a:solidFill>
              <a:srgbClr val="00D0FF"/>
            </a:solidFill>
          </p:spPr>
          <p:txBody>
            <a:bodyPr/>
            <a:lstStyle/>
            <a:p>
              <a:endParaRPr lang="en-US"/>
            </a:p>
          </p:txBody>
        </p:sp>
        <p:sp>
          <p:nvSpPr>
            <p:cNvPr id="8" name="TextBox 8"/>
            <p:cNvSpPr txBox="1"/>
            <p:nvPr/>
          </p:nvSpPr>
          <p:spPr>
            <a:xfrm>
              <a:off x="0" y="-38100"/>
              <a:ext cx="1462734" cy="654173"/>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9844845" y="4046412"/>
            <a:ext cx="1626187" cy="1030325"/>
          </a:xfrm>
          <a:prstGeom prst="rect">
            <a:avLst/>
          </a:prstGeom>
        </p:spPr>
        <p:txBody>
          <a:bodyPr lIns="0" tIns="0" rIns="0" bIns="0" rtlCol="0" anchor="t">
            <a:spAutoFit/>
          </a:bodyPr>
          <a:lstStyle/>
          <a:p>
            <a:pPr algn="l">
              <a:lnSpc>
                <a:spcPts val="8310"/>
              </a:lnSpc>
            </a:pPr>
            <a:r>
              <a:rPr lang="en-US" sz="5936">
                <a:solidFill>
                  <a:srgbClr val="003845"/>
                </a:solidFill>
                <a:latin typeface="Mokoto"/>
                <a:ea typeface="Mokoto"/>
                <a:cs typeface="Mokoto"/>
                <a:sym typeface="Mokoto"/>
              </a:rPr>
              <a:t>02</a:t>
            </a:r>
          </a:p>
        </p:txBody>
      </p:sp>
      <p:grpSp>
        <p:nvGrpSpPr>
          <p:cNvPr id="10" name="Group 10"/>
          <p:cNvGrpSpPr/>
          <p:nvPr/>
        </p:nvGrpSpPr>
        <p:grpSpPr>
          <a:xfrm>
            <a:off x="2624430" y="3264216"/>
            <a:ext cx="5553819" cy="2425203"/>
            <a:chOff x="0" y="0"/>
            <a:chExt cx="1462734" cy="638737"/>
          </a:xfrm>
        </p:grpSpPr>
        <p:sp>
          <p:nvSpPr>
            <p:cNvPr id="11" name="Freeform 11"/>
            <p:cNvSpPr/>
            <p:nvPr/>
          </p:nvSpPr>
          <p:spPr>
            <a:xfrm>
              <a:off x="0" y="0"/>
              <a:ext cx="1462734" cy="638737"/>
            </a:xfrm>
            <a:custGeom>
              <a:avLst/>
              <a:gdLst/>
              <a:ahLst/>
              <a:cxnLst/>
              <a:rect l="l" t="t" r="r" b="b"/>
              <a:pathLst>
                <a:path w="1462734" h="638737">
                  <a:moveTo>
                    <a:pt x="27880" y="0"/>
                  </a:moveTo>
                  <a:lnTo>
                    <a:pt x="1434854" y="0"/>
                  </a:lnTo>
                  <a:cubicBezTo>
                    <a:pt x="1450252" y="0"/>
                    <a:pt x="1462734" y="12482"/>
                    <a:pt x="1462734" y="27880"/>
                  </a:cubicBezTo>
                  <a:lnTo>
                    <a:pt x="1462734" y="610857"/>
                  </a:lnTo>
                  <a:cubicBezTo>
                    <a:pt x="1462734" y="626255"/>
                    <a:pt x="1450252" y="638737"/>
                    <a:pt x="1434854" y="638737"/>
                  </a:cubicBezTo>
                  <a:lnTo>
                    <a:pt x="27880" y="638737"/>
                  </a:lnTo>
                  <a:cubicBezTo>
                    <a:pt x="12482" y="638737"/>
                    <a:pt x="0" y="626255"/>
                    <a:pt x="0" y="610857"/>
                  </a:cubicBezTo>
                  <a:lnTo>
                    <a:pt x="0" y="27880"/>
                  </a:lnTo>
                  <a:cubicBezTo>
                    <a:pt x="0" y="12482"/>
                    <a:pt x="12482" y="0"/>
                    <a:pt x="27880" y="0"/>
                  </a:cubicBezTo>
                  <a:close/>
                </a:path>
              </a:pathLst>
            </a:custGeom>
            <a:solidFill>
              <a:srgbClr val="00D0FF"/>
            </a:solidFill>
          </p:spPr>
          <p:txBody>
            <a:bodyPr/>
            <a:lstStyle/>
            <a:p>
              <a:endParaRPr lang="en-US"/>
            </a:p>
          </p:txBody>
        </p:sp>
        <p:sp>
          <p:nvSpPr>
            <p:cNvPr id="12" name="TextBox 12"/>
            <p:cNvSpPr txBox="1"/>
            <p:nvPr/>
          </p:nvSpPr>
          <p:spPr>
            <a:xfrm>
              <a:off x="0" y="-38100"/>
              <a:ext cx="1462734" cy="676837"/>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997492" y="4113175"/>
            <a:ext cx="1120750" cy="1030325"/>
          </a:xfrm>
          <a:prstGeom prst="rect">
            <a:avLst/>
          </a:prstGeom>
        </p:spPr>
        <p:txBody>
          <a:bodyPr lIns="0" tIns="0" rIns="0" bIns="0" rtlCol="0" anchor="t">
            <a:spAutoFit/>
          </a:bodyPr>
          <a:lstStyle/>
          <a:p>
            <a:pPr algn="l">
              <a:lnSpc>
                <a:spcPts val="8310"/>
              </a:lnSpc>
            </a:pPr>
            <a:r>
              <a:rPr lang="en-US" sz="5936">
                <a:solidFill>
                  <a:srgbClr val="003845"/>
                </a:solidFill>
                <a:latin typeface="Mokoto"/>
                <a:ea typeface="Mokoto"/>
                <a:cs typeface="Mokoto"/>
                <a:sym typeface="Mokoto"/>
              </a:rPr>
              <a:t>01</a:t>
            </a:r>
          </a:p>
        </p:txBody>
      </p:sp>
      <p:sp>
        <p:nvSpPr>
          <p:cNvPr id="14" name="TextBox 14"/>
          <p:cNvSpPr txBox="1"/>
          <p:nvPr/>
        </p:nvSpPr>
        <p:spPr>
          <a:xfrm>
            <a:off x="4282307" y="4260128"/>
            <a:ext cx="3895942" cy="471805"/>
          </a:xfrm>
          <a:prstGeom prst="rect">
            <a:avLst/>
          </a:prstGeom>
        </p:spPr>
        <p:txBody>
          <a:bodyPr lIns="0" tIns="0" rIns="0" bIns="0" rtlCol="0" anchor="t">
            <a:spAutoFit/>
          </a:bodyPr>
          <a:lstStyle/>
          <a:p>
            <a:pPr algn="l">
              <a:lnSpc>
                <a:spcPts val="3919"/>
              </a:lnSpc>
            </a:pPr>
            <a:r>
              <a:rPr lang="en-US" sz="2799" b="1">
                <a:solidFill>
                  <a:srgbClr val="003845"/>
                </a:solidFill>
                <a:latin typeface="Montserrat Bold"/>
                <a:ea typeface="Montserrat Bold"/>
                <a:cs typeface="Montserrat Bold"/>
                <a:sym typeface="Montserrat Bold"/>
              </a:rPr>
              <a:t>Emerging Trends</a:t>
            </a:r>
          </a:p>
        </p:txBody>
      </p:sp>
      <p:grpSp>
        <p:nvGrpSpPr>
          <p:cNvPr id="15" name="Group 15"/>
          <p:cNvGrpSpPr/>
          <p:nvPr/>
        </p:nvGrpSpPr>
        <p:grpSpPr>
          <a:xfrm>
            <a:off x="9518799" y="6179599"/>
            <a:ext cx="5553819" cy="2425203"/>
            <a:chOff x="0" y="0"/>
            <a:chExt cx="1462734" cy="638737"/>
          </a:xfrm>
        </p:grpSpPr>
        <p:sp>
          <p:nvSpPr>
            <p:cNvPr id="16" name="Freeform 16"/>
            <p:cNvSpPr/>
            <p:nvPr/>
          </p:nvSpPr>
          <p:spPr>
            <a:xfrm>
              <a:off x="0" y="0"/>
              <a:ext cx="1462734" cy="638737"/>
            </a:xfrm>
            <a:custGeom>
              <a:avLst/>
              <a:gdLst/>
              <a:ahLst/>
              <a:cxnLst/>
              <a:rect l="l" t="t" r="r" b="b"/>
              <a:pathLst>
                <a:path w="1462734" h="638737">
                  <a:moveTo>
                    <a:pt x="27880" y="0"/>
                  </a:moveTo>
                  <a:lnTo>
                    <a:pt x="1434854" y="0"/>
                  </a:lnTo>
                  <a:cubicBezTo>
                    <a:pt x="1450252" y="0"/>
                    <a:pt x="1462734" y="12482"/>
                    <a:pt x="1462734" y="27880"/>
                  </a:cubicBezTo>
                  <a:lnTo>
                    <a:pt x="1462734" y="610857"/>
                  </a:lnTo>
                  <a:cubicBezTo>
                    <a:pt x="1462734" y="626255"/>
                    <a:pt x="1450252" y="638737"/>
                    <a:pt x="1434854" y="638737"/>
                  </a:cubicBezTo>
                  <a:lnTo>
                    <a:pt x="27880" y="638737"/>
                  </a:lnTo>
                  <a:cubicBezTo>
                    <a:pt x="12482" y="638737"/>
                    <a:pt x="0" y="626255"/>
                    <a:pt x="0" y="610857"/>
                  </a:cubicBezTo>
                  <a:lnTo>
                    <a:pt x="0" y="27880"/>
                  </a:lnTo>
                  <a:cubicBezTo>
                    <a:pt x="0" y="12482"/>
                    <a:pt x="12482" y="0"/>
                    <a:pt x="27880" y="0"/>
                  </a:cubicBezTo>
                  <a:close/>
                </a:path>
              </a:pathLst>
            </a:custGeom>
            <a:solidFill>
              <a:srgbClr val="00D0FF"/>
            </a:solidFill>
          </p:spPr>
          <p:txBody>
            <a:bodyPr/>
            <a:lstStyle/>
            <a:p>
              <a:endParaRPr lang="en-US"/>
            </a:p>
          </p:txBody>
        </p:sp>
        <p:sp>
          <p:nvSpPr>
            <p:cNvPr id="17" name="TextBox 17"/>
            <p:cNvSpPr txBox="1"/>
            <p:nvPr/>
          </p:nvSpPr>
          <p:spPr>
            <a:xfrm>
              <a:off x="0" y="-38100"/>
              <a:ext cx="1462734" cy="676837"/>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9739885" y="6947486"/>
            <a:ext cx="1566723" cy="1030325"/>
          </a:xfrm>
          <a:prstGeom prst="rect">
            <a:avLst/>
          </a:prstGeom>
        </p:spPr>
        <p:txBody>
          <a:bodyPr lIns="0" tIns="0" rIns="0" bIns="0" rtlCol="0" anchor="t">
            <a:spAutoFit/>
          </a:bodyPr>
          <a:lstStyle/>
          <a:p>
            <a:pPr algn="l">
              <a:lnSpc>
                <a:spcPts val="8310"/>
              </a:lnSpc>
            </a:pPr>
            <a:r>
              <a:rPr lang="en-US" sz="5936">
                <a:solidFill>
                  <a:srgbClr val="003845"/>
                </a:solidFill>
                <a:latin typeface="Mokoto"/>
                <a:ea typeface="Mokoto"/>
                <a:cs typeface="Mokoto"/>
                <a:sym typeface="Mokoto"/>
              </a:rPr>
              <a:t>04</a:t>
            </a:r>
          </a:p>
        </p:txBody>
      </p:sp>
      <p:sp>
        <p:nvSpPr>
          <p:cNvPr id="19" name="TextBox 19"/>
          <p:cNvSpPr txBox="1"/>
          <p:nvPr/>
        </p:nvSpPr>
        <p:spPr>
          <a:xfrm>
            <a:off x="11471031" y="7132486"/>
            <a:ext cx="3895942" cy="471805"/>
          </a:xfrm>
          <a:prstGeom prst="rect">
            <a:avLst/>
          </a:prstGeom>
        </p:spPr>
        <p:txBody>
          <a:bodyPr lIns="0" tIns="0" rIns="0" bIns="0" rtlCol="0" anchor="t">
            <a:spAutoFit/>
          </a:bodyPr>
          <a:lstStyle/>
          <a:p>
            <a:pPr algn="l">
              <a:lnSpc>
                <a:spcPts val="3919"/>
              </a:lnSpc>
            </a:pPr>
            <a:r>
              <a:rPr lang="en-US" sz="2799" b="1">
                <a:solidFill>
                  <a:srgbClr val="003845"/>
                </a:solidFill>
                <a:latin typeface="Montserrat Bold"/>
                <a:ea typeface="Montserrat Bold"/>
                <a:cs typeface="Montserrat Bold"/>
                <a:sym typeface="Montserrat Bold"/>
              </a:rPr>
              <a:t>Opportunities</a:t>
            </a:r>
          </a:p>
        </p:txBody>
      </p:sp>
      <p:grpSp>
        <p:nvGrpSpPr>
          <p:cNvPr id="20" name="Group 20"/>
          <p:cNvGrpSpPr/>
          <p:nvPr/>
        </p:nvGrpSpPr>
        <p:grpSpPr>
          <a:xfrm>
            <a:off x="2624430" y="6179599"/>
            <a:ext cx="5553819" cy="2425203"/>
            <a:chOff x="0" y="0"/>
            <a:chExt cx="1462734" cy="638737"/>
          </a:xfrm>
        </p:grpSpPr>
        <p:sp>
          <p:nvSpPr>
            <p:cNvPr id="21" name="Freeform 21"/>
            <p:cNvSpPr/>
            <p:nvPr/>
          </p:nvSpPr>
          <p:spPr>
            <a:xfrm>
              <a:off x="0" y="0"/>
              <a:ext cx="1462734" cy="638737"/>
            </a:xfrm>
            <a:custGeom>
              <a:avLst/>
              <a:gdLst/>
              <a:ahLst/>
              <a:cxnLst/>
              <a:rect l="l" t="t" r="r" b="b"/>
              <a:pathLst>
                <a:path w="1462734" h="638737">
                  <a:moveTo>
                    <a:pt x="27880" y="0"/>
                  </a:moveTo>
                  <a:lnTo>
                    <a:pt x="1434854" y="0"/>
                  </a:lnTo>
                  <a:cubicBezTo>
                    <a:pt x="1450252" y="0"/>
                    <a:pt x="1462734" y="12482"/>
                    <a:pt x="1462734" y="27880"/>
                  </a:cubicBezTo>
                  <a:lnTo>
                    <a:pt x="1462734" y="610857"/>
                  </a:lnTo>
                  <a:cubicBezTo>
                    <a:pt x="1462734" y="626255"/>
                    <a:pt x="1450252" y="638737"/>
                    <a:pt x="1434854" y="638737"/>
                  </a:cubicBezTo>
                  <a:lnTo>
                    <a:pt x="27880" y="638737"/>
                  </a:lnTo>
                  <a:cubicBezTo>
                    <a:pt x="12482" y="638737"/>
                    <a:pt x="0" y="626255"/>
                    <a:pt x="0" y="610857"/>
                  </a:cubicBezTo>
                  <a:lnTo>
                    <a:pt x="0" y="27880"/>
                  </a:lnTo>
                  <a:cubicBezTo>
                    <a:pt x="0" y="12482"/>
                    <a:pt x="12482" y="0"/>
                    <a:pt x="27880" y="0"/>
                  </a:cubicBezTo>
                  <a:close/>
                </a:path>
              </a:pathLst>
            </a:custGeom>
            <a:solidFill>
              <a:srgbClr val="00D0FF"/>
            </a:solidFill>
          </p:spPr>
          <p:txBody>
            <a:bodyPr/>
            <a:lstStyle/>
            <a:p>
              <a:endParaRPr lang="en-US"/>
            </a:p>
          </p:txBody>
        </p:sp>
        <p:sp>
          <p:nvSpPr>
            <p:cNvPr id="22" name="TextBox 22"/>
            <p:cNvSpPr txBox="1"/>
            <p:nvPr/>
          </p:nvSpPr>
          <p:spPr>
            <a:xfrm>
              <a:off x="0" y="-38100"/>
              <a:ext cx="1462734" cy="676837"/>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2983820" y="6955620"/>
            <a:ext cx="1513656" cy="1030325"/>
          </a:xfrm>
          <a:prstGeom prst="rect">
            <a:avLst/>
          </a:prstGeom>
        </p:spPr>
        <p:txBody>
          <a:bodyPr lIns="0" tIns="0" rIns="0" bIns="0" rtlCol="0" anchor="t">
            <a:spAutoFit/>
          </a:bodyPr>
          <a:lstStyle/>
          <a:p>
            <a:pPr algn="l">
              <a:lnSpc>
                <a:spcPts val="8310"/>
              </a:lnSpc>
            </a:pPr>
            <a:r>
              <a:rPr lang="en-US" sz="5936">
                <a:solidFill>
                  <a:srgbClr val="003845"/>
                </a:solidFill>
                <a:latin typeface="Mokoto"/>
                <a:ea typeface="Mokoto"/>
                <a:cs typeface="Mokoto"/>
                <a:sym typeface="Mokoto"/>
              </a:rPr>
              <a:t>03</a:t>
            </a:r>
          </a:p>
        </p:txBody>
      </p:sp>
      <p:sp>
        <p:nvSpPr>
          <p:cNvPr id="24" name="TextBox 24"/>
          <p:cNvSpPr txBox="1"/>
          <p:nvPr/>
        </p:nvSpPr>
        <p:spPr>
          <a:xfrm>
            <a:off x="4559529" y="7132486"/>
            <a:ext cx="3341497" cy="471805"/>
          </a:xfrm>
          <a:prstGeom prst="rect">
            <a:avLst/>
          </a:prstGeom>
        </p:spPr>
        <p:txBody>
          <a:bodyPr lIns="0" tIns="0" rIns="0" bIns="0" rtlCol="0" anchor="t">
            <a:spAutoFit/>
          </a:bodyPr>
          <a:lstStyle/>
          <a:p>
            <a:pPr algn="l">
              <a:lnSpc>
                <a:spcPts val="3919"/>
              </a:lnSpc>
            </a:pPr>
            <a:r>
              <a:rPr lang="en-US" sz="2799" b="1">
                <a:solidFill>
                  <a:srgbClr val="003845"/>
                </a:solidFill>
                <a:latin typeface="Montserrat Bold"/>
                <a:ea typeface="Montserrat Bold"/>
                <a:cs typeface="Montserrat Bold"/>
                <a:sym typeface="Montserrat Bold"/>
              </a:rPr>
              <a:t>Challenges</a:t>
            </a:r>
          </a:p>
        </p:txBody>
      </p:sp>
      <p:sp>
        <p:nvSpPr>
          <p:cNvPr id="25" name="TextBox 25"/>
          <p:cNvSpPr txBox="1"/>
          <p:nvPr/>
        </p:nvSpPr>
        <p:spPr>
          <a:xfrm>
            <a:off x="11471031" y="4217103"/>
            <a:ext cx="2881720" cy="471805"/>
          </a:xfrm>
          <a:prstGeom prst="rect">
            <a:avLst/>
          </a:prstGeom>
        </p:spPr>
        <p:txBody>
          <a:bodyPr lIns="0" tIns="0" rIns="0" bIns="0" rtlCol="0" anchor="t">
            <a:spAutoFit/>
          </a:bodyPr>
          <a:lstStyle/>
          <a:p>
            <a:pPr algn="l">
              <a:lnSpc>
                <a:spcPts val="3919"/>
              </a:lnSpc>
            </a:pPr>
            <a:r>
              <a:rPr lang="en-US" sz="2799" b="1">
                <a:solidFill>
                  <a:srgbClr val="003845"/>
                </a:solidFill>
                <a:latin typeface="Montserrat Bold"/>
                <a:ea typeface="Montserrat Bold"/>
                <a:cs typeface="Montserrat Bold"/>
                <a:sym typeface="Montserrat Bold"/>
              </a:rPr>
              <a:t>AI Ethics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8D55-62EE-0DE3-6652-283EF4357EEE}"/>
              </a:ext>
            </a:extLst>
          </p:cNvPr>
          <p:cNvSpPr>
            <a:spLocks noGrp="1"/>
          </p:cNvSpPr>
          <p:nvPr>
            <p:ph type="title"/>
          </p:nvPr>
        </p:nvSpPr>
        <p:spPr>
          <a:xfrm>
            <a:off x="457200" y="274638"/>
            <a:ext cx="16687800" cy="1135062"/>
          </a:xfrm>
        </p:spPr>
        <p:txBody>
          <a:bodyPr>
            <a:normAutofit/>
          </a:bodyPr>
          <a:lstStyle/>
          <a:p>
            <a:r>
              <a:rPr lang="en-JO" dirty="0"/>
              <a:t>What do we mean by an emerging technology?</a:t>
            </a:r>
          </a:p>
        </p:txBody>
      </p:sp>
      <p:sp>
        <p:nvSpPr>
          <p:cNvPr id="3" name="Content Placeholder 2">
            <a:extLst>
              <a:ext uri="{FF2B5EF4-FFF2-40B4-BE49-F238E27FC236}">
                <a16:creationId xmlns:a16="http://schemas.microsoft.com/office/drawing/2014/main" id="{6953F38E-D70E-FB89-E08E-743BAEBDB603}"/>
              </a:ext>
            </a:extLst>
          </p:cNvPr>
          <p:cNvSpPr>
            <a:spLocks noGrp="1"/>
          </p:cNvSpPr>
          <p:nvPr>
            <p:ph idx="1"/>
          </p:nvPr>
        </p:nvSpPr>
        <p:spPr>
          <a:xfrm>
            <a:off x="457200" y="1600200"/>
            <a:ext cx="16687800" cy="4525963"/>
          </a:xfrm>
        </p:spPr>
        <p:txBody>
          <a:bodyPr/>
          <a:lstStyle/>
          <a:p>
            <a:r>
              <a:rPr lang="en-JO" dirty="0"/>
              <a:t>What do we mean by an emerging technology? </a:t>
            </a:r>
            <a:r>
              <a:rPr lang="en-US" dirty="0"/>
              <a:t>W</a:t>
            </a:r>
            <a:r>
              <a:rPr lang="en-JO" dirty="0"/>
              <a:t>hat are some of its attributes?</a:t>
            </a:r>
          </a:p>
          <a:p>
            <a:r>
              <a:rPr lang="en-JO" dirty="0"/>
              <a:t>Give examples of emerging technologies </a:t>
            </a:r>
          </a:p>
        </p:txBody>
      </p:sp>
    </p:spTree>
    <p:extLst>
      <p:ext uri="{BB962C8B-B14F-4D97-AF65-F5344CB8AC3E}">
        <p14:creationId xmlns:p14="http://schemas.microsoft.com/office/powerpoint/2010/main" val="280430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066800" y="3645506"/>
            <a:ext cx="11656018" cy="3424142"/>
          </a:xfrm>
          <a:prstGeom prst="rect">
            <a:avLst/>
          </a:prstGeom>
        </p:spPr>
        <p:txBody>
          <a:bodyPr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Novel.</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Relatively fast-growing technology.</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Prominent impact</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Degree of persistent uncertainty and ambiguity.</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Emerging Technologies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619B2B22-23A7-D654-716C-D5884CB001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A2C629-6DA7-1955-2EA5-6542257E5BED}"/>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C882E64-F882-E2F5-EF51-1DBAF0AEB7B1}"/>
              </a:ext>
            </a:extLst>
          </p:cNvPr>
          <p:cNvSpPr/>
          <p:nvPr/>
        </p:nvSpPr>
        <p:spPr>
          <a:xfrm>
            <a:off x="13144500" y="0"/>
            <a:ext cx="5143500" cy="5130676"/>
          </a:xfrm>
          <a:custGeom>
            <a:avLst/>
            <a:gdLst/>
            <a:ahLst/>
            <a:cxnLst/>
            <a:rect l="l" t="t" r="r" b="b"/>
            <a:pathLst>
              <a:path w="5143500" h="5130676">
                <a:moveTo>
                  <a:pt x="0" y="0"/>
                </a:moveTo>
                <a:lnTo>
                  <a:pt x="5143500" y="0"/>
                </a:lnTo>
                <a:lnTo>
                  <a:pt x="5143500" y="5130676"/>
                </a:lnTo>
                <a:lnTo>
                  <a:pt x="0" y="5130676"/>
                </a:lnTo>
                <a:lnTo>
                  <a:pt x="0" y="0"/>
                </a:lnTo>
                <a:close/>
              </a:path>
            </a:pathLst>
          </a:custGeom>
          <a:blipFill>
            <a:blip r:embed="rId5"/>
            <a:stretch>
              <a:fillRect t="-124" b="-124"/>
            </a:stretch>
          </a:blipFill>
        </p:spPr>
        <p:txBody>
          <a:bodyPr/>
          <a:lstStyle/>
          <a:p>
            <a:endParaRPr lang="en-US"/>
          </a:p>
        </p:txBody>
      </p:sp>
      <p:sp>
        <p:nvSpPr>
          <p:cNvPr id="4" name="Freeform 4">
            <a:extLst>
              <a:ext uri="{FF2B5EF4-FFF2-40B4-BE49-F238E27FC236}">
                <a16:creationId xmlns:a16="http://schemas.microsoft.com/office/drawing/2014/main" id="{4610D2DC-E419-E900-3872-09796F6BE13D}"/>
              </a:ext>
            </a:extLst>
          </p:cNvPr>
          <p:cNvSpPr/>
          <p:nvPr/>
        </p:nvSpPr>
        <p:spPr>
          <a:xfrm>
            <a:off x="13144500" y="5143500"/>
            <a:ext cx="5143500" cy="5143500"/>
          </a:xfrm>
          <a:custGeom>
            <a:avLst/>
            <a:gdLst/>
            <a:ahLst/>
            <a:cxnLst/>
            <a:rect l="l" t="t" r="r" b="b"/>
            <a:pathLst>
              <a:path w="5143500" h="5143500">
                <a:moveTo>
                  <a:pt x="0" y="0"/>
                </a:moveTo>
                <a:lnTo>
                  <a:pt x="5143500" y="0"/>
                </a:lnTo>
                <a:lnTo>
                  <a:pt x="5143500" y="5143500"/>
                </a:lnTo>
                <a:lnTo>
                  <a:pt x="0" y="5143500"/>
                </a:lnTo>
                <a:lnTo>
                  <a:pt x="0" y="0"/>
                </a:lnTo>
                <a:close/>
              </a:path>
            </a:pathLst>
          </a:custGeom>
          <a:blipFill>
            <a:blip r:embed="rId6"/>
            <a:stretch>
              <a:fillRect/>
            </a:stretch>
          </a:blipFill>
        </p:spPr>
        <p:txBody>
          <a:bodyPr/>
          <a:lstStyle/>
          <a:p>
            <a:endParaRPr lang="en-US"/>
          </a:p>
        </p:txBody>
      </p:sp>
      <p:sp>
        <p:nvSpPr>
          <p:cNvPr id="5" name="TextBox 5">
            <a:extLst>
              <a:ext uri="{FF2B5EF4-FFF2-40B4-BE49-F238E27FC236}">
                <a16:creationId xmlns:a16="http://schemas.microsoft.com/office/drawing/2014/main" id="{0770732A-DBD0-7BE8-C714-36222B37A922}"/>
              </a:ext>
            </a:extLst>
          </p:cNvPr>
          <p:cNvSpPr txBox="1"/>
          <p:nvPr/>
        </p:nvSpPr>
        <p:spPr>
          <a:xfrm>
            <a:off x="1028700" y="2875056"/>
            <a:ext cx="11656018" cy="5033645"/>
          </a:xfrm>
          <a:prstGeom prst="rect">
            <a:avLst/>
          </a:prstGeom>
        </p:spPr>
        <p:txBody>
          <a:bodyPr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Smart cities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Generative AI.</a:t>
            </a:r>
          </a:p>
          <a:p>
            <a:pPr algn="just">
              <a:lnSpc>
                <a:spcPts val="4479"/>
              </a:lnSpc>
            </a:pPr>
            <a:r>
              <a:rPr lang="en-US" sz="3199" dirty="0">
                <a:solidFill>
                  <a:srgbClr val="92DCEF"/>
                </a:solidFill>
                <a:latin typeface="Canva Sans"/>
                <a:ea typeface="Canva Sans"/>
                <a:cs typeface="Canva Sans"/>
                <a:sym typeface="Canva Sans"/>
              </a:rPr>
              <a:t>       https://</a:t>
            </a:r>
            <a:r>
              <a:rPr lang="en-US" sz="3199" dirty="0" err="1">
                <a:solidFill>
                  <a:srgbClr val="92DCEF"/>
                </a:solidFill>
                <a:latin typeface="Canva Sans"/>
                <a:ea typeface="Canva Sans"/>
                <a:cs typeface="Canva Sans"/>
                <a:sym typeface="Canva Sans"/>
              </a:rPr>
              <a:t>www.youtube.com</a:t>
            </a:r>
            <a:r>
              <a:rPr lang="en-US" sz="3199" dirty="0">
                <a:solidFill>
                  <a:srgbClr val="92DCEF"/>
                </a:solidFill>
                <a:latin typeface="Canva Sans"/>
                <a:ea typeface="Canva Sans"/>
                <a:cs typeface="Canva Sans"/>
                <a:sym typeface="Canva Sans"/>
              </a:rPr>
              <a:t>/</a:t>
            </a:r>
            <a:r>
              <a:rPr lang="en-US" sz="3199" dirty="0" err="1">
                <a:solidFill>
                  <a:srgbClr val="92DCEF"/>
                </a:solidFill>
                <a:latin typeface="Canva Sans"/>
                <a:ea typeface="Canva Sans"/>
                <a:cs typeface="Canva Sans"/>
                <a:sym typeface="Canva Sans"/>
              </a:rPr>
              <a:t>watch?v</a:t>
            </a:r>
            <a:r>
              <a:rPr lang="en-US" sz="3199" dirty="0">
                <a:solidFill>
                  <a:srgbClr val="92DCEF"/>
                </a:solidFill>
                <a:latin typeface="Canva Sans"/>
                <a:ea typeface="Canva Sans"/>
                <a:cs typeface="Canva Sans"/>
                <a:sym typeface="Canva Sans"/>
              </a:rPr>
              <a:t>=6KeVsjQmftc</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Brain chip.</a:t>
            </a:r>
          </a:p>
          <a:p>
            <a:pPr algn="just">
              <a:lnSpc>
                <a:spcPts val="4479"/>
              </a:lnSpc>
            </a:pPr>
            <a:r>
              <a:rPr lang="en-US" sz="3199" dirty="0">
                <a:solidFill>
                  <a:srgbClr val="92DCEF"/>
                </a:solidFill>
                <a:latin typeface="Canva Sans"/>
                <a:ea typeface="Canva Sans"/>
                <a:cs typeface="Canva Sans"/>
                <a:sym typeface="Canva Sans"/>
              </a:rPr>
              <a:t>        https://</a:t>
            </a:r>
            <a:r>
              <a:rPr lang="en-US" sz="3199" dirty="0" err="1">
                <a:solidFill>
                  <a:srgbClr val="92DCEF"/>
                </a:solidFill>
                <a:latin typeface="Canva Sans"/>
                <a:ea typeface="Canva Sans"/>
                <a:cs typeface="Canva Sans"/>
                <a:sym typeface="Canva Sans"/>
              </a:rPr>
              <a:t>www.youtube.com</a:t>
            </a:r>
            <a:r>
              <a:rPr lang="en-US" sz="3199" dirty="0">
                <a:solidFill>
                  <a:srgbClr val="92DCEF"/>
                </a:solidFill>
                <a:latin typeface="Canva Sans"/>
                <a:ea typeface="Canva Sans"/>
                <a:cs typeface="Canva Sans"/>
                <a:sym typeface="Canva Sans"/>
              </a:rPr>
              <a:t>/</a:t>
            </a:r>
            <a:r>
              <a:rPr lang="en-US" sz="3199" dirty="0" err="1">
                <a:solidFill>
                  <a:srgbClr val="92DCEF"/>
                </a:solidFill>
                <a:latin typeface="Canva Sans"/>
                <a:ea typeface="Canva Sans"/>
                <a:cs typeface="Canva Sans"/>
                <a:sym typeface="Canva Sans"/>
              </a:rPr>
              <a:t>watch?v</a:t>
            </a:r>
            <a:r>
              <a:rPr lang="en-US" sz="3199" dirty="0">
                <a:solidFill>
                  <a:srgbClr val="92DCEF"/>
                </a:solidFill>
                <a:latin typeface="Canva Sans"/>
                <a:ea typeface="Canva Sans"/>
                <a:cs typeface="Canva Sans"/>
                <a:sym typeface="Canva Sans"/>
              </a:rPr>
              <a:t>=qElV6G0nK1E</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 Quantum computing</a:t>
            </a:r>
          </a:p>
          <a:p>
            <a:pPr algn="just">
              <a:lnSpc>
                <a:spcPts val="4479"/>
              </a:lnSpc>
            </a:pPr>
            <a:r>
              <a:rPr lang="en-US" sz="3199" dirty="0">
                <a:solidFill>
                  <a:srgbClr val="92DCEF"/>
                </a:solidFill>
                <a:latin typeface="Canva Sans"/>
                <a:ea typeface="Canva Sans"/>
                <a:cs typeface="Canva Sans"/>
                <a:sym typeface="Canva Sans"/>
              </a:rPr>
              <a:t>        https://</a:t>
            </a:r>
            <a:r>
              <a:rPr lang="en-US" sz="3199" dirty="0" err="1">
                <a:solidFill>
                  <a:srgbClr val="92DCEF"/>
                </a:solidFill>
                <a:latin typeface="Canva Sans"/>
                <a:ea typeface="Canva Sans"/>
                <a:cs typeface="Canva Sans"/>
                <a:sym typeface="Canva Sans"/>
              </a:rPr>
              <a:t>www.youtube.com</a:t>
            </a:r>
            <a:r>
              <a:rPr lang="en-US" sz="3199" dirty="0">
                <a:solidFill>
                  <a:srgbClr val="92DCEF"/>
                </a:solidFill>
                <a:latin typeface="Canva Sans"/>
                <a:ea typeface="Canva Sans"/>
                <a:cs typeface="Canva Sans"/>
                <a:sym typeface="Canva Sans"/>
              </a:rPr>
              <a:t>/</a:t>
            </a:r>
            <a:r>
              <a:rPr lang="en-US" sz="3199" dirty="0" err="1">
                <a:solidFill>
                  <a:srgbClr val="92DCEF"/>
                </a:solidFill>
                <a:latin typeface="Canva Sans"/>
                <a:ea typeface="Canva Sans"/>
                <a:cs typeface="Canva Sans"/>
                <a:sym typeface="Canva Sans"/>
              </a:rPr>
              <a:t>watch?v</a:t>
            </a:r>
            <a:r>
              <a:rPr lang="en-US" sz="3199" dirty="0">
                <a:solidFill>
                  <a:srgbClr val="92DCEF"/>
                </a:solidFill>
                <a:latin typeface="Canva Sans"/>
                <a:ea typeface="Canva Sans"/>
                <a:cs typeface="Canva Sans"/>
                <a:sym typeface="Canva Sans"/>
              </a:rPr>
              <a:t>=X8MZWCGgIb8</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C38BB3DD-9433-CBFA-9C80-93447613C9CB}"/>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Emerging Technologies</a:t>
            </a:r>
          </a:p>
        </p:txBody>
      </p:sp>
    </p:spTree>
    <p:extLst>
      <p:ext uri="{BB962C8B-B14F-4D97-AF65-F5344CB8AC3E}">
        <p14:creationId xmlns:p14="http://schemas.microsoft.com/office/powerpoint/2010/main" val="1620031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4361A960-DE87-853B-C11F-C55EE51710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91F1DE1-BBF3-3BDD-7659-3B64C27C591D}"/>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68B3AE58-4CBC-41C9-92D4-751B39996615}"/>
              </a:ext>
            </a:extLst>
          </p:cNvPr>
          <p:cNvSpPr txBox="1"/>
          <p:nvPr/>
        </p:nvSpPr>
        <p:spPr>
          <a:xfrm>
            <a:off x="801545" y="3390900"/>
            <a:ext cx="16725900" cy="4578305"/>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Product design and development:  allow testing thousands of configuration digitally and recommend best-performing, cost-effective designs.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Predictive maintenance: simulate failures before they happen and assists technicians with troubleshooting.</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 Hyper personalization: enable mass customization of products tailored to each individual customer based on preferences.</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39FE2769-4879-E763-05D4-2E36B7E803C0}"/>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Generative AI in manufacturing</a:t>
            </a:r>
          </a:p>
        </p:txBody>
      </p:sp>
    </p:spTree>
    <p:extLst>
      <p:ext uri="{BB962C8B-B14F-4D97-AF65-F5344CB8AC3E}">
        <p14:creationId xmlns:p14="http://schemas.microsoft.com/office/powerpoint/2010/main" val="4093372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3FA8C52A-82E7-0610-4948-7DB0D140A4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514416-D820-30A6-2E68-6111FE3B6532}"/>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A0DFA654-8326-2460-D428-573FC93E1B98}"/>
              </a:ext>
            </a:extLst>
          </p:cNvPr>
          <p:cNvSpPr txBox="1"/>
          <p:nvPr/>
        </p:nvSpPr>
        <p:spPr>
          <a:xfrm>
            <a:off x="533400" y="4194989"/>
            <a:ext cx="16725900" cy="4001224"/>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Type of specialized computer hardware combined with a software that simulate brain-like cognitive tasks.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Mimic neural structure and functionality of the human brain.</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Perform energy-efficient, event-driven processing.</a:t>
            </a: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475B28A7-1A02-2671-1A35-9DAFC5455CBF}"/>
              </a:ext>
            </a:extLst>
          </p:cNvPr>
          <p:cNvSpPr txBox="1"/>
          <p:nvPr/>
        </p:nvSpPr>
        <p:spPr>
          <a:xfrm>
            <a:off x="793078" y="923925"/>
            <a:ext cx="17494922" cy="161582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Neuromorphic computing in manufacturing</a:t>
            </a:r>
          </a:p>
        </p:txBody>
      </p:sp>
    </p:spTree>
    <p:extLst>
      <p:ext uri="{BB962C8B-B14F-4D97-AF65-F5344CB8AC3E}">
        <p14:creationId xmlns:p14="http://schemas.microsoft.com/office/powerpoint/2010/main" val="3512555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A48A3B10-1AB3-9B35-16CF-1AB0736112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C6F32A5-5C0A-DD26-62F4-ECA7A4C6B1F7}"/>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743F5DEE-7C14-16AA-05EB-056E48808818}"/>
              </a:ext>
            </a:extLst>
          </p:cNvPr>
          <p:cNvSpPr txBox="1"/>
          <p:nvPr/>
        </p:nvSpPr>
        <p:spPr>
          <a:xfrm>
            <a:off x="533400" y="4194989"/>
            <a:ext cx="16725900" cy="4001224"/>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Deployed in edge devices: provides ultra-low power consumption suitable for battery-powered sensors.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Intelligent robotics: improve efficiency and adaptability of deployed robots.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Low latency</a:t>
            </a:r>
            <a:r>
              <a:rPr lang="en-US" sz="3199" dirty="0">
                <a:solidFill>
                  <a:srgbClr val="92DCEF"/>
                </a:solidFill>
                <a:latin typeface="Canva Sans"/>
                <a:sym typeface="Canva Sans"/>
              </a:rPr>
              <a:t>: </a:t>
            </a:r>
            <a:r>
              <a:rPr lang="en-US" sz="3199" dirty="0">
                <a:solidFill>
                  <a:srgbClr val="92DCEF"/>
                </a:solidFill>
                <a:latin typeface="Canva Sans"/>
              </a:rPr>
              <a:t>Millisecond-level response times ideal for critical machinery control.</a:t>
            </a:r>
            <a:endParaRPr lang="en-US" sz="3199" dirty="0">
              <a:solidFill>
                <a:srgbClr val="92DCEF"/>
              </a:solidFill>
              <a:latin typeface="Canva Sans"/>
              <a:sym typeface="Canva Sans"/>
            </a:endParaRPr>
          </a:p>
          <a:p>
            <a:pPr marL="690879" lvl="1" indent="-345439" algn="just">
              <a:lnSpc>
                <a:spcPts val="4479"/>
              </a:lnSpc>
              <a:buFont typeface="Arial"/>
              <a:buChar char="•"/>
            </a:pPr>
            <a:endParaRPr lang="en-US" sz="3199" dirty="0">
              <a:solidFill>
                <a:srgbClr val="92DCEF"/>
              </a:solidFill>
              <a:latin typeface="Canva Sans"/>
              <a:sym typeface="Canva Sans"/>
            </a:endParaRP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AB6DAF64-C57D-0653-EB6F-3AAEEC0457BC}"/>
              </a:ext>
            </a:extLst>
          </p:cNvPr>
          <p:cNvSpPr txBox="1"/>
          <p:nvPr/>
        </p:nvSpPr>
        <p:spPr>
          <a:xfrm>
            <a:off x="793078" y="923925"/>
            <a:ext cx="17494922" cy="161582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Neuromorphic computing in manufacturing</a:t>
            </a:r>
          </a:p>
        </p:txBody>
      </p:sp>
    </p:spTree>
    <p:extLst>
      <p:ext uri="{BB962C8B-B14F-4D97-AF65-F5344CB8AC3E}">
        <p14:creationId xmlns:p14="http://schemas.microsoft.com/office/powerpoint/2010/main" val="3570615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EE8D77CB-4434-A1B2-2DAB-540306FF3D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CD0351-657B-FF98-D7B4-51DF6576F308}"/>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9860E9B1-B10A-4B2E-B6F8-A9796249BDB0}"/>
              </a:ext>
            </a:extLst>
          </p:cNvPr>
          <p:cNvSpPr txBox="1"/>
          <p:nvPr/>
        </p:nvSpPr>
        <p:spPr>
          <a:xfrm>
            <a:off x="793078" y="4152900"/>
            <a:ext cx="11656018" cy="4001224"/>
          </a:xfrm>
          <a:prstGeom prst="rect">
            <a:avLst/>
          </a:prstGeom>
        </p:spPr>
        <p:txBody>
          <a:bodyPr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Integration of AI into physical systems.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Perceive, reason and act in real-world environments.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Produce a sequence of actions to achieve a goal.</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Learn from its experience instead of data sources.</a:t>
            </a:r>
          </a:p>
          <a:p>
            <a:pPr marL="345440" lvl="1"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D49D39D5-C197-9D44-547D-168859461DA9}"/>
              </a:ext>
            </a:extLst>
          </p:cNvPr>
          <p:cNvSpPr txBox="1"/>
          <p:nvPr/>
        </p:nvSpPr>
        <p:spPr>
          <a:xfrm>
            <a:off x="813398" y="1135276"/>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Embodied ai</a:t>
            </a:r>
          </a:p>
        </p:txBody>
      </p:sp>
      <p:pic>
        <p:nvPicPr>
          <p:cNvPr id="4" name="Picture 3" descr="A group of people standing around a robot&#10;&#10;AI-generated content may be incorrect.">
            <a:extLst>
              <a:ext uri="{FF2B5EF4-FFF2-40B4-BE49-F238E27FC236}">
                <a16:creationId xmlns:a16="http://schemas.microsoft.com/office/drawing/2014/main" id="{DE84263D-313C-5D4D-D343-6DDD4530DD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31923" y="6485420"/>
            <a:ext cx="6656077" cy="3822747"/>
          </a:xfrm>
          <a:prstGeom prst="rect">
            <a:avLst/>
          </a:prstGeom>
        </p:spPr>
      </p:pic>
    </p:spTree>
    <p:extLst>
      <p:ext uri="{BB962C8B-B14F-4D97-AF65-F5344CB8AC3E}">
        <p14:creationId xmlns:p14="http://schemas.microsoft.com/office/powerpoint/2010/main" val="1308977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FBA8A23A-706A-9B96-D642-0DA9616778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2291CB-2C0F-2897-A580-C93FCC928259}"/>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ACA781C0-3EF8-89A9-9C43-C7110DE7E203}"/>
              </a:ext>
            </a:extLst>
          </p:cNvPr>
          <p:cNvSpPr txBox="1"/>
          <p:nvPr/>
        </p:nvSpPr>
        <p:spPr>
          <a:xfrm>
            <a:off x="990600" y="2400300"/>
            <a:ext cx="16878300" cy="7463710"/>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b="1" dirty="0">
                <a:solidFill>
                  <a:srgbClr val="92DCEF"/>
                </a:solidFill>
                <a:latin typeface="Canva Sans"/>
                <a:ea typeface="Canva Sans"/>
                <a:cs typeface="Canva Sans"/>
                <a:sym typeface="Canva Sans"/>
              </a:rPr>
              <a:t>Perception: </a:t>
            </a:r>
            <a:r>
              <a:rPr lang="en-US" sz="3199" dirty="0">
                <a:solidFill>
                  <a:srgbClr val="92DCEF"/>
                </a:solidFill>
                <a:latin typeface="Canva Sans"/>
                <a:ea typeface="Canva Sans"/>
                <a:cs typeface="Canva Sans"/>
                <a:sym typeface="Canva Sans"/>
              </a:rPr>
              <a:t>use cameras, sensors and microphones to gather data about its environment .</a:t>
            </a:r>
          </a:p>
          <a:p>
            <a:pPr marL="690879" lvl="1" indent="-345439" algn="just">
              <a:lnSpc>
                <a:spcPts val="4479"/>
              </a:lnSpc>
              <a:buFont typeface="Arial"/>
              <a:buChar char="•"/>
            </a:pPr>
            <a:r>
              <a:rPr lang="en-US" sz="3199" b="1" dirty="0">
                <a:solidFill>
                  <a:srgbClr val="92DCEF"/>
                </a:solidFill>
                <a:latin typeface="Canva Sans"/>
                <a:ea typeface="Canva Sans"/>
                <a:cs typeface="Canva Sans"/>
                <a:sym typeface="Canva Sans"/>
              </a:rPr>
              <a:t>Reasoning and planning: </a:t>
            </a:r>
            <a:r>
              <a:rPr lang="en-US" sz="3199" dirty="0">
                <a:solidFill>
                  <a:srgbClr val="92DCEF"/>
                </a:solidFill>
                <a:latin typeface="Canva Sans"/>
                <a:ea typeface="Canva Sans"/>
                <a:cs typeface="Canva Sans"/>
                <a:sym typeface="Canva Sans"/>
              </a:rPr>
              <a:t>using machine learning and AI, data is processed to navigate, avoid obstacles, and make decisions to complete its tasks.</a:t>
            </a:r>
          </a:p>
          <a:p>
            <a:pPr marL="690879" lvl="1" indent="-345439" algn="just">
              <a:lnSpc>
                <a:spcPts val="4479"/>
              </a:lnSpc>
              <a:buFont typeface="Arial"/>
              <a:buChar char="•"/>
            </a:pPr>
            <a:r>
              <a:rPr lang="en-US" sz="3199" b="1" dirty="0">
                <a:solidFill>
                  <a:srgbClr val="92DCEF"/>
                </a:solidFill>
                <a:latin typeface="Canva Sans"/>
                <a:ea typeface="Canva Sans"/>
                <a:cs typeface="Canva Sans"/>
                <a:sym typeface="Canva Sans"/>
              </a:rPr>
              <a:t>Actuation (Action):  </a:t>
            </a:r>
            <a:r>
              <a:rPr lang="en-US" sz="3199" dirty="0">
                <a:solidFill>
                  <a:srgbClr val="92DCEF"/>
                </a:solidFill>
                <a:latin typeface="Canva Sans"/>
                <a:ea typeface="Canva Sans"/>
                <a:cs typeface="Canva Sans"/>
                <a:sym typeface="Canva Sans"/>
              </a:rPr>
              <a:t>motors, arms, or wheels are triggered to manipulate objects or move through the environment (transform digital decisions into physical actions).</a:t>
            </a:r>
          </a:p>
          <a:p>
            <a:pPr marL="690879" lvl="1" indent="-345439" algn="just">
              <a:lnSpc>
                <a:spcPts val="4479"/>
              </a:lnSpc>
              <a:buFont typeface="Arial"/>
              <a:buChar char="•"/>
            </a:pPr>
            <a:r>
              <a:rPr lang="en-US" sz="3199" b="1" dirty="0">
                <a:solidFill>
                  <a:srgbClr val="92DCEF"/>
                </a:solidFill>
                <a:latin typeface="Canva Sans"/>
                <a:ea typeface="Canva Sans"/>
                <a:cs typeface="Canva Sans"/>
                <a:sym typeface="Canva Sans"/>
              </a:rPr>
              <a:t>Feedback loop: </a:t>
            </a:r>
            <a:r>
              <a:rPr lang="en-US" sz="3199" dirty="0">
                <a:solidFill>
                  <a:srgbClr val="92DCEF"/>
                </a:solidFill>
                <a:latin typeface="Canva Sans"/>
                <a:ea typeface="Canva Sans"/>
                <a:cs typeface="Canva Sans"/>
                <a:sym typeface="Canva Sans"/>
              </a:rPr>
              <a:t>continuously updates its understanding based on the results of its actions.</a:t>
            </a:r>
          </a:p>
          <a:p>
            <a:pPr marL="690879" lvl="1" indent="-345439" algn="just">
              <a:lnSpc>
                <a:spcPts val="4479"/>
              </a:lnSpc>
              <a:buFont typeface="Arial"/>
              <a:buChar char="•"/>
            </a:pPr>
            <a:r>
              <a:rPr lang="en-US" sz="3199" b="1" dirty="0">
                <a:solidFill>
                  <a:srgbClr val="92DCEF"/>
                </a:solidFill>
                <a:latin typeface="Canva Sans"/>
                <a:ea typeface="Canva Sans"/>
                <a:cs typeface="Canva Sans"/>
                <a:sym typeface="Canva Sans"/>
              </a:rPr>
              <a:t>Simulation to real world: </a:t>
            </a:r>
            <a:r>
              <a:rPr lang="en-US" sz="3199" dirty="0">
                <a:solidFill>
                  <a:srgbClr val="92DCEF"/>
                </a:solidFill>
                <a:latin typeface="Canva Sans"/>
                <a:ea typeface="Canva Sans"/>
                <a:cs typeface="Canva Sans"/>
                <a:sym typeface="Canva Sans"/>
              </a:rPr>
              <a:t>robots are trained in simulated environment before deploying into the physical world.</a:t>
            </a: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35C550D0-58EA-10E8-6BBB-C6652F14DC00}"/>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How Embodied ai operates?</a:t>
            </a:r>
          </a:p>
        </p:txBody>
      </p:sp>
    </p:spTree>
    <p:extLst>
      <p:ext uri="{BB962C8B-B14F-4D97-AF65-F5344CB8AC3E}">
        <p14:creationId xmlns:p14="http://schemas.microsoft.com/office/powerpoint/2010/main" val="337665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6935EC75-82CE-9DDF-A74E-E74B2F43ED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A02709-9DD7-5FDA-A689-177CC753E150}"/>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DB2B89B7-E3C4-53E0-934E-0806E4FDFB57}"/>
              </a:ext>
            </a:extLst>
          </p:cNvPr>
          <p:cNvSpPr txBox="1"/>
          <p:nvPr/>
        </p:nvSpPr>
        <p:spPr>
          <a:xfrm>
            <a:off x="933450" y="3619500"/>
            <a:ext cx="16421100" cy="4001224"/>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Manufacturing and assembly: replace repetitive, dangerous manual tasks and improve product quality.</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Warehousing: smarter, high-speed sorting and packing.</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Safety and inspection: inspect powerlines and pipelines, reducing human danger and enhancing accuracy.</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B8EA754C-3334-E4AD-66F0-A1152ADC9CC3}"/>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Embodied ai in manufacturing</a:t>
            </a:r>
          </a:p>
        </p:txBody>
      </p:sp>
    </p:spTree>
    <p:extLst>
      <p:ext uri="{BB962C8B-B14F-4D97-AF65-F5344CB8AC3E}">
        <p14:creationId xmlns:p14="http://schemas.microsoft.com/office/powerpoint/2010/main" val="111407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479626C7-6304-9089-331D-0FABE2E75D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D9DF20-769C-3937-DA7D-DE70316AD095}"/>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51D960EB-5FEC-BFEB-5CD3-596D423C6CC3}"/>
              </a:ext>
            </a:extLst>
          </p:cNvPr>
          <p:cNvSpPr txBox="1"/>
          <p:nvPr/>
        </p:nvSpPr>
        <p:spPr>
          <a:xfrm>
            <a:off x="1250396" y="3268152"/>
            <a:ext cx="10177863" cy="5155386"/>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Navigate automated storage systems.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Retrieve  parts.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Assemble vehicle bodies.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Tangible benefits:</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Increased production efficiency by 30%.</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Cut labor cost by 25%.</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Reduced defect rates by 40%.</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263BF3C6-E9FA-04F8-7F5D-8C66F54740AC}"/>
              </a:ext>
            </a:extLst>
          </p:cNvPr>
          <p:cNvSpPr txBox="1"/>
          <p:nvPr/>
        </p:nvSpPr>
        <p:spPr>
          <a:xfrm>
            <a:off x="793078" y="923925"/>
            <a:ext cx="17494922" cy="839589"/>
          </a:xfrm>
          <a:prstGeom prst="rect">
            <a:avLst/>
          </a:prstGeom>
        </p:spPr>
        <p:txBody>
          <a:bodyPr lIns="0" tIns="0" rIns="0" bIns="0" rtlCol="0" anchor="t">
            <a:spAutoFit/>
          </a:bodyPr>
          <a:lstStyle/>
          <a:p>
            <a:pPr>
              <a:lnSpc>
                <a:spcPts val="7190"/>
              </a:lnSpc>
            </a:pPr>
            <a:r>
              <a:rPr lang="en-US" sz="5136" dirty="0">
                <a:solidFill>
                  <a:srgbClr val="92DCEF"/>
                </a:solidFill>
                <a:latin typeface="Mokoto"/>
                <a:sym typeface="Canva Sans"/>
              </a:rPr>
              <a:t>Nio’s smart manufacturing plant</a:t>
            </a:r>
            <a:endParaRPr lang="en-US" sz="5136" dirty="0">
              <a:solidFill>
                <a:srgbClr val="92DCEF"/>
              </a:solidFill>
              <a:latin typeface="Mokoto"/>
              <a:sym typeface="Mokoto"/>
            </a:endParaRPr>
          </a:p>
        </p:txBody>
      </p:sp>
      <p:pic>
        <p:nvPicPr>
          <p:cNvPr id="4" name="Picture 3" descr="A car assembly line in a factory&#10;&#10;AI-generated content may be incorrect.">
            <a:extLst>
              <a:ext uri="{FF2B5EF4-FFF2-40B4-BE49-F238E27FC236}">
                <a16:creationId xmlns:a16="http://schemas.microsoft.com/office/drawing/2014/main" id="{4DD20990-CF0D-460E-E42E-CCABEA6D8B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17555" y="2082194"/>
            <a:ext cx="6370445" cy="3567449"/>
          </a:xfrm>
          <a:prstGeom prst="rect">
            <a:avLst/>
          </a:prstGeom>
        </p:spPr>
      </p:pic>
      <p:pic>
        <p:nvPicPr>
          <p:cNvPr id="8" name="Picture 7" descr="A car in a factory&#10;&#10;AI-generated content may be incorrect.">
            <a:extLst>
              <a:ext uri="{FF2B5EF4-FFF2-40B4-BE49-F238E27FC236}">
                <a16:creationId xmlns:a16="http://schemas.microsoft.com/office/drawing/2014/main" id="{31BA246E-47A8-A379-83BA-E56FA53A6F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917555" y="5690207"/>
            <a:ext cx="6370445" cy="3567449"/>
          </a:xfrm>
          <a:prstGeom prst="rect">
            <a:avLst/>
          </a:prstGeom>
        </p:spPr>
      </p:pic>
    </p:spTree>
    <p:extLst>
      <p:ext uri="{BB962C8B-B14F-4D97-AF65-F5344CB8AC3E}">
        <p14:creationId xmlns:p14="http://schemas.microsoft.com/office/powerpoint/2010/main" val="2053158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A89A488D-C3FA-1181-EC1D-BF9C5EA9D1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8FA4A1-70E1-CC1D-A885-2C54C71D8D8D}"/>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5908D81D-9394-3BBD-75BA-8DCB0DC052AC}"/>
              </a:ext>
            </a:extLst>
          </p:cNvPr>
          <p:cNvSpPr txBox="1"/>
          <p:nvPr/>
        </p:nvSpPr>
        <p:spPr>
          <a:xfrm>
            <a:off x="1233463" y="3200419"/>
            <a:ext cx="16580404" cy="4578305"/>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Battery limits:</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dynamic tasks requires batteries with high discharge rates.</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maintaining high performance can lead to overheating or reduce battery lifespan.</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tasks involves heavy lifting  and torque–heavy motion (eq. twisting) drain batteries faster.</a:t>
            </a:r>
          </a:p>
          <a:p>
            <a:pPr marL="1148079" lvl="2" indent="-345439" algn="just">
              <a:lnSpc>
                <a:spcPts val="4479"/>
              </a:lnSpc>
              <a:buFont typeface="Arial"/>
              <a:buChar char="•"/>
            </a:pPr>
            <a:r>
              <a:rPr lang="en-US" sz="3199" dirty="0">
                <a:solidFill>
                  <a:srgbClr val="92DCEF"/>
                </a:solidFill>
                <a:latin typeface="Canva Sans"/>
                <a:ea typeface="Canva Sans"/>
                <a:cs typeface="Canva Sans"/>
                <a:sym typeface="Canva Sans"/>
              </a:rPr>
              <a:t>requires fast charging</a:t>
            </a: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F0D2C575-A361-B101-CB96-6BB997D9157E}"/>
              </a:ext>
            </a:extLst>
          </p:cNvPr>
          <p:cNvSpPr txBox="1"/>
          <p:nvPr/>
        </p:nvSpPr>
        <p:spPr>
          <a:xfrm>
            <a:off x="793078" y="923925"/>
            <a:ext cx="17494922" cy="692497"/>
          </a:xfrm>
          <a:prstGeom prst="rect">
            <a:avLst/>
          </a:prstGeom>
        </p:spPr>
        <p:txBody>
          <a:bodyPr lIns="0" tIns="0" rIns="0" bIns="0" rtlCol="0" anchor="t">
            <a:spAutoFit/>
          </a:bodyPr>
          <a:lstStyle/>
          <a:p>
            <a:pPr>
              <a:lnSpc>
                <a:spcPts val="7190"/>
              </a:lnSpc>
            </a:pPr>
            <a:r>
              <a:rPr lang="en-US" sz="5136" dirty="0">
                <a:solidFill>
                  <a:srgbClr val="92DCEF"/>
                </a:solidFill>
                <a:latin typeface="Mokoto"/>
                <a:sym typeface="Canva Sans"/>
              </a:rPr>
              <a:t>Challenges</a:t>
            </a:r>
            <a:endParaRPr lang="en-US" sz="5136" dirty="0">
              <a:solidFill>
                <a:srgbClr val="92DCEF"/>
              </a:solidFill>
              <a:latin typeface="Mokoto"/>
              <a:sym typeface="Mokoto"/>
            </a:endParaRPr>
          </a:p>
        </p:txBody>
      </p:sp>
    </p:spTree>
    <p:extLst>
      <p:ext uri="{BB962C8B-B14F-4D97-AF65-F5344CB8AC3E}">
        <p14:creationId xmlns:p14="http://schemas.microsoft.com/office/powerpoint/2010/main" val="2544247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4490ED7F-2949-656C-D150-9D1E15210E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921C0F-1584-2649-608B-084191BAA870}"/>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356FA591-92A6-F69A-0967-85162AF886E7}"/>
              </a:ext>
            </a:extLst>
          </p:cNvPr>
          <p:cNvSpPr txBox="1"/>
          <p:nvPr/>
        </p:nvSpPr>
        <p:spPr>
          <a:xfrm>
            <a:off x="1233463" y="3200419"/>
            <a:ext cx="16580404" cy="5732467"/>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Movements: embodied AI still do not fully mimic human precise and delicate movements.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Slow ROI:  robots can be very expensive based on design and used materials, addition to the cost of repairing.</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Adoption: workforce resistance and lack of technical talent for operating and maintaining robots.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Risk of error: the probability of making mistakes and their sequences must be fully studied.</a:t>
            </a: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C5D8D048-4890-55B1-E402-066EBC769B38}"/>
              </a:ext>
            </a:extLst>
          </p:cNvPr>
          <p:cNvSpPr txBox="1"/>
          <p:nvPr/>
        </p:nvSpPr>
        <p:spPr>
          <a:xfrm>
            <a:off x="793078" y="923925"/>
            <a:ext cx="17494922" cy="692497"/>
          </a:xfrm>
          <a:prstGeom prst="rect">
            <a:avLst/>
          </a:prstGeom>
        </p:spPr>
        <p:txBody>
          <a:bodyPr lIns="0" tIns="0" rIns="0" bIns="0" rtlCol="0" anchor="t">
            <a:spAutoFit/>
          </a:bodyPr>
          <a:lstStyle/>
          <a:p>
            <a:pPr>
              <a:lnSpc>
                <a:spcPts val="7190"/>
              </a:lnSpc>
            </a:pPr>
            <a:r>
              <a:rPr lang="en-US" sz="5136" dirty="0">
                <a:solidFill>
                  <a:srgbClr val="92DCEF"/>
                </a:solidFill>
                <a:latin typeface="Mokoto"/>
                <a:sym typeface="Canva Sans"/>
              </a:rPr>
              <a:t>Challenges</a:t>
            </a:r>
            <a:endParaRPr lang="en-US" sz="5136" dirty="0">
              <a:solidFill>
                <a:srgbClr val="92DCEF"/>
              </a:solidFill>
              <a:latin typeface="Mokoto"/>
              <a:sym typeface="Mokoto"/>
            </a:endParaRPr>
          </a:p>
        </p:txBody>
      </p:sp>
    </p:spTree>
    <p:extLst>
      <p:ext uri="{BB962C8B-B14F-4D97-AF65-F5344CB8AC3E}">
        <p14:creationId xmlns:p14="http://schemas.microsoft.com/office/powerpoint/2010/main" val="723491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20BAB4EF-08B1-6C36-123B-2DADC4AE3B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158CF0-A175-8E90-C4AA-59C55A135757}"/>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91E800F3-6777-0F13-FB4A-F5FD222AA7AA}"/>
              </a:ext>
            </a:extLst>
          </p:cNvPr>
          <p:cNvSpPr txBox="1"/>
          <p:nvPr/>
        </p:nvSpPr>
        <p:spPr>
          <a:xfrm>
            <a:off x="1250396" y="2854347"/>
            <a:ext cx="16580404" cy="5732467"/>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Workforce polarization: employees will be divided based on their perspective of using embodied AI.</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 Employees psychological strain: employees stress levels will increase because of the fear of loosing their jobs and the increment of surveillance of their productivity and work quality through visual AI.</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Shifting skill requirement: there will be a need for skills related to manage and maintain embodied AI.</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Human-robot relationship: embodied AI will become co-workers which can lead to overreliance on these systems and increase digital loneliness.</a:t>
            </a: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F1EB39D7-84A7-C076-EB56-416340207824}"/>
              </a:ext>
            </a:extLst>
          </p:cNvPr>
          <p:cNvSpPr txBox="1"/>
          <p:nvPr/>
        </p:nvSpPr>
        <p:spPr>
          <a:xfrm>
            <a:off x="793078" y="923925"/>
            <a:ext cx="17494922" cy="692497"/>
          </a:xfrm>
          <a:prstGeom prst="rect">
            <a:avLst/>
          </a:prstGeom>
        </p:spPr>
        <p:txBody>
          <a:bodyPr lIns="0" tIns="0" rIns="0" bIns="0" rtlCol="0" anchor="t">
            <a:spAutoFit/>
          </a:bodyPr>
          <a:lstStyle/>
          <a:p>
            <a:pPr>
              <a:lnSpc>
                <a:spcPts val="7190"/>
              </a:lnSpc>
            </a:pPr>
            <a:r>
              <a:rPr lang="en-US" sz="5136" dirty="0">
                <a:solidFill>
                  <a:srgbClr val="92DCEF"/>
                </a:solidFill>
                <a:latin typeface="Mokoto"/>
                <a:sym typeface="Canva Sans"/>
              </a:rPr>
              <a:t>Challenges</a:t>
            </a:r>
            <a:endParaRPr lang="en-US" sz="5136" dirty="0">
              <a:solidFill>
                <a:srgbClr val="92DCEF"/>
              </a:solidFill>
              <a:latin typeface="Mokoto"/>
              <a:sym typeface="Mokoto"/>
            </a:endParaRPr>
          </a:p>
        </p:txBody>
      </p:sp>
    </p:spTree>
    <p:extLst>
      <p:ext uri="{BB962C8B-B14F-4D97-AF65-F5344CB8AC3E}">
        <p14:creationId xmlns:p14="http://schemas.microsoft.com/office/powerpoint/2010/main" val="1377844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82B9E571-3735-65FF-1565-F11AD59495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4E7969-9736-9EF5-8442-8E3CEBE9192A}"/>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B460CF35-1939-8800-C3B5-2D37212EE6C5}"/>
              </a:ext>
            </a:extLst>
          </p:cNvPr>
          <p:cNvSpPr txBox="1"/>
          <p:nvPr/>
        </p:nvSpPr>
        <p:spPr>
          <a:xfrm>
            <a:off x="1250396" y="2854347"/>
            <a:ext cx="16580404" cy="5732467"/>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Navigation and Travel: faster routes suggestion and recommending travel plans.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Security and  Fraud Detection: </a:t>
            </a:r>
            <a:r>
              <a:rPr lang="en-US" sz="3199" dirty="0">
                <a:solidFill>
                  <a:srgbClr val="92DCEF"/>
                </a:solidFill>
                <a:latin typeface="Canva Sans"/>
              </a:rPr>
              <a:t>spot potentially fraudulent activity and protect personal finances.</a:t>
            </a:r>
          </a:p>
          <a:p>
            <a:pPr marL="690879" lvl="1" indent="-345439" algn="just">
              <a:lnSpc>
                <a:spcPts val="4479"/>
              </a:lnSpc>
              <a:buFont typeface="Arial"/>
              <a:buChar char="•"/>
            </a:pPr>
            <a:r>
              <a:rPr lang="en-US" sz="3199" dirty="0">
                <a:solidFill>
                  <a:srgbClr val="92DCEF"/>
                </a:solidFill>
                <a:latin typeface="Canva Sans"/>
              </a:rPr>
              <a:t>Scientific Discovery: AI accelerates scientific research by analyzing vast amounts of data, which speeds up drug discovery.</a:t>
            </a:r>
          </a:p>
          <a:p>
            <a:pPr marL="690879" lvl="1" indent="-345439" algn="just">
              <a:lnSpc>
                <a:spcPts val="4479"/>
              </a:lnSpc>
              <a:buFont typeface="Arial"/>
              <a:buChar char="•"/>
            </a:pPr>
            <a:r>
              <a:rPr lang="en-US" sz="3199" dirty="0">
                <a:solidFill>
                  <a:srgbClr val="92DCEF"/>
                </a:solidFill>
                <a:latin typeface="Canva Sans"/>
              </a:rPr>
              <a:t>Enhanced Healthcare Diagnostics: AI-powered imaging systems can detect infections, cancers, and neurological problems faster and more accurately than human specialists.</a:t>
            </a:r>
          </a:p>
          <a:p>
            <a:pPr marL="690879" lvl="1" indent="-345439" algn="just">
              <a:lnSpc>
                <a:spcPts val="4479"/>
              </a:lnSpc>
              <a:buFont typeface="Arial"/>
              <a:buChar char="•"/>
            </a:pPr>
            <a:endParaRPr lang="en-US" sz="3199" dirty="0">
              <a:solidFill>
                <a:srgbClr val="92DCEF"/>
              </a:solidFill>
              <a:latin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E346CC94-FD67-6384-C0EB-183D74FD4242}"/>
              </a:ext>
            </a:extLst>
          </p:cNvPr>
          <p:cNvSpPr txBox="1"/>
          <p:nvPr/>
        </p:nvSpPr>
        <p:spPr>
          <a:xfrm>
            <a:off x="793078" y="923925"/>
            <a:ext cx="17494922" cy="692497"/>
          </a:xfrm>
          <a:prstGeom prst="rect">
            <a:avLst/>
          </a:prstGeom>
        </p:spPr>
        <p:txBody>
          <a:bodyPr lIns="0" tIns="0" rIns="0" bIns="0" rtlCol="0" anchor="t">
            <a:spAutoFit/>
          </a:bodyPr>
          <a:lstStyle/>
          <a:p>
            <a:pPr>
              <a:lnSpc>
                <a:spcPts val="7190"/>
              </a:lnSpc>
            </a:pPr>
            <a:r>
              <a:rPr lang="en-US" sz="4400" dirty="0">
                <a:solidFill>
                  <a:srgbClr val="92DCEF"/>
                </a:solidFill>
                <a:latin typeface="Mokoto"/>
                <a:sym typeface="Canva Sans"/>
              </a:rPr>
              <a:t>Contribution to individuals and society</a:t>
            </a:r>
            <a:endParaRPr lang="en-US" sz="4400" dirty="0">
              <a:solidFill>
                <a:srgbClr val="92DCEF"/>
              </a:solidFill>
              <a:latin typeface="Mokoto"/>
              <a:sym typeface="Mokoto"/>
            </a:endParaRPr>
          </a:p>
        </p:txBody>
      </p:sp>
    </p:spTree>
    <p:extLst>
      <p:ext uri="{BB962C8B-B14F-4D97-AF65-F5344CB8AC3E}">
        <p14:creationId xmlns:p14="http://schemas.microsoft.com/office/powerpoint/2010/main" val="2518495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7F70D193-4489-E552-A5EC-EBCB33F082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4115FA-99AB-A647-4901-59BCCDB3E463}"/>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360447EF-6E08-8F3A-8A91-28A2341CCEF2}"/>
              </a:ext>
            </a:extLst>
          </p:cNvPr>
          <p:cNvSpPr txBox="1"/>
          <p:nvPr/>
        </p:nvSpPr>
        <p:spPr>
          <a:xfrm>
            <a:off x="1258863" y="2781300"/>
            <a:ext cx="16580404" cy="6886629"/>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AI can perform tasks </a:t>
            </a:r>
            <a:r>
              <a:rPr lang="en-US" sz="3199" u="sng" dirty="0">
                <a:solidFill>
                  <a:srgbClr val="92DCEF"/>
                </a:solidFill>
                <a:latin typeface="Canva Sans"/>
                <a:ea typeface="Canva Sans"/>
                <a:cs typeface="Canva Sans"/>
                <a:sym typeface="Canva Sans"/>
              </a:rPr>
              <a:t>while human verify output</a:t>
            </a:r>
            <a:r>
              <a:rPr lang="en-US" sz="3199" dirty="0">
                <a:solidFill>
                  <a:srgbClr val="92DCEF"/>
                </a:solidFill>
                <a:latin typeface="Canva Sans"/>
                <a:ea typeface="Canva Sans"/>
                <a:cs typeface="Canva Sans"/>
                <a:sym typeface="Canva Sans"/>
              </a:rPr>
              <a:t>, set objectives and handle exceptions.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Humanoid robots and advanced AI assistant will become common and integrates in our daily routines.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Industries such as </a:t>
            </a:r>
            <a:r>
              <a:rPr lang="en-US" sz="3199" u="sng" dirty="0">
                <a:solidFill>
                  <a:srgbClr val="92DCEF"/>
                </a:solidFill>
                <a:latin typeface="Canva Sans"/>
                <a:ea typeface="Canva Sans"/>
                <a:cs typeface="Canva Sans"/>
                <a:sym typeface="Canva Sans"/>
              </a:rPr>
              <a:t>cryptography and healthcare </a:t>
            </a:r>
            <a:r>
              <a:rPr lang="en-US" sz="3199" dirty="0">
                <a:solidFill>
                  <a:srgbClr val="92DCEF"/>
                </a:solidFill>
                <a:latin typeface="Canva Sans"/>
                <a:ea typeface="Canva Sans"/>
                <a:cs typeface="Canva Sans"/>
                <a:sym typeface="Canva Sans"/>
              </a:rPr>
              <a:t>will be revolutionized due to advanced computation environments.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Social manipulation using fake data </a:t>
            </a:r>
            <a:r>
              <a:rPr lang="en-US" sz="3199" dirty="0">
                <a:solidFill>
                  <a:srgbClr val="92DCEF"/>
                </a:solidFill>
                <a:latin typeface="Canva Sans"/>
              </a:rPr>
              <a:t>indistinguishable from reality can cause information disorder.</a:t>
            </a:r>
          </a:p>
          <a:p>
            <a:pPr marL="690879" lvl="1" indent="-345439" algn="just">
              <a:lnSpc>
                <a:spcPts val="4479"/>
              </a:lnSpc>
              <a:buFont typeface="Arial"/>
              <a:buChar char="•"/>
            </a:pPr>
            <a:r>
              <a:rPr lang="en-US" sz="3199" dirty="0">
                <a:solidFill>
                  <a:srgbClr val="92DCEF"/>
                </a:solidFill>
                <a:latin typeface="Canva Sans"/>
              </a:rPr>
              <a:t>Brain rot can be caused by overreliance on technologies for creative tasks and decision-making, which erodes critical thinking.</a:t>
            </a:r>
          </a:p>
          <a:p>
            <a:pPr marL="690879" lvl="1" indent="-345439" algn="just">
              <a:lnSpc>
                <a:spcPts val="4479"/>
              </a:lnSpc>
              <a:buFont typeface="Arial"/>
              <a:buChar char="•"/>
            </a:pPr>
            <a:endParaRPr lang="en-US" sz="3199" dirty="0">
              <a:solidFill>
                <a:srgbClr val="92DCEF"/>
              </a:solidFill>
              <a:latin typeface="Canva Sans"/>
              <a:sym typeface="Canva Sans"/>
            </a:endParaRPr>
          </a:p>
          <a:p>
            <a:pPr marL="690879" lvl="1" indent="-345439" algn="just">
              <a:lnSpc>
                <a:spcPts val="4479"/>
              </a:lnSpc>
              <a:buFont typeface="Arial"/>
              <a:buChar char="•"/>
            </a:pPr>
            <a:endParaRPr lang="en-US" sz="3199" dirty="0">
              <a:solidFill>
                <a:srgbClr val="92DCEF"/>
              </a:solidFill>
              <a:latin typeface="Canva Sans"/>
              <a:ea typeface="Canva Sans"/>
              <a:cs typeface="Canva Sans"/>
              <a:sym typeface="Canva Sans"/>
            </a:endParaRPr>
          </a:p>
        </p:txBody>
      </p:sp>
      <p:sp>
        <p:nvSpPr>
          <p:cNvPr id="6" name="TextBox 6">
            <a:extLst>
              <a:ext uri="{FF2B5EF4-FFF2-40B4-BE49-F238E27FC236}">
                <a16:creationId xmlns:a16="http://schemas.microsoft.com/office/drawing/2014/main" id="{C356C822-2C65-170C-B65B-4C3B09D7923C}"/>
              </a:ext>
            </a:extLst>
          </p:cNvPr>
          <p:cNvSpPr txBox="1"/>
          <p:nvPr/>
        </p:nvSpPr>
        <p:spPr>
          <a:xfrm>
            <a:off x="793078" y="923925"/>
            <a:ext cx="17494922" cy="692497"/>
          </a:xfrm>
          <a:prstGeom prst="rect">
            <a:avLst/>
          </a:prstGeom>
        </p:spPr>
        <p:txBody>
          <a:bodyPr lIns="0" tIns="0" rIns="0" bIns="0" rtlCol="0" anchor="t">
            <a:spAutoFit/>
          </a:bodyPr>
          <a:lstStyle/>
          <a:p>
            <a:pPr>
              <a:lnSpc>
                <a:spcPts val="7190"/>
              </a:lnSpc>
            </a:pPr>
            <a:r>
              <a:rPr lang="en-US" sz="5136" dirty="0">
                <a:solidFill>
                  <a:srgbClr val="92DCEF"/>
                </a:solidFill>
                <a:latin typeface="Mokoto"/>
                <a:sym typeface="Canva Sans"/>
              </a:rPr>
              <a:t>Shaping Our Future</a:t>
            </a:r>
            <a:endParaRPr lang="en-US" sz="5136" dirty="0">
              <a:solidFill>
                <a:srgbClr val="92DCEF"/>
              </a:solidFill>
              <a:latin typeface="Mokoto"/>
              <a:sym typeface="Mokoto"/>
            </a:endParaRPr>
          </a:p>
        </p:txBody>
      </p:sp>
    </p:spTree>
    <p:extLst>
      <p:ext uri="{BB962C8B-B14F-4D97-AF65-F5344CB8AC3E}">
        <p14:creationId xmlns:p14="http://schemas.microsoft.com/office/powerpoint/2010/main" val="4029045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363262" y="2488008"/>
            <a:ext cx="16354553" cy="5059045"/>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Set of guiding principles that stakeholders use to ensure AI technology is developed and used responsibly.</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Taking a safe, secure, humane, and environmentally approach to AI.</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Stakeholders:</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Academics.</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Government.</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Intergovernmental entities: UNESCO.</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Non-profit organizations: Black in AI.</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Private companies.</a:t>
            </a:r>
          </a:p>
        </p:txBody>
      </p:sp>
      <p:sp>
        <p:nvSpPr>
          <p:cNvPr id="4" name="TextBox 4"/>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AI ETHICS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9540539" y="2545158"/>
            <a:ext cx="8318864" cy="5532383"/>
          </a:xfrm>
          <a:custGeom>
            <a:avLst/>
            <a:gdLst/>
            <a:ahLst/>
            <a:cxnLst/>
            <a:rect l="l" t="t" r="r" b="b"/>
            <a:pathLst>
              <a:path w="8318864" h="5532383">
                <a:moveTo>
                  <a:pt x="0" y="0"/>
                </a:moveTo>
                <a:lnTo>
                  <a:pt x="8318864" y="0"/>
                </a:lnTo>
                <a:lnTo>
                  <a:pt x="8318864" y="5532383"/>
                </a:lnTo>
                <a:lnTo>
                  <a:pt x="0" y="5532383"/>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1363262" y="2488008"/>
            <a:ext cx="7640530" cy="5595620"/>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Lensa AI app.</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Generate cartoon-like images from regular images.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 Lensa was being trained on billions of photographs sourced from the internet without consent.</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Did not give credit or enough money to artists who created the original digital art the AI was trained on.</a:t>
            </a:r>
          </a:p>
        </p:txBody>
      </p:sp>
      <p:sp>
        <p:nvSpPr>
          <p:cNvPr id="5" name="TextBox 5"/>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ETHICAL DILEMMA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FBBFEFFA-0A46-B0D3-61D5-76516EE918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8DF7A9-CA7A-2A28-5D44-DF90A95C2728}"/>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E5E2AD1D-90CF-31C4-B191-10A6B26623CD}"/>
              </a:ext>
            </a:extLst>
          </p:cNvPr>
          <p:cNvSpPr txBox="1"/>
          <p:nvPr/>
        </p:nvSpPr>
        <p:spPr>
          <a:xfrm>
            <a:off x="1363262" y="2488008"/>
            <a:ext cx="16315138" cy="6309548"/>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rPr>
              <a:t>The ways in which technological advancements, cultural shifts, and political policies aﬀect society as a whole, including individuals, communities, and institutions.</a:t>
            </a:r>
            <a:endParaRPr lang="en-US" sz="3199" dirty="0">
              <a:solidFill>
                <a:srgbClr val="92DCEF"/>
              </a:solidFill>
              <a:latin typeface="Canva Sans"/>
              <a:ea typeface="Canva Sans"/>
              <a:cs typeface="Canva Sans"/>
              <a:sym typeface="Canva Sans"/>
            </a:endParaRP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Myth and fiction around AI:</a:t>
            </a:r>
          </a:p>
          <a:p>
            <a:pPr marL="1381758" lvl="2" indent="-460586" algn="just">
              <a:lnSpc>
                <a:spcPts val="4479"/>
              </a:lnSpc>
              <a:buFont typeface="Arial"/>
              <a:buChar char="⚬"/>
            </a:pPr>
            <a:r>
              <a:rPr lang="en-US" sz="3199" dirty="0">
                <a:solidFill>
                  <a:srgbClr val="92DCEF"/>
                </a:solidFill>
                <a:latin typeface="Canva Sans"/>
                <a:ea typeface="Canva Sans"/>
                <a:cs typeface="Canva Sans"/>
                <a:sym typeface="Canva Sans"/>
              </a:rPr>
              <a:t>absence of human-like cognitive processes.</a:t>
            </a:r>
          </a:p>
          <a:p>
            <a:pPr marL="1381758" lvl="2" indent="-460586" algn="just">
              <a:lnSpc>
                <a:spcPts val="4479"/>
              </a:lnSpc>
              <a:buFont typeface="Arial"/>
              <a:buChar char="⚬"/>
            </a:pPr>
            <a:r>
              <a:rPr lang="en-US" sz="3199" dirty="0">
                <a:solidFill>
                  <a:srgbClr val="92DCEF"/>
                </a:solidFill>
                <a:latin typeface="Canva Sans"/>
                <a:ea typeface="Canva Sans"/>
                <a:cs typeface="Canva Sans"/>
                <a:sym typeface="Canva Sans"/>
              </a:rPr>
              <a:t>logical deduction and critical thinking.</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Social Inequality: unequal distribution of resources, opportunities, and benefits among individuals .</a:t>
            </a:r>
          </a:p>
          <a:p>
            <a:pPr marL="1148079" lvl="2" indent="-345439" algn="just">
              <a:lnSpc>
                <a:spcPts val="4479"/>
              </a:lnSpc>
              <a:buFont typeface="Arial"/>
              <a:buChar char="•"/>
            </a:pPr>
            <a:r>
              <a:rPr lang="en-US" sz="3199" dirty="0" err="1">
                <a:solidFill>
                  <a:srgbClr val="92DCEF"/>
                </a:solidFill>
                <a:latin typeface="Canva Sans"/>
                <a:sym typeface="Canva Sans"/>
              </a:rPr>
              <a:t>Eg.</a:t>
            </a:r>
            <a:r>
              <a:rPr lang="en-US" sz="3199" dirty="0">
                <a:solidFill>
                  <a:srgbClr val="92DCEF"/>
                </a:solidFill>
                <a:latin typeface="Canva Sans"/>
                <a:sym typeface="Canva Sans"/>
              </a:rPr>
              <a:t> </a:t>
            </a:r>
            <a:r>
              <a:rPr lang="en-US" sz="3199" dirty="0">
                <a:solidFill>
                  <a:srgbClr val="92DCEF"/>
                </a:solidFill>
                <a:latin typeface="Canva Sans"/>
              </a:rPr>
              <a:t>AI-powered healthcare systems may not be accessible to people without reliable internet access, which could disproportionately aﬀect low-income communities.</a:t>
            </a:r>
            <a:endParaRPr lang="en-US" sz="3199" dirty="0">
              <a:solidFill>
                <a:srgbClr val="92DCEF"/>
              </a:solidFill>
              <a:latin typeface="Canva Sans"/>
              <a:sym typeface="Canva Sans"/>
            </a:endParaRPr>
          </a:p>
        </p:txBody>
      </p:sp>
      <p:sp>
        <p:nvSpPr>
          <p:cNvPr id="5" name="TextBox 5">
            <a:extLst>
              <a:ext uri="{FF2B5EF4-FFF2-40B4-BE49-F238E27FC236}">
                <a16:creationId xmlns:a16="http://schemas.microsoft.com/office/drawing/2014/main" id="{C3A79E96-C33A-1B09-AD8C-592FC8EEBF2E}"/>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Social implications</a:t>
            </a:r>
          </a:p>
        </p:txBody>
      </p:sp>
    </p:spTree>
    <p:extLst>
      <p:ext uri="{BB962C8B-B14F-4D97-AF65-F5344CB8AC3E}">
        <p14:creationId xmlns:p14="http://schemas.microsoft.com/office/powerpoint/2010/main" val="3270197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273C121C-95C4-D2EF-A749-EE9408C7EFD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0971D4-E4B4-D817-1604-0B29DDC58627}"/>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738486BE-1112-DCB9-365D-3AE137D24E61}"/>
              </a:ext>
            </a:extLst>
          </p:cNvPr>
          <p:cNvSpPr txBox="1"/>
          <p:nvPr/>
        </p:nvSpPr>
        <p:spPr>
          <a:xfrm>
            <a:off x="1382970" y="3467100"/>
            <a:ext cx="16315138" cy="4001224"/>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rPr>
              <a:t>Adversarial attacks: fool AI models to make incorrect decisions by manipulating data.</a:t>
            </a:r>
          </a:p>
          <a:p>
            <a:pPr marL="690879" lvl="1" indent="-345439" algn="just">
              <a:lnSpc>
                <a:spcPts val="4479"/>
              </a:lnSpc>
              <a:buFont typeface="Arial"/>
              <a:buChar char="•"/>
            </a:pPr>
            <a:r>
              <a:rPr lang="en-US" sz="3199" dirty="0">
                <a:solidFill>
                  <a:srgbClr val="92DCEF"/>
                </a:solidFill>
                <a:latin typeface="Canva Sans"/>
                <a:sym typeface="Canva Sans"/>
              </a:rPr>
              <a:t>Malicious use of AI: using AI for unethical objectives such as automating social engineering, and targeted phishing emails.</a:t>
            </a:r>
          </a:p>
          <a:p>
            <a:pPr marL="690879" lvl="1" indent="-345439" algn="just">
              <a:lnSpc>
                <a:spcPts val="4479"/>
              </a:lnSpc>
              <a:buFont typeface="Arial"/>
              <a:buChar char="•"/>
            </a:pPr>
            <a:r>
              <a:rPr lang="en-US" sz="3199" dirty="0">
                <a:solidFill>
                  <a:srgbClr val="92DCEF"/>
                </a:solidFill>
                <a:latin typeface="Canva Sans"/>
                <a:sym typeface="Canva Sans"/>
              </a:rPr>
              <a:t>Excessive agency: happens when AI system is granted high number of </a:t>
            </a:r>
            <a:r>
              <a:rPr lang="en-US" sz="3199" u="sng" dirty="0">
                <a:solidFill>
                  <a:srgbClr val="92DCEF"/>
                </a:solidFill>
                <a:latin typeface="Canva Sans"/>
                <a:sym typeface="Canva Sans"/>
              </a:rPr>
              <a:t>unnecessary functionality </a:t>
            </a:r>
            <a:r>
              <a:rPr lang="en-US" sz="3199" dirty="0">
                <a:solidFill>
                  <a:srgbClr val="92DCEF"/>
                </a:solidFill>
                <a:latin typeface="Canva Sans"/>
                <a:sym typeface="Canva Sans"/>
              </a:rPr>
              <a:t>and its actions is not oversighted leading harmful unintended actions such as unauthorized deletion.</a:t>
            </a:r>
          </a:p>
        </p:txBody>
      </p:sp>
      <p:sp>
        <p:nvSpPr>
          <p:cNvPr id="5" name="TextBox 5">
            <a:extLst>
              <a:ext uri="{FF2B5EF4-FFF2-40B4-BE49-F238E27FC236}">
                <a16:creationId xmlns:a16="http://schemas.microsoft.com/office/drawing/2014/main" id="{6E467FCD-E69F-8443-93B3-100838C05574}"/>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Security risks</a:t>
            </a:r>
          </a:p>
        </p:txBody>
      </p:sp>
    </p:spTree>
    <p:extLst>
      <p:ext uri="{BB962C8B-B14F-4D97-AF65-F5344CB8AC3E}">
        <p14:creationId xmlns:p14="http://schemas.microsoft.com/office/powerpoint/2010/main" val="3706813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A6919242-5141-F012-71C6-A7AD672993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9F3277-EF48-0A44-EA4B-66941BEC1862}"/>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0CD82644-580D-9E5D-A506-60F19EF9E0FA}"/>
              </a:ext>
            </a:extLst>
          </p:cNvPr>
          <p:cNvSpPr txBox="1"/>
          <p:nvPr/>
        </p:nvSpPr>
        <p:spPr>
          <a:xfrm>
            <a:off x="1382970" y="3467100"/>
            <a:ext cx="16315138" cy="3424142"/>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rPr>
              <a:t>Malicious use of personal data: publicly available data (such as on social media) can be analyzed and used for phishing or social engineering attacks.</a:t>
            </a:r>
          </a:p>
          <a:p>
            <a:pPr marL="690879" lvl="1" indent="-345439" algn="just">
              <a:lnSpc>
                <a:spcPts val="4479"/>
              </a:lnSpc>
              <a:buFont typeface="Arial"/>
              <a:buChar char="•"/>
            </a:pPr>
            <a:r>
              <a:rPr lang="en-US" sz="3199" dirty="0">
                <a:solidFill>
                  <a:srgbClr val="92DCEF"/>
                </a:solidFill>
                <a:latin typeface="Canva Sans"/>
                <a:sym typeface="Canva Sans"/>
              </a:rPr>
              <a:t>Authentication bypass: AI can be used to break security measures by generating complex attacks or simply guessing passwords.</a:t>
            </a:r>
          </a:p>
          <a:p>
            <a:pPr marL="690879" lvl="1" indent="-345439" algn="just">
              <a:lnSpc>
                <a:spcPts val="4479"/>
              </a:lnSpc>
              <a:buFont typeface="Arial"/>
              <a:buChar char="•"/>
            </a:pPr>
            <a:r>
              <a:rPr lang="en-US" sz="3199" dirty="0">
                <a:solidFill>
                  <a:srgbClr val="92DCEF"/>
                </a:solidFill>
                <a:latin typeface="Canva Sans"/>
                <a:sym typeface="Canva Sans"/>
              </a:rPr>
              <a:t>Privacy violation: sensitive data given to public AI applications can be used by these applications and therefore extracted by other users.</a:t>
            </a:r>
          </a:p>
        </p:txBody>
      </p:sp>
      <p:sp>
        <p:nvSpPr>
          <p:cNvPr id="5" name="TextBox 5">
            <a:extLst>
              <a:ext uri="{FF2B5EF4-FFF2-40B4-BE49-F238E27FC236}">
                <a16:creationId xmlns:a16="http://schemas.microsoft.com/office/drawing/2014/main" id="{D16DFE37-8286-B2BD-26B7-F1632858FE79}"/>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Security risks to users </a:t>
            </a:r>
          </a:p>
        </p:txBody>
      </p:sp>
    </p:spTree>
    <p:extLst>
      <p:ext uri="{BB962C8B-B14F-4D97-AF65-F5344CB8AC3E}">
        <p14:creationId xmlns:p14="http://schemas.microsoft.com/office/powerpoint/2010/main" val="1644903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A875B919-F975-B337-991B-C545DA726DD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C8DEDE-E68A-D22F-0EDE-86EFB1823087}"/>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445873E4-485E-74B0-1657-70467456254D}"/>
              </a:ext>
            </a:extLst>
          </p:cNvPr>
          <p:cNvSpPr txBox="1"/>
          <p:nvPr/>
        </p:nvSpPr>
        <p:spPr>
          <a:xfrm>
            <a:off x="1382970" y="3467100"/>
            <a:ext cx="16315138" cy="2269980"/>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sym typeface="Canva Sans"/>
              </a:rPr>
              <a:t>Employees can be targeted through malicious attacks to hack the organization systems.</a:t>
            </a:r>
          </a:p>
          <a:p>
            <a:pPr marL="690879" lvl="1" indent="-345439" algn="just">
              <a:lnSpc>
                <a:spcPts val="4479"/>
              </a:lnSpc>
              <a:buFont typeface="Arial"/>
              <a:buChar char="•"/>
            </a:pPr>
            <a:r>
              <a:rPr lang="en-US" sz="3199" dirty="0">
                <a:solidFill>
                  <a:srgbClr val="92DCEF"/>
                </a:solidFill>
                <a:latin typeface="Canva Sans"/>
                <a:sym typeface="Canva Sans"/>
              </a:rPr>
              <a:t>Confidential information can be leaked and unintended actions can be executed to harm the company by hacking into its AI systems.</a:t>
            </a:r>
          </a:p>
        </p:txBody>
      </p:sp>
      <p:sp>
        <p:nvSpPr>
          <p:cNvPr id="5" name="TextBox 5">
            <a:extLst>
              <a:ext uri="{FF2B5EF4-FFF2-40B4-BE49-F238E27FC236}">
                <a16:creationId xmlns:a16="http://schemas.microsoft.com/office/drawing/2014/main" id="{72726D6B-CB5A-4BEF-84EB-102E63BCB124}"/>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Security risks to organizations </a:t>
            </a:r>
          </a:p>
        </p:txBody>
      </p:sp>
    </p:spTree>
    <p:extLst>
      <p:ext uri="{BB962C8B-B14F-4D97-AF65-F5344CB8AC3E}">
        <p14:creationId xmlns:p14="http://schemas.microsoft.com/office/powerpoint/2010/main" val="2241972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a:extLst>
            <a:ext uri="{FF2B5EF4-FFF2-40B4-BE49-F238E27FC236}">
              <a16:creationId xmlns:a16="http://schemas.microsoft.com/office/drawing/2014/main" id="{0030E618-4415-B719-9406-41C31C4AD3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31E77D1-3153-9467-E64A-AD7D3270807A}"/>
              </a:ext>
            </a:extLst>
          </p:cNvPr>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1F6C28B4-69CD-403A-AD33-63D57CD3B443}"/>
              </a:ext>
            </a:extLst>
          </p:cNvPr>
          <p:cNvSpPr txBox="1"/>
          <p:nvPr/>
        </p:nvSpPr>
        <p:spPr>
          <a:xfrm>
            <a:off x="1382970" y="3467100"/>
            <a:ext cx="16315138" cy="2269980"/>
          </a:xfrm>
          <a:prstGeom prst="rect">
            <a:avLst/>
          </a:prstGeom>
        </p:spPr>
        <p:txBody>
          <a:bodyPr wrap="square"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sym typeface="Canva Sans"/>
              </a:rPr>
              <a:t>Establish AI asset inventory to identify all AI tools used within the organization.</a:t>
            </a:r>
          </a:p>
          <a:p>
            <a:pPr marL="690879" lvl="1" indent="-345439" algn="just">
              <a:lnSpc>
                <a:spcPts val="4479"/>
              </a:lnSpc>
              <a:buFont typeface="Arial"/>
              <a:buChar char="•"/>
            </a:pPr>
            <a:r>
              <a:rPr lang="en-US" sz="3199" dirty="0">
                <a:solidFill>
                  <a:srgbClr val="92DCEF"/>
                </a:solidFill>
                <a:latin typeface="Canva Sans"/>
                <a:sym typeface="Canva Sans"/>
              </a:rPr>
              <a:t>Employees training on the risks of sharing sensitive data with external AI applications.</a:t>
            </a:r>
          </a:p>
          <a:p>
            <a:pPr marL="690879" lvl="1" indent="-345439" algn="just">
              <a:lnSpc>
                <a:spcPts val="4479"/>
              </a:lnSpc>
              <a:buFont typeface="Arial"/>
              <a:buChar char="•"/>
            </a:pPr>
            <a:r>
              <a:rPr lang="en-US" sz="3199" dirty="0">
                <a:solidFill>
                  <a:srgbClr val="92DCEF"/>
                </a:solidFill>
                <a:latin typeface="Canva Sans"/>
                <a:sym typeface="Canva Sans"/>
              </a:rPr>
              <a:t>Adopt specialized AI security tools to detect anomalies and potential attacks.</a:t>
            </a:r>
          </a:p>
        </p:txBody>
      </p:sp>
      <p:sp>
        <p:nvSpPr>
          <p:cNvPr id="5" name="TextBox 5">
            <a:extLst>
              <a:ext uri="{FF2B5EF4-FFF2-40B4-BE49-F238E27FC236}">
                <a16:creationId xmlns:a16="http://schemas.microsoft.com/office/drawing/2014/main" id="{1F82020B-2D4E-5DDB-A535-FFF22A50F710}"/>
              </a:ext>
            </a:extLst>
          </p:cNvPr>
          <p:cNvSpPr txBox="1"/>
          <p:nvPr/>
        </p:nvSpPr>
        <p:spPr>
          <a:xfrm>
            <a:off x="793078" y="923925"/>
            <a:ext cx="17494922" cy="692497"/>
          </a:xfrm>
          <a:prstGeom prst="rect">
            <a:avLst/>
          </a:prstGeom>
        </p:spPr>
        <p:txBody>
          <a:bodyPr lIns="0" tIns="0" rIns="0" bIns="0" rtlCol="0" anchor="t">
            <a:spAutoFit/>
          </a:bodyPr>
          <a:lstStyle/>
          <a:p>
            <a:pPr algn="l">
              <a:lnSpc>
                <a:spcPts val="7190"/>
              </a:lnSpc>
            </a:pPr>
            <a:r>
              <a:rPr lang="en-US" sz="5136" dirty="0">
                <a:solidFill>
                  <a:srgbClr val="92DCEF"/>
                </a:solidFill>
                <a:latin typeface="Mokoto"/>
                <a:ea typeface="Mokoto"/>
                <a:cs typeface="Mokoto"/>
                <a:sym typeface="Mokoto"/>
              </a:rPr>
              <a:t>Mitigation strategies</a:t>
            </a:r>
          </a:p>
        </p:txBody>
      </p:sp>
    </p:spTree>
    <p:extLst>
      <p:ext uri="{BB962C8B-B14F-4D97-AF65-F5344CB8AC3E}">
        <p14:creationId xmlns:p14="http://schemas.microsoft.com/office/powerpoint/2010/main" val="3158619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793078" y="3147253"/>
            <a:ext cx="9068719" cy="3909695"/>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Survey done by British Standard Institution (BSI).</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Oct. 2023.</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10,000 people in 9 countries.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61% of people want international guidelines to enable safe use of AI.</a:t>
            </a:r>
          </a:p>
          <a:p>
            <a:pPr algn="just">
              <a:lnSpc>
                <a:spcPts val="4479"/>
              </a:lnSpc>
            </a:pPr>
            <a:endParaRPr lang="en-US" sz="3199">
              <a:solidFill>
                <a:srgbClr val="92DCEF"/>
              </a:solidFill>
              <a:latin typeface="Canva Sans"/>
              <a:ea typeface="Canva Sans"/>
              <a:cs typeface="Canva Sans"/>
              <a:sym typeface="Canva Sans"/>
            </a:endParaRPr>
          </a:p>
        </p:txBody>
      </p:sp>
      <p:sp>
        <p:nvSpPr>
          <p:cNvPr id="4" name="TextBox 4"/>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CONCERN ON AI ETHICS AND SAFETY</a:t>
            </a:r>
          </a:p>
        </p:txBody>
      </p:sp>
      <p:sp>
        <p:nvSpPr>
          <p:cNvPr id="5" name="Freeform 5"/>
          <p:cNvSpPr/>
          <p:nvPr/>
        </p:nvSpPr>
        <p:spPr>
          <a:xfrm>
            <a:off x="10720347" y="2008631"/>
            <a:ext cx="7105718" cy="7105718"/>
          </a:xfrm>
          <a:custGeom>
            <a:avLst/>
            <a:gdLst/>
            <a:ahLst/>
            <a:cxnLst/>
            <a:rect l="l" t="t" r="r" b="b"/>
            <a:pathLst>
              <a:path w="7105718" h="7105718">
                <a:moveTo>
                  <a:pt x="0" y="0"/>
                </a:moveTo>
                <a:lnTo>
                  <a:pt x="7105718" y="0"/>
                </a:lnTo>
                <a:lnTo>
                  <a:pt x="7105718" y="7105717"/>
                </a:lnTo>
                <a:lnTo>
                  <a:pt x="0" y="7105717"/>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250396" y="2879090"/>
            <a:ext cx="8861735" cy="4471670"/>
          </a:xfrm>
          <a:prstGeom prst="rect">
            <a:avLst/>
          </a:prstGeom>
        </p:spPr>
        <p:txBody>
          <a:bodyPr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EU AI Act: first regulation on AI.</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US: Developed new regulatory authorities to address risks posed by AI.</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G7: Agreed on Hiroshima AI Process Comprehensive Policy Framework. </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Japan: Established AI Safety Institute (AISI). </a:t>
            </a:r>
          </a:p>
          <a:p>
            <a:pPr algn="just">
              <a:lnSpc>
                <a:spcPts val="4479"/>
              </a:lnSpc>
            </a:pPr>
            <a:endParaRPr lang="en-US" sz="3199" dirty="0">
              <a:solidFill>
                <a:srgbClr val="92DCEF"/>
              </a:solidFill>
              <a:latin typeface="Canva Sans"/>
              <a:ea typeface="Canva Sans"/>
              <a:cs typeface="Canva Sans"/>
              <a:sym typeface="Canva Sans"/>
            </a:endParaRPr>
          </a:p>
        </p:txBody>
      </p:sp>
      <p:sp>
        <p:nvSpPr>
          <p:cNvPr id="4" name="TextBox 4"/>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AI REGULATIONS</a:t>
            </a:r>
          </a:p>
        </p:txBody>
      </p:sp>
      <p:sp>
        <p:nvSpPr>
          <p:cNvPr id="5" name="Freeform 5"/>
          <p:cNvSpPr/>
          <p:nvPr/>
        </p:nvSpPr>
        <p:spPr>
          <a:xfrm>
            <a:off x="10512184" y="2297471"/>
            <a:ext cx="6960829" cy="6960829"/>
          </a:xfrm>
          <a:custGeom>
            <a:avLst/>
            <a:gdLst/>
            <a:ahLst/>
            <a:cxnLst/>
            <a:rect l="l" t="t" r="r" b="b"/>
            <a:pathLst>
              <a:path w="6960829" h="6960829">
                <a:moveTo>
                  <a:pt x="0" y="0"/>
                </a:moveTo>
                <a:lnTo>
                  <a:pt x="6960829" y="0"/>
                </a:lnTo>
                <a:lnTo>
                  <a:pt x="6960829" y="6960829"/>
                </a:lnTo>
                <a:lnTo>
                  <a:pt x="0" y="6960829"/>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3" name="Table 3"/>
          <p:cNvGraphicFramePr>
            <a:graphicFrameLocks noGrp="1"/>
          </p:cNvGraphicFramePr>
          <p:nvPr/>
        </p:nvGraphicFramePr>
        <p:xfrm>
          <a:off x="7241219" y="1028700"/>
          <a:ext cx="10659732" cy="8691942"/>
        </p:xfrm>
        <a:graphic>
          <a:graphicData uri="http://schemas.openxmlformats.org/drawingml/2006/table">
            <a:tbl>
              <a:tblPr/>
              <a:tblGrid>
                <a:gridCol w="3553244">
                  <a:extLst>
                    <a:ext uri="{9D8B030D-6E8A-4147-A177-3AD203B41FA5}">
                      <a16:colId xmlns:a16="http://schemas.microsoft.com/office/drawing/2014/main" val="20000"/>
                    </a:ext>
                  </a:extLst>
                </a:gridCol>
                <a:gridCol w="3553244">
                  <a:extLst>
                    <a:ext uri="{9D8B030D-6E8A-4147-A177-3AD203B41FA5}">
                      <a16:colId xmlns:a16="http://schemas.microsoft.com/office/drawing/2014/main" val="20001"/>
                    </a:ext>
                  </a:extLst>
                </a:gridCol>
                <a:gridCol w="3553244">
                  <a:extLst>
                    <a:ext uri="{9D8B030D-6E8A-4147-A177-3AD203B41FA5}">
                      <a16:colId xmlns:a16="http://schemas.microsoft.com/office/drawing/2014/main" val="20002"/>
                    </a:ext>
                  </a:extLst>
                </a:gridCol>
              </a:tblGrid>
              <a:tr h="1448657">
                <a:tc>
                  <a:txBody>
                    <a:bodyPr/>
                    <a:lstStyle/>
                    <a:p>
                      <a:pPr algn="ctr">
                        <a:lnSpc>
                          <a:spcPts val="3219"/>
                        </a:lnSpc>
                        <a:defRPr/>
                      </a:pPr>
                      <a:r>
                        <a:rPr lang="en-US" sz="2299" b="1">
                          <a:solidFill>
                            <a:srgbClr val="FFFFFF"/>
                          </a:solidFill>
                          <a:latin typeface="Open Sans Bold"/>
                          <a:ea typeface="Open Sans Bold"/>
                          <a:cs typeface="Open Sans Bold"/>
                          <a:sym typeface="Open Sans Bold"/>
                        </a:rPr>
                        <a:t>Risk level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Open Sans Bold"/>
                          <a:ea typeface="Open Sans Bold"/>
                          <a:cs typeface="Open Sans Bold"/>
                          <a:sym typeface="Open Sans Bold"/>
                        </a:rPr>
                        <a:t>Use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Open Sans Bold"/>
                          <a:ea typeface="Open Sans Bold"/>
                          <a:cs typeface="Open Sans Bold"/>
                          <a:sym typeface="Open Sans Bold"/>
                        </a:rPr>
                        <a:t>Example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448657">
                <a:tc>
                  <a:txBody>
                    <a:bodyPr/>
                    <a:lstStyle/>
                    <a:p>
                      <a:pPr algn="ctr">
                        <a:lnSpc>
                          <a:spcPts val="3219"/>
                        </a:lnSpc>
                        <a:defRPr/>
                      </a:pPr>
                      <a:r>
                        <a:rPr lang="en-US" sz="2299">
                          <a:solidFill>
                            <a:srgbClr val="FFFFFF"/>
                          </a:solidFill>
                          <a:latin typeface="Open Sans"/>
                          <a:ea typeface="Open Sans"/>
                          <a:cs typeface="Open Sans"/>
                          <a:sym typeface="Open Sans"/>
                        </a:rPr>
                        <a:t>Unacceptable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Prohibited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Manipulation of subconscious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448657">
                <a:tc>
                  <a:txBody>
                    <a:bodyPr/>
                    <a:lstStyle/>
                    <a:p>
                      <a:pPr algn="ctr">
                        <a:lnSpc>
                          <a:spcPts val="3219"/>
                        </a:lnSpc>
                        <a:defRPr/>
                      </a:pPr>
                      <a:r>
                        <a:rPr lang="en-US" sz="2299">
                          <a:solidFill>
                            <a:srgbClr val="FFFFFF"/>
                          </a:solidFill>
                          <a:latin typeface="Open Sans"/>
                          <a:ea typeface="Open Sans"/>
                          <a:cs typeface="Open Sans"/>
                          <a:sym typeface="Open Sans"/>
                        </a:rPr>
                        <a:t>High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Regulated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Medical equipment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448657">
                <a:tc>
                  <a:txBody>
                    <a:bodyPr/>
                    <a:lstStyle/>
                    <a:p>
                      <a:pPr algn="ctr">
                        <a:lnSpc>
                          <a:spcPts val="3219"/>
                        </a:lnSpc>
                        <a:defRPr/>
                      </a:pPr>
                      <a:r>
                        <a:rPr lang="en-US" sz="2299">
                          <a:solidFill>
                            <a:srgbClr val="FFFFFF"/>
                          </a:solidFill>
                          <a:latin typeface="Open Sans"/>
                          <a:ea typeface="Open Sans"/>
                          <a:cs typeface="Open Sans"/>
                          <a:sym typeface="Open Sans"/>
                        </a:rPr>
                        <a:t>General Purpose AI (GPAI)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Transparency requirements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Large Language Model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448657">
                <a:tc>
                  <a:txBody>
                    <a:bodyPr/>
                    <a:lstStyle/>
                    <a:p>
                      <a:pPr algn="ctr">
                        <a:lnSpc>
                          <a:spcPts val="3219"/>
                        </a:lnSpc>
                        <a:defRPr/>
                      </a:pPr>
                      <a:r>
                        <a:rPr lang="en-US" sz="2299">
                          <a:solidFill>
                            <a:srgbClr val="FFFFFF"/>
                          </a:solidFill>
                          <a:latin typeface="Open Sans"/>
                          <a:ea typeface="Open Sans"/>
                          <a:cs typeface="Open Sans"/>
                          <a:sym typeface="Open Sans"/>
                        </a:rPr>
                        <a:t>Limited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Lighter transparency obligations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Deep fakes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448657">
                <a:tc>
                  <a:txBody>
                    <a:bodyPr/>
                    <a:lstStyle/>
                    <a:p>
                      <a:pPr algn="ctr">
                        <a:lnSpc>
                          <a:spcPts val="3219"/>
                        </a:lnSpc>
                        <a:defRPr/>
                      </a:pPr>
                      <a:r>
                        <a:rPr lang="en-US" sz="2299">
                          <a:solidFill>
                            <a:srgbClr val="FFFFFF"/>
                          </a:solidFill>
                          <a:latin typeface="Open Sans"/>
                          <a:ea typeface="Open Sans"/>
                          <a:cs typeface="Open Sans"/>
                          <a:sym typeface="Open Sans"/>
                        </a:rPr>
                        <a:t>Minimal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Open Sans"/>
                          <a:ea typeface="Open Sans"/>
                          <a:cs typeface="Open Sans"/>
                          <a:sym typeface="Open Sans"/>
                        </a:rPr>
                        <a:t>Unregulated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Box 4"/>
          <p:cNvSpPr txBox="1"/>
          <p:nvPr/>
        </p:nvSpPr>
        <p:spPr>
          <a:xfrm>
            <a:off x="350954" y="3390900"/>
            <a:ext cx="6419325" cy="3202287"/>
          </a:xfrm>
          <a:prstGeom prst="rect">
            <a:avLst/>
          </a:prstGeom>
        </p:spPr>
        <p:txBody>
          <a:bodyPr lIns="0" tIns="0" rIns="0" bIns="0" rtlCol="0" anchor="t">
            <a:spAutoFit/>
          </a:bodyPr>
          <a:lstStyle/>
          <a:p>
            <a:pPr marL="561342" lvl="1" indent="-280671" algn="just">
              <a:lnSpc>
                <a:spcPts val="3640"/>
              </a:lnSpc>
              <a:buFont typeface="Arial"/>
              <a:buChar char="•"/>
            </a:pPr>
            <a:r>
              <a:rPr lang="en-US" sz="2600" dirty="0">
                <a:solidFill>
                  <a:srgbClr val="92DCEF"/>
                </a:solidFill>
                <a:latin typeface="Canva Sans"/>
                <a:ea typeface="Canva Sans"/>
                <a:cs typeface="Canva Sans"/>
                <a:sym typeface="Canva Sans"/>
              </a:rPr>
              <a:t>Different regulations for each risk level.</a:t>
            </a:r>
          </a:p>
          <a:p>
            <a:pPr marL="561342" lvl="1" indent="-280671" algn="just">
              <a:lnSpc>
                <a:spcPts val="3640"/>
              </a:lnSpc>
              <a:buFont typeface="Arial"/>
              <a:buChar char="•"/>
            </a:pPr>
            <a:r>
              <a:rPr lang="en-US" sz="2600" dirty="0">
                <a:solidFill>
                  <a:srgbClr val="92DCEF"/>
                </a:solidFill>
                <a:latin typeface="Canva Sans"/>
                <a:ea typeface="Canva Sans"/>
                <a:cs typeface="Canva Sans"/>
                <a:sym typeface="Canva Sans"/>
              </a:rPr>
              <a:t>Penalty of violations:</a:t>
            </a:r>
          </a:p>
          <a:p>
            <a:pPr marL="1122684" lvl="2" indent="-374228" algn="just">
              <a:lnSpc>
                <a:spcPts val="3640"/>
              </a:lnSpc>
              <a:buFont typeface="Arial"/>
              <a:buChar char="⚬"/>
            </a:pPr>
            <a:r>
              <a:rPr lang="en-US" sz="2600" dirty="0">
                <a:solidFill>
                  <a:srgbClr val="92DCEF"/>
                </a:solidFill>
                <a:latin typeface="Canva Sans"/>
                <a:ea typeface="Canva Sans"/>
                <a:cs typeface="Canva Sans"/>
                <a:sym typeface="Canva Sans"/>
              </a:rPr>
              <a:t>Up to 35 Million Euros or 7% of worldwide sales.</a:t>
            </a:r>
          </a:p>
          <a:p>
            <a:pPr marL="1122684" lvl="2" indent="-374228" algn="just">
              <a:lnSpc>
                <a:spcPts val="3640"/>
              </a:lnSpc>
              <a:buFont typeface="Arial"/>
              <a:buChar char="⚬"/>
            </a:pPr>
            <a:r>
              <a:rPr lang="en-US" sz="2600" dirty="0">
                <a:solidFill>
                  <a:srgbClr val="92DCEF"/>
                </a:solidFill>
                <a:latin typeface="Canva Sans"/>
                <a:ea typeface="Canva Sans"/>
                <a:cs typeface="Canva Sans"/>
                <a:sym typeface="Canva Sans"/>
              </a:rPr>
              <a:t>Corrective actions such as forced withdrawal of AI systems.</a:t>
            </a:r>
          </a:p>
        </p:txBody>
      </p:sp>
      <p:sp>
        <p:nvSpPr>
          <p:cNvPr id="5" name="TextBox 5"/>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EU AI ACT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2170651" y="2115689"/>
            <a:ext cx="15899189" cy="7843520"/>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Fairness: ensure equitable outcomes for all individuals.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Reliability and safety: ensure that AI systems function as intended and do not pose risks to individuals or society.</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Privacy and security: safeguard individuals' data and protect against potential threats or breaches.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Inclusiveness: ensure that AI technologies are accessible and beneficial to all individuals, regardless of their backgrounds, abilities, or circumstances.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Transparency: openness, accountability, and clarity in the development and deployment of AI technologies.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Accountability: establishing mechanisms to ensure that AI systems operate ethically, transparently, and in alignment with regulatory requirements and societal expectations.</a:t>
            </a:r>
          </a:p>
          <a:p>
            <a:pPr algn="just">
              <a:lnSpc>
                <a:spcPts val="4479"/>
              </a:lnSpc>
            </a:pPr>
            <a:endParaRPr lang="en-US" sz="3199">
              <a:solidFill>
                <a:srgbClr val="92DCEF"/>
              </a:solidFill>
              <a:latin typeface="Canva Sans"/>
              <a:ea typeface="Canva Sans"/>
              <a:cs typeface="Canva Sans"/>
              <a:sym typeface="Canva Sans"/>
            </a:endParaRPr>
          </a:p>
          <a:p>
            <a:pPr algn="just">
              <a:lnSpc>
                <a:spcPts val="4479"/>
              </a:lnSpc>
            </a:pPr>
            <a:endParaRPr lang="en-US" sz="3199">
              <a:solidFill>
                <a:srgbClr val="92DCEF"/>
              </a:solidFill>
              <a:latin typeface="Canva Sans"/>
              <a:ea typeface="Canva Sans"/>
              <a:cs typeface="Canva Sans"/>
              <a:sym typeface="Canva Sans"/>
            </a:endParaRPr>
          </a:p>
        </p:txBody>
      </p:sp>
      <p:sp>
        <p:nvSpPr>
          <p:cNvPr id="4" name="TextBox 4"/>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MICROSOFT RESPONSIBLE AI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606639" y="3467100"/>
            <a:ext cx="8344275" cy="4001224"/>
          </a:xfrm>
          <a:prstGeom prst="rect">
            <a:avLst/>
          </a:prstGeom>
        </p:spPr>
        <p:txBody>
          <a:bodyPr lIns="0" tIns="0" rIns="0" bIns="0" rtlCol="0" anchor="t">
            <a:spAutoFit/>
          </a:bodyPr>
          <a:lstStyle/>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Technical challenges</a:t>
            </a:r>
          </a:p>
          <a:p>
            <a:pPr marL="1381758" lvl="2" indent="-460586" algn="just">
              <a:lnSpc>
                <a:spcPts val="4479"/>
              </a:lnSpc>
              <a:buFont typeface="Arial"/>
              <a:buChar char="⚬"/>
            </a:pPr>
            <a:r>
              <a:rPr lang="en-US" sz="3199" dirty="0">
                <a:solidFill>
                  <a:srgbClr val="92DCEF"/>
                </a:solidFill>
                <a:latin typeface="Canva Sans"/>
                <a:ea typeface="Canva Sans"/>
                <a:cs typeface="Canva Sans"/>
                <a:sym typeface="Canva Sans"/>
              </a:rPr>
              <a:t>data wall.</a:t>
            </a:r>
          </a:p>
          <a:p>
            <a:pPr marL="1381758" lvl="2" indent="-460586" algn="just">
              <a:lnSpc>
                <a:spcPts val="4479"/>
              </a:lnSpc>
              <a:buFont typeface="Arial"/>
              <a:buChar char="⚬"/>
            </a:pPr>
            <a:r>
              <a:rPr lang="en-US" sz="3199" dirty="0">
                <a:solidFill>
                  <a:srgbClr val="92DCEF"/>
                </a:solidFill>
                <a:latin typeface="Canva Sans"/>
                <a:ea typeface="Canva Sans"/>
                <a:cs typeface="Canva Sans"/>
                <a:sym typeface="Canva Sans"/>
              </a:rPr>
              <a:t>data quality and bias.</a:t>
            </a:r>
          </a:p>
          <a:p>
            <a:pPr marL="690879" lvl="1" indent="-345439" algn="just">
              <a:lnSpc>
                <a:spcPts val="4479"/>
              </a:lnSpc>
              <a:buFont typeface="Arial"/>
              <a:buChar char="•"/>
            </a:pPr>
            <a:r>
              <a:rPr lang="en-US" sz="3199" dirty="0">
                <a:solidFill>
                  <a:srgbClr val="92DCEF"/>
                </a:solidFill>
                <a:latin typeface="Canva Sans"/>
                <a:ea typeface="Canva Sans"/>
                <a:cs typeface="Canva Sans"/>
                <a:sym typeface="Canva Sans"/>
              </a:rPr>
              <a:t>The environmental footprint of AI:</a:t>
            </a:r>
          </a:p>
          <a:p>
            <a:pPr marL="1381758" lvl="2" indent="-460586" algn="just">
              <a:lnSpc>
                <a:spcPts val="4479"/>
              </a:lnSpc>
              <a:buFont typeface="Arial"/>
              <a:buChar char="⚬"/>
            </a:pPr>
            <a:r>
              <a:rPr lang="en-US" sz="3199" dirty="0">
                <a:solidFill>
                  <a:srgbClr val="92DCEF"/>
                </a:solidFill>
                <a:latin typeface="Canva Sans"/>
                <a:ea typeface="Canva Sans"/>
                <a:cs typeface="Canva Sans"/>
                <a:sym typeface="Canva Sans"/>
              </a:rPr>
              <a:t>carbon impact of AI.</a:t>
            </a:r>
          </a:p>
          <a:p>
            <a:pPr algn="just">
              <a:lnSpc>
                <a:spcPts val="4479"/>
              </a:lnSpc>
            </a:pPr>
            <a:endParaRPr lang="en-US" sz="3199" dirty="0">
              <a:solidFill>
                <a:srgbClr val="92DCEF"/>
              </a:solidFill>
              <a:latin typeface="Canva Sans"/>
              <a:ea typeface="Canva Sans"/>
              <a:cs typeface="Canva Sans"/>
              <a:sym typeface="Canva Sans"/>
            </a:endParaRPr>
          </a:p>
          <a:p>
            <a:pPr algn="just">
              <a:lnSpc>
                <a:spcPts val="4479"/>
              </a:lnSpc>
            </a:pPr>
            <a:endParaRPr lang="en-US" sz="3199" dirty="0">
              <a:solidFill>
                <a:srgbClr val="92DCEF"/>
              </a:solidFill>
              <a:latin typeface="Canva Sans"/>
              <a:ea typeface="Canva Sans"/>
              <a:cs typeface="Canva Sans"/>
              <a:sym typeface="Canva Sans"/>
            </a:endParaRPr>
          </a:p>
        </p:txBody>
      </p:sp>
      <p:sp>
        <p:nvSpPr>
          <p:cNvPr id="4" name="Freeform 4"/>
          <p:cNvSpPr/>
          <p:nvPr/>
        </p:nvSpPr>
        <p:spPr>
          <a:xfrm>
            <a:off x="8967847" y="2669349"/>
            <a:ext cx="9320153" cy="5236741"/>
          </a:xfrm>
          <a:custGeom>
            <a:avLst/>
            <a:gdLst/>
            <a:ahLst/>
            <a:cxnLst/>
            <a:rect l="l" t="t" r="r" b="b"/>
            <a:pathLst>
              <a:path w="9320153" h="5236741">
                <a:moveTo>
                  <a:pt x="0" y="0"/>
                </a:moveTo>
                <a:lnTo>
                  <a:pt x="9320153" y="0"/>
                </a:lnTo>
                <a:lnTo>
                  <a:pt x="9320153" y="5236741"/>
                </a:lnTo>
                <a:lnTo>
                  <a:pt x="0" y="5236741"/>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CHALLENGES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22B"/>
        </a:solidFill>
        <a:effectLst/>
      </p:bgPr>
    </p:bg>
    <p:spTree>
      <p:nvGrpSpPr>
        <p:cNvPr id="1" name=""/>
        <p:cNvGrpSpPr/>
        <p:nvPr/>
      </p:nvGrpSpPr>
      <p:grpSpPr>
        <a:xfrm>
          <a:off x="0" y="0"/>
          <a:ext cx="0" cy="0"/>
          <a:chOff x="0" y="0"/>
          <a:chExt cx="0" cy="0"/>
        </a:xfrm>
      </p:grpSpPr>
      <p:sp>
        <p:nvSpPr>
          <p:cNvPr id="2" name="Freeform 2"/>
          <p:cNvSpPr/>
          <p:nvPr/>
        </p:nvSpPr>
        <p:spPr>
          <a:xfrm>
            <a:off x="-909604" y="7056948"/>
            <a:ext cx="4320000" cy="4114800"/>
          </a:xfrm>
          <a:custGeom>
            <a:avLst/>
            <a:gdLst/>
            <a:ahLst/>
            <a:cxnLst/>
            <a:rect l="l" t="t" r="r" b="b"/>
            <a:pathLst>
              <a:path w="4320000" h="4114800">
                <a:moveTo>
                  <a:pt x="0" y="0"/>
                </a:moveTo>
                <a:lnTo>
                  <a:pt x="4320000" y="0"/>
                </a:lnTo>
                <a:lnTo>
                  <a:pt x="43200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250396" y="1991247"/>
            <a:ext cx="11076463" cy="5595620"/>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Enabling affordability of services</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Processing power.</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GPU</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TPU</a:t>
            </a:r>
          </a:p>
          <a:p>
            <a:pPr marL="1381758" lvl="2" indent="-460586" algn="just">
              <a:lnSpc>
                <a:spcPts val="4479"/>
              </a:lnSpc>
              <a:buFont typeface="Arial"/>
              <a:buChar char="⚬"/>
            </a:pPr>
            <a:r>
              <a:rPr lang="en-US" sz="3199">
                <a:solidFill>
                  <a:srgbClr val="92DCEF"/>
                </a:solidFill>
                <a:latin typeface="Canva Sans"/>
                <a:ea typeface="Canva Sans"/>
                <a:cs typeface="Canva Sans"/>
                <a:sym typeface="Canva Sans"/>
              </a:rPr>
              <a:t>LPU</a:t>
            </a:r>
          </a:p>
          <a:p>
            <a:pPr algn="just">
              <a:lnSpc>
                <a:spcPts val="4479"/>
              </a:lnSpc>
            </a:pPr>
            <a:r>
              <a:rPr lang="en-US" sz="3199">
                <a:solidFill>
                  <a:srgbClr val="92DCEF"/>
                </a:solidFill>
                <a:latin typeface="Canva Sans"/>
                <a:ea typeface="Canva Sans"/>
                <a:cs typeface="Canva Sans"/>
                <a:sym typeface="Canva Sans"/>
              </a:rPr>
              <a:t>       https://www.youtube.com/watch?v=fKK933KK6Gg</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Collaborative robot (corobot).</a:t>
            </a:r>
          </a:p>
          <a:p>
            <a:pPr marL="690879" lvl="1" indent="-345439" algn="just">
              <a:lnSpc>
                <a:spcPts val="4479"/>
              </a:lnSpc>
              <a:buFont typeface="Arial"/>
              <a:buChar char="•"/>
            </a:pPr>
            <a:r>
              <a:rPr lang="en-US" sz="3199">
                <a:solidFill>
                  <a:srgbClr val="92DCEF"/>
                </a:solidFill>
                <a:latin typeface="Canva Sans"/>
                <a:ea typeface="Canva Sans"/>
                <a:cs typeface="Canva Sans"/>
                <a:sym typeface="Canva Sans"/>
              </a:rPr>
              <a:t>Reduce operational cost.</a:t>
            </a:r>
          </a:p>
          <a:p>
            <a:pPr algn="just">
              <a:lnSpc>
                <a:spcPts val="4479"/>
              </a:lnSpc>
            </a:pPr>
            <a:endParaRPr lang="en-US" sz="3199">
              <a:solidFill>
                <a:srgbClr val="92DCEF"/>
              </a:solidFill>
              <a:latin typeface="Canva Sans"/>
              <a:ea typeface="Canva Sans"/>
              <a:cs typeface="Canva Sans"/>
              <a:sym typeface="Canva Sans"/>
            </a:endParaRPr>
          </a:p>
          <a:p>
            <a:pPr algn="just">
              <a:lnSpc>
                <a:spcPts val="4479"/>
              </a:lnSpc>
            </a:pPr>
            <a:endParaRPr lang="en-US" sz="3199">
              <a:solidFill>
                <a:srgbClr val="92DCEF"/>
              </a:solidFill>
              <a:latin typeface="Canva Sans"/>
              <a:ea typeface="Canva Sans"/>
              <a:cs typeface="Canva Sans"/>
              <a:sym typeface="Canva Sans"/>
            </a:endParaRPr>
          </a:p>
        </p:txBody>
      </p:sp>
      <p:sp>
        <p:nvSpPr>
          <p:cNvPr id="4" name="Freeform 4"/>
          <p:cNvSpPr/>
          <p:nvPr/>
        </p:nvSpPr>
        <p:spPr>
          <a:xfrm>
            <a:off x="10350681" y="5816556"/>
            <a:ext cx="7937319" cy="4470444"/>
          </a:xfrm>
          <a:custGeom>
            <a:avLst/>
            <a:gdLst/>
            <a:ahLst/>
            <a:cxnLst/>
            <a:rect l="l" t="t" r="r" b="b"/>
            <a:pathLst>
              <a:path w="7937319" h="4470444">
                <a:moveTo>
                  <a:pt x="0" y="0"/>
                </a:moveTo>
                <a:lnTo>
                  <a:pt x="7937319" y="0"/>
                </a:lnTo>
                <a:lnTo>
                  <a:pt x="7937319" y="4470444"/>
                </a:lnTo>
                <a:lnTo>
                  <a:pt x="0" y="4470444"/>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793078" y="923925"/>
            <a:ext cx="17494922" cy="879195"/>
          </a:xfrm>
          <a:prstGeom prst="rect">
            <a:avLst/>
          </a:prstGeom>
        </p:spPr>
        <p:txBody>
          <a:bodyPr lIns="0" tIns="0" rIns="0" bIns="0" rtlCol="0" anchor="t">
            <a:spAutoFit/>
          </a:bodyPr>
          <a:lstStyle/>
          <a:p>
            <a:pPr algn="l">
              <a:lnSpc>
                <a:spcPts val="7190"/>
              </a:lnSpc>
            </a:pPr>
            <a:r>
              <a:rPr lang="en-US" sz="5136">
                <a:solidFill>
                  <a:srgbClr val="92DCEF"/>
                </a:solidFill>
                <a:latin typeface="Mokoto"/>
                <a:ea typeface="Mokoto"/>
                <a:cs typeface="Mokoto"/>
                <a:sym typeface="Mokoto"/>
              </a:rPr>
              <a:t>OPPORTUNITIES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967" b="-6143"/>
            </a:stretch>
          </a:blipFill>
        </p:spPr>
        <p:txBody>
          <a:bodyPr/>
          <a:lstStyle/>
          <a:p>
            <a:endParaRPr lang="en-US"/>
          </a:p>
        </p:txBody>
      </p:sp>
      <p:sp>
        <p:nvSpPr>
          <p:cNvPr id="3" name="Freeform 3"/>
          <p:cNvSpPr/>
          <p:nvPr/>
        </p:nvSpPr>
        <p:spPr>
          <a:xfrm>
            <a:off x="15001619" y="6685712"/>
            <a:ext cx="3286381" cy="3866910"/>
          </a:xfrm>
          <a:custGeom>
            <a:avLst/>
            <a:gdLst/>
            <a:ahLst/>
            <a:cxnLst/>
            <a:rect l="l" t="t" r="r" b="b"/>
            <a:pathLst>
              <a:path w="3286381" h="3866910">
                <a:moveTo>
                  <a:pt x="0" y="0"/>
                </a:moveTo>
                <a:lnTo>
                  <a:pt x="3286381" y="0"/>
                </a:lnTo>
                <a:lnTo>
                  <a:pt x="3286381" y="3866910"/>
                </a:lnTo>
                <a:lnTo>
                  <a:pt x="0" y="3866910"/>
                </a:lnTo>
                <a:lnTo>
                  <a:pt x="0" y="0"/>
                </a:lnTo>
                <a:close/>
              </a:path>
            </a:pathLst>
          </a:custGeom>
          <a:blipFill>
            <a:blip r:embed="rId3"/>
            <a:stretch>
              <a:fillRect/>
            </a:stretch>
          </a:blipFill>
        </p:spPr>
        <p:txBody>
          <a:bodyPr/>
          <a:lstStyle/>
          <a:p>
            <a:endParaRPr lang="en-US"/>
          </a:p>
        </p:txBody>
      </p:sp>
      <p:sp>
        <p:nvSpPr>
          <p:cNvPr id="4" name="Freeform 4"/>
          <p:cNvSpPr/>
          <p:nvPr/>
        </p:nvSpPr>
        <p:spPr>
          <a:xfrm>
            <a:off x="-2091385" y="3315776"/>
            <a:ext cx="4182770" cy="41148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1429159" y="485727"/>
            <a:ext cx="8374209" cy="1309864"/>
          </a:xfrm>
          <a:prstGeom prst="rect">
            <a:avLst/>
          </a:prstGeom>
        </p:spPr>
        <p:txBody>
          <a:bodyPr lIns="0" tIns="0" rIns="0" bIns="0" rtlCol="0" anchor="t">
            <a:spAutoFit/>
          </a:bodyPr>
          <a:lstStyle/>
          <a:p>
            <a:pPr algn="l">
              <a:lnSpc>
                <a:spcPts val="10635"/>
              </a:lnSpc>
            </a:pPr>
            <a:r>
              <a:rPr lang="en-US" sz="7596">
                <a:solidFill>
                  <a:srgbClr val="92DCEF"/>
                </a:solidFill>
                <a:latin typeface="Mokoto"/>
                <a:ea typeface="Mokoto"/>
                <a:cs typeface="Mokoto"/>
                <a:sym typeface="Mokoto"/>
              </a:rPr>
              <a:t>References</a:t>
            </a:r>
          </a:p>
        </p:txBody>
      </p:sp>
      <p:sp>
        <p:nvSpPr>
          <p:cNvPr id="6" name="Freeform 6"/>
          <p:cNvSpPr/>
          <p:nvPr/>
        </p:nvSpPr>
        <p:spPr>
          <a:xfrm>
            <a:off x="15001619" y="-711833"/>
            <a:ext cx="3286381" cy="3866910"/>
          </a:xfrm>
          <a:custGeom>
            <a:avLst/>
            <a:gdLst/>
            <a:ahLst/>
            <a:cxnLst/>
            <a:rect l="l" t="t" r="r" b="b"/>
            <a:pathLst>
              <a:path w="3286381" h="3866910">
                <a:moveTo>
                  <a:pt x="0" y="0"/>
                </a:moveTo>
                <a:lnTo>
                  <a:pt x="3286381" y="0"/>
                </a:lnTo>
                <a:lnTo>
                  <a:pt x="3286381" y="3866909"/>
                </a:lnTo>
                <a:lnTo>
                  <a:pt x="0" y="3866909"/>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981200" y="2349306"/>
            <a:ext cx="16002000" cy="6061275"/>
          </a:xfrm>
          <a:prstGeom prst="rect">
            <a:avLst/>
          </a:prstGeom>
        </p:spPr>
        <p:txBody>
          <a:bodyPr wrap="square" lIns="0" tIns="0" rIns="0" bIns="0" rtlCol="0" anchor="t">
            <a:spAutoFit/>
          </a:bodyPr>
          <a:lstStyle/>
          <a:p>
            <a:pPr>
              <a:lnSpc>
                <a:spcPts val="4759"/>
              </a:lnSpc>
            </a:pPr>
            <a:r>
              <a:rPr lang="en-US" sz="1600" dirty="0">
                <a:solidFill>
                  <a:srgbClr val="92DCEF"/>
                </a:solidFill>
                <a:latin typeface="Canva Sans"/>
                <a:ea typeface="Canva Sans"/>
                <a:cs typeface="Canva Sans"/>
                <a:sym typeface="Canva Sans"/>
              </a:rPr>
              <a:t>Rotolo, Daniele &amp; Hicks, Diana &amp; Martin, Ben. (2015). What Is an Emerging Technology?. Research Policy. 44. 1827-1843. 10.1016/j.respol.2015.06.006. </a:t>
            </a:r>
          </a:p>
          <a:p>
            <a:pPr algn="l">
              <a:lnSpc>
                <a:spcPts val="4759"/>
              </a:lnSpc>
            </a:pPr>
            <a:r>
              <a:rPr lang="en-US" sz="1600" dirty="0">
                <a:solidFill>
                  <a:srgbClr val="92DCEF"/>
                </a:solidFill>
                <a:latin typeface="Canva Sans"/>
                <a:ea typeface="Canva Sans"/>
                <a:cs typeface="Canva Sans"/>
                <a:sym typeface="Canva Sans"/>
              </a:rPr>
              <a:t>https://</a:t>
            </a:r>
            <a:r>
              <a:rPr lang="en-US" sz="1600" dirty="0" err="1">
                <a:solidFill>
                  <a:srgbClr val="92DCEF"/>
                </a:solidFill>
                <a:latin typeface="Canva Sans"/>
                <a:ea typeface="Canva Sans"/>
                <a:cs typeface="Canva Sans"/>
                <a:sym typeface="Canva Sans"/>
              </a:rPr>
              <a:t>www.coursera.org</a:t>
            </a:r>
            <a:r>
              <a:rPr lang="en-US" sz="1600" dirty="0">
                <a:solidFill>
                  <a:srgbClr val="92DCEF"/>
                </a:solidFill>
                <a:latin typeface="Canva Sans"/>
                <a:ea typeface="Canva Sans"/>
                <a:cs typeface="Canva Sans"/>
                <a:sym typeface="Canva Sans"/>
              </a:rPr>
              <a:t>/articles/ai-ethics</a:t>
            </a:r>
          </a:p>
          <a:p>
            <a:pPr algn="l">
              <a:lnSpc>
                <a:spcPts val="4759"/>
              </a:lnSpc>
            </a:pPr>
            <a:r>
              <a:rPr lang="en-US" sz="1600" dirty="0">
                <a:solidFill>
                  <a:srgbClr val="92DCEF"/>
                </a:solidFill>
                <a:latin typeface="Canva Sans"/>
                <a:ea typeface="Canva Sans"/>
                <a:cs typeface="Canva Sans"/>
                <a:sym typeface="Canva Sans"/>
              </a:rPr>
              <a:t>https://</a:t>
            </a:r>
            <a:r>
              <a:rPr lang="en-US" sz="1600" dirty="0" err="1">
                <a:solidFill>
                  <a:srgbClr val="92DCEF"/>
                </a:solidFill>
                <a:latin typeface="Canva Sans"/>
                <a:ea typeface="Canva Sans"/>
                <a:cs typeface="Canva Sans"/>
                <a:sym typeface="Canva Sans"/>
              </a:rPr>
              <a:t>www.microsoft.com</a:t>
            </a:r>
            <a:r>
              <a:rPr lang="en-US" sz="1600" dirty="0">
                <a:solidFill>
                  <a:srgbClr val="92DCEF"/>
                </a:solidFill>
                <a:latin typeface="Canva Sans"/>
                <a:ea typeface="Canva Sans"/>
                <a:cs typeface="Canva Sans"/>
                <a:sym typeface="Canva Sans"/>
              </a:rPr>
              <a:t>/</a:t>
            </a:r>
            <a:r>
              <a:rPr lang="en-US" sz="1600" dirty="0" err="1">
                <a:solidFill>
                  <a:srgbClr val="92DCEF"/>
                </a:solidFill>
                <a:latin typeface="Canva Sans"/>
                <a:ea typeface="Canva Sans"/>
                <a:cs typeface="Canva Sans"/>
                <a:sym typeface="Canva Sans"/>
              </a:rPr>
              <a:t>en</a:t>
            </a:r>
            <a:r>
              <a:rPr lang="en-US" sz="1600" dirty="0">
                <a:solidFill>
                  <a:srgbClr val="92DCEF"/>
                </a:solidFill>
                <a:latin typeface="Canva Sans"/>
                <a:ea typeface="Canva Sans"/>
                <a:cs typeface="Canva Sans"/>
                <a:sym typeface="Canva Sans"/>
              </a:rPr>
              <a:t>-us/ai/principles-and-approach</a:t>
            </a:r>
          </a:p>
          <a:p>
            <a:pPr algn="l">
              <a:lnSpc>
                <a:spcPts val="4759"/>
              </a:lnSpc>
            </a:pPr>
            <a:r>
              <a:rPr lang="en-US" sz="1600" dirty="0">
                <a:solidFill>
                  <a:srgbClr val="92DCEF"/>
                </a:solidFill>
                <a:latin typeface="Canva Sans"/>
                <a:ea typeface="Canva Sans"/>
                <a:cs typeface="Canva Sans"/>
                <a:sym typeface="Canva Sans"/>
              </a:rPr>
              <a:t>https://</a:t>
            </a:r>
            <a:r>
              <a:rPr lang="en-US" sz="1600" dirty="0" err="1">
                <a:solidFill>
                  <a:srgbClr val="92DCEF"/>
                </a:solidFill>
                <a:latin typeface="Canva Sans"/>
                <a:ea typeface="Canva Sans"/>
                <a:cs typeface="Canva Sans"/>
                <a:sym typeface="Canva Sans"/>
              </a:rPr>
              <a:t>www.telefonica.com</a:t>
            </a:r>
            <a:r>
              <a:rPr lang="en-US" sz="1600" dirty="0">
                <a:solidFill>
                  <a:srgbClr val="92DCEF"/>
                </a:solidFill>
                <a:latin typeface="Canva Sans"/>
                <a:ea typeface="Canva Sans"/>
                <a:cs typeface="Canva Sans"/>
                <a:sym typeface="Canva Sans"/>
              </a:rPr>
              <a:t>/</a:t>
            </a:r>
            <a:r>
              <a:rPr lang="en-US" sz="1600" dirty="0" err="1">
                <a:solidFill>
                  <a:srgbClr val="92DCEF"/>
                </a:solidFill>
                <a:latin typeface="Canva Sans"/>
                <a:ea typeface="Canva Sans"/>
                <a:cs typeface="Canva Sans"/>
                <a:sym typeface="Canva Sans"/>
              </a:rPr>
              <a:t>en</a:t>
            </a:r>
            <a:r>
              <a:rPr lang="en-US" sz="1600" dirty="0">
                <a:solidFill>
                  <a:srgbClr val="92DCEF"/>
                </a:solidFill>
                <a:latin typeface="Canva Sans"/>
                <a:ea typeface="Canva Sans"/>
                <a:cs typeface="Canva Sans"/>
                <a:sym typeface="Canva Sans"/>
              </a:rPr>
              <a:t>/communication-room/blog/what-is-a-collaborative-robot-o-</a:t>
            </a:r>
            <a:r>
              <a:rPr lang="en-US" sz="1600" dirty="0" err="1">
                <a:solidFill>
                  <a:srgbClr val="92DCEF"/>
                </a:solidFill>
                <a:latin typeface="Canva Sans"/>
                <a:ea typeface="Canva Sans"/>
                <a:cs typeface="Canva Sans"/>
                <a:sym typeface="Canva Sans"/>
              </a:rPr>
              <a:t>corobot</a:t>
            </a:r>
            <a:r>
              <a:rPr lang="en-US" sz="1600" dirty="0">
                <a:solidFill>
                  <a:srgbClr val="92DCEF"/>
                </a:solidFill>
                <a:latin typeface="Canva Sans"/>
                <a:ea typeface="Canva Sans"/>
                <a:cs typeface="Canva Sans"/>
                <a:sym typeface="Canva Sans"/>
              </a:rPr>
              <a:t>/</a:t>
            </a:r>
          </a:p>
          <a:p>
            <a:pPr algn="l">
              <a:lnSpc>
                <a:spcPts val="4759"/>
              </a:lnSpc>
            </a:pPr>
            <a:r>
              <a:rPr lang="en-US" sz="1600" dirty="0">
                <a:solidFill>
                  <a:srgbClr val="92DCEF"/>
                </a:solidFill>
                <a:latin typeface="Canva Sans"/>
                <a:ea typeface="Canva Sans"/>
                <a:cs typeface="Canva Sans"/>
                <a:sym typeface="Canva Sans"/>
                <a:hlinkClick r:id="rId6"/>
              </a:rPr>
              <a:t>https://artificialintelligenceact.eu</a:t>
            </a:r>
            <a:endParaRPr lang="en-US" sz="1600" dirty="0">
              <a:solidFill>
                <a:srgbClr val="92DCEF"/>
              </a:solidFill>
              <a:latin typeface="Canva Sans"/>
              <a:ea typeface="Canva Sans"/>
              <a:cs typeface="Canva Sans"/>
              <a:sym typeface="Canva Sans"/>
            </a:endParaRPr>
          </a:p>
          <a:p>
            <a:pPr>
              <a:lnSpc>
                <a:spcPts val="4759"/>
              </a:lnSpc>
            </a:pPr>
            <a:r>
              <a:rPr lang="en-US" sz="1600" dirty="0">
                <a:solidFill>
                  <a:srgbClr val="92DCEF"/>
                </a:solidFill>
                <a:latin typeface="Canva Sans"/>
                <a:ea typeface="Canva Sans"/>
                <a:cs typeface="Canva Sans"/>
                <a:sym typeface="Canva Sans"/>
                <a:hlinkClick r:id="rId7"/>
              </a:rPr>
              <a:t>https://global.chinadaily.com.cn/a/202603/21/WS69bdd906a310d6866eb3f06d.html</a:t>
            </a:r>
            <a:endParaRPr lang="en-US" sz="1600" dirty="0">
              <a:solidFill>
                <a:srgbClr val="92DCEF"/>
              </a:solidFill>
              <a:latin typeface="Canva Sans"/>
              <a:ea typeface="Canva Sans"/>
              <a:cs typeface="Canva Sans"/>
              <a:sym typeface="Canva Sans"/>
            </a:endParaRPr>
          </a:p>
          <a:p>
            <a:pPr>
              <a:lnSpc>
                <a:spcPts val="4759"/>
              </a:lnSpc>
            </a:pPr>
            <a:r>
              <a:rPr lang="en-US" sz="1600" dirty="0">
                <a:solidFill>
                  <a:srgbClr val="92DCEF"/>
                </a:solidFill>
                <a:latin typeface="Canva Sans"/>
                <a:ea typeface="Canva Sans"/>
                <a:cs typeface="Canva Sans"/>
                <a:sym typeface="Canva Sans"/>
                <a:hlinkClick r:id="rId8"/>
              </a:rPr>
              <a:t>https://www.mckinsey.com/industries/industrials/our-insights/will-embodied-ai-create-robotic-coworkers</a:t>
            </a:r>
            <a:endParaRPr lang="en-US" sz="1600" dirty="0">
              <a:solidFill>
                <a:srgbClr val="92DCEF"/>
              </a:solidFill>
              <a:latin typeface="Canva Sans"/>
              <a:ea typeface="Canva Sans"/>
              <a:cs typeface="Canva Sans"/>
              <a:sym typeface="Canva Sans"/>
            </a:endParaRPr>
          </a:p>
          <a:p>
            <a:pPr>
              <a:lnSpc>
                <a:spcPts val="4759"/>
              </a:lnSpc>
            </a:pPr>
            <a:r>
              <a:rPr lang="en-US" sz="1600" dirty="0">
                <a:solidFill>
                  <a:srgbClr val="92DCEF"/>
                </a:solidFill>
                <a:latin typeface="Canva Sans"/>
                <a:ea typeface="Canva Sans"/>
                <a:cs typeface="Canva Sans"/>
                <a:sym typeface="Canva Sans"/>
              </a:rPr>
              <a:t>https://</a:t>
            </a:r>
            <a:r>
              <a:rPr lang="en-US" sz="1600" dirty="0" err="1">
                <a:solidFill>
                  <a:srgbClr val="92DCEF"/>
                </a:solidFill>
                <a:latin typeface="Canva Sans"/>
                <a:ea typeface="Canva Sans"/>
                <a:cs typeface="Canva Sans"/>
                <a:sym typeface="Canva Sans"/>
              </a:rPr>
              <a:t>masterofcode.com</a:t>
            </a:r>
            <a:r>
              <a:rPr lang="en-US" sz="1600" dirty="0">
                <a:solidFill>
                  <a:srgbClr val="92DCEF"/>
                </a:solidFill>
                <a:latin typeface="Canva Sans"/>
                <a:ea typeface="Canva Sans"/>
                <a:cs typeface="Canva Sans"/>
                <a:sym typeface="Canva Sans"/>
              </a:rPr>
              <a:t>/blog/generative-ai-in-manufacturing</a:t>
            </a:r>
          </a:p>
          <a:p>
            <a:pPr algn="l">
              <a:lnSpc>
                <a:spcPts val="4759"/>
              </a:lnSpc>
            </a:pPr>
            <a:endParaRPr lang="en-US" sz="1600" dirty="0">
              <a:solidFill>
                <a:srgbClr val="92DCEF"/>
              </a:solidFill>
              <a:latin typeface="Canva Sans"/>
              <a:ea typeface="Canva Sans"/>
              <a:cs typeface="Canva Sans"/>
              <a:sym typeface="Canva Sans"/>
            </a:endParaRPr>
          </a:p>
          <a:p>
            <a:pPr algn="l">
              <a:lnSpc>
                <a:spcPts val="4759"/>
              </a:lnSpc>
            </a:pPr>
            <a:endParaRPr lang="en-US" sz="1600" dirty="0">
              <a:solidFill>
                <a:srgbClr val="92DCEF"/>
              </a:solidFill>
              <a:latin typeface="Canva Sans"/>
              <a:ea typeface="Canva Sans"/>
              <a:cs typeface="Canva Sans"/>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ABE7923C92414391B9F7943FB2BF24" ma:contentTypeVersion="4" ma:contentTypeDescription="Create a new document." ma:contentTypeScope="" ma:versionID="81997495f0a8b3e9ac489e3925a60773">
  <xsd:schema xmlns:xsd="http://www.w3.org/2001/XMLSchema" xmlns:xs="http://www.w3.org/2001/XMLSchema" xmlns:p="http://schemas.microsoft.com/office/2006/metadata/properties" xmlns:ns2="b0cddff6-6a29-4a9b-829f-3c61a9b28948" targetNamespace="http://schemas.microsoft.com/office/2006/metadata/properties" ma:root="true" ma:fieldsID="eafa04725d855f8e180394c181ca30cb" ns2:_="">
    <xsd:import namespace="b0cddff6-6a29-4a9b-829f-3c61a9b28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cddff6-6a29-4a9b-829f-3c61a9b289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70E84A-8C8E-4FBD-96C1-5D1F57EF96E6}"/>
</file>

<file path=customXml/itemProps2.xml><?xml version="1.0" encoding="utf-8"?>
<ds:datastoreItem xmlns:ds="http://schemas.openxmlformats.org/officeDocument/2006/customXml" ds:itemID="{941FD9DB-128B-4B02-A2B2-C4A3DEBEB78B}"/>
</file>

<file path=customXml/itemProps3.xml><?xml version="1.0" encoding="utf-8"?>
<ds:datastoreItem xmlns:ds="http://schemas.openxmlformats.org/officeDocument/2006/customXml" ds:itemID="{6663E3B5-94B6-4E06-91AB-7E2C6532B42B}"/>
</file>

<file path=docProps/app.xml><?xml version="1.0" encoding="utf-8"?>
<Properties xmlns="http://schemas.openxmlformats.org/officeDocument/2006/extended-properties" xmlns:vt="http://schemas.openxmlformats.org/officeDocument/2006/docPropsVTypes">
  <TotalTime>2354</TotalTime>
  <Words>1946</Words>
  <Application>Microsoft Macintosh PowerPoint</Application>
  <PresentationFormat>Custom</PresentationFormat>
  <Paragraphs>258</Paragraphs>
  <Slides>31</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Montserrat Bold</vt:lpstr>
      <vt:lpstr>Mokoto</vt:lpstr>
      <vt:lpstr>Arial</vt:lpstr>
      <vt:lpstr>Canva Sans</vt:lpstr>
      <vt:lpstr>Calibri</vt:lpstr>
      <vt:lpstr>Open Sans Bold</vt:lpstr>
      <vt:lpstr>Open Sans</vt:lpstr>
      <vt:lpstr>Office Theme</vt:lpstr>
      <vt:lpstr>PowerPoint Presentation</vt:lpstr>
      <vt:lpstr>PowerPoint Presentation</vt:lpstr>
      <vt:lpstr>What do we mean by an emerging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11-AI Challenges and Opportunities</dc:title>
  <dc:creator>Batool Alarmouti</dc:creator>
  <cp:lastModifiedBy>Rami AlOuran</cp:lastModifiedBy>
  <cp:revision>7</cp:revision>
  <dcterms:created xsi:type="dcterms:W3CDTF">2006-08-16T00:00:00Z</dcterms:created>
  <dcterms:modified xsi:type="dcterms:W3CDTF">2026-03-23T16:22:11Z</dcterms:modified>
  <dc:identifier>DAGFZNvTlXY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0x01010063ABE7923C92414391B9F7943FB2BF24</vt:lpwstr>
  </property>
</Properties>
</file>